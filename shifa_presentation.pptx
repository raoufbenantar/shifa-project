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1.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42F2E"/>
        </a:solidFill>
      </p:bgPr>
    </p:bg>
    <p:spTree>
      <p:nvGrpSpPr>
        <p:cNvPr id="1" name=""/>
        <p:cNvGrpSpPr/>
        <p:nvPr/>
      </p:nvGrpSpPr>
      <p:grpSpPr>
        <a:xfrm>
          <a:off x="0" y="0"/>
          <a:ext cx="0" cy="0"/>
          <a:chOff x="0" y="0"/>
          <a:chExt cx="0" cy="0"/>
        </a:xfrm>
      </p:grpSpPr>
      <p:sp>
        <p:nvSpPr>
          <p:cNvPr id="2" name="Shape 0"/>
          <p:cNvSpPr/>
          <p:nvPr/>
        </p:nvSpPr>
        <p:spPr>
          <a:xfrm>
            <a:off x="0" y="0"/>
            <a:ext cx="3840480" cy="5143500"/>
          </a:xfrm>
          <a:prstGeom prst="rect">
            <a:avLst/>
          </a:prstGeom>
          <a:solidFill>
            <a:srgbClr val="0D9488"/>
          </a:solidFill>
          <a:ln/>
        </p:spPr>
      </p:sp>
      <p:sp>
        <p:nvSpPr>
          <p:cNvPr id="3" name="Text 1"/>
          <p:cNvSpPr/>
          <p:nvPr/>
        </p:nvSpPr>
        <p:spPr>
          <a:xfrm>
            <a:off x="365760" y="640080"/>
            <a:ext cx="3108960" cy="1005840"/>
          </a:xfrm>
          <a:prstGeom prst="rect">
            <a:avLst/>
          </a:prstGeom>
          <a:noFill/>
          <a:ln/>
        </p:spPr>
        <p:txBody>
          <a:bodyPr wrap="square" lIns="0" tIns="0" rIns="0" bIns="0" rtlCol="0" anchor="ctr"/>
          <a:lstStyle/>
          <a:p>
            <a:pPr indent="0" marL="0">
              <a:buNone/>
            </a:pPr>
            <a:r>
              <a:rPr lang="en-US" sz="5200" b="1" dirty="0">
                <a:solidFill>
                  <a:srgbClr val="FFFFFF"/>
                </a:solidFill>
                <a:latin typeface="Calibri" pitchFamily="34" charset="0"/>
                <a:ea typeface="Calibri" pitchFamily="34" charset="-122"/>
                <a:cs typeface="Calibri" pitchFamily="34" charset="-120"/>
              </a:rPr>
              <a:t>Shifa</a:t>
            </a:r>
            <a:endParaRPr lang="en-US" sz="5200" dirty="0"/>
          </a:p>
        </p:txBody>
      </p:sp>
      <p:sp>
        <p:nvSpPr>
          <p:cNvPr id="4" name="Text 2"/>
          <p:cNvSpPr/>
          <p:nvPr/>
        </p:nvSpPr>
        <p:spPr>
          <a:xfrm>
            <a:off x="365760" y="1600200"/>
            <a:ext cx="3108960" cy="457200"/>
          </a:xfrm>
          <a:prstGeom prst="rect">
            <a:avLst/>
          </a:prstGeom>
          <a:noFill/>
          <a:ln/>
        </p:spPr>
        <p:txBody>
          <a:bodyPr wrap="square" lIns="0" tIns="0" rIns="0" bIns="0" rtlCol="0" anchor="ctr"/>
          <a:lstStyle/>
          <a:p>
            <a:pPr indent="0" marL="0">
              <a:buNone/>
            </a:pPr>
            <a:r>
              <a:rPr lang="en-US" sz="1400" dirty="0">
                <a:solidFill>
                  <a:srgbClr val="CCFBF1"/>
                </a:solidFill>
                <a:latin typeface="Calibri" pitchFamily="34" charset="0"/>
                <a:ea typeface="Calibri" pitchFamily="34" charset="-122"/>
                <a:cs typeface="Calibri" pitchFamily="34" charset="-120"/>
              </a:rPr>
              <a:t>Système de Réservation Médicale</a:t>
            </a:r>
            <a:endParaRPr lang="en-US" sz="1400" dirty="0"/>
          </a:p>
        </p:txBody>
      </p:sp>
      <p:pic>
        <p:nvPicPr>
          <p:cNvPr id="5" name="Image 0" descr="preencoded.png">    </p:cNvPr>
          <p:cNvPicPr>
            <a:picLocks noChangeAspect="1"/>
          </p:cNvPicPr>
          <p:nvPr/>
        </p:nvPicPr>
        <p:blipFill>
          <a:blip r:embed="rId1"/>
          <a:stretch>
            <a:fillRect/>
          </a:stretch>
        </p:blipFill>
        <p:spPr>
          <a:xfrm>
            <a:off x="1188720" y="2286000"/>
            <a:ext cx="1463040" cy="1463040"/>
          </a:xfrm>
          <a:prstGeom prst="rect">
            <a:avLst/>
          </a:prstGeom>
        </p:spPr>
      </p:pic>
      <p:sp>
        <p:nvSpPr>
          <p:cNvPr id="6" name="Text 3"/>
          <p:cNvSpPr/>
          <p:nvPr/>
        </p:nvSpPr>
        <p:spPr>
          <a:xfrm>
            <a:off x="4114800" y="548640"/>
            <a:ext cx="4572000" cy="320040"/>
          </a:xfrm>
          <a:prstGeom prst="rect">
            <a:avLst/>
          </a:prstGeom>
          <a:noFill/>
          <a:ln/>
        </p:spPr>
        <p:txBody>
          <a:bodyPr wrap="square" lIns="0" tIns="0" rIns="0" bIns="0" rtlCol="0" anchor="ctr"/>
          <a:lstStyle/>
          <a:p>
            <a:pPr indent="0" marL="0">
              <a:buNone/>
            </a:pPr>
            <a:r>
              <a:rPr lang="en-US" sz="1300" b="1" dirty="0">
                <a:solidFill>
                  <a:srgbClr val="5EEAD4"/>
                </a:solidFill>
              </a:rPr>
              <a:t>Membres du groupe :</a:t>
            </a:r>
            <a:endParaRPr lang="en-US" sz="1300" dirty="0"/>
          </a:p>
        </p:txBody>
      </p:sp>
      <p:sp>
        <p:nvSpPr>
          <p:cNvPr id="7" name="Shape 4"/>
          <p:cNvSpPr/>
          <p:nvPr/>
        </p:nvSpPr>
        <p:spPr>
          <a:xfrm>
            <a:off x="4114800" y="1024128"/>
            <a:ext cx="91440" cy="91440"/>
          </a:xfrm>
          <a:prstGeom prst="oval">
            <a:avLst/>
          </a:prstGeom>
          <a:solidFill>
            <a:srgbClr val="5EEAD4"/>
          </a:solidFill>
          <a:ln/>
        </p:spPr>
      </p:sp>
      <p:sp>
        <p:nvSpPr>
          <p:cNvPr id="8" name="Text 5"/>
          <p:cNvSpPr/>
          <p:nvPr/>
        </p:nvSpPr>
        <p:spPr>
          <a:xfrm>
            <a:off x="4297680" y="960120"/>
            <a:ext cx="4114800" cy="292608"/>
          </a:xfrm>
          <a:prstGeom prst="rect">
            <a:avLst/>
          </a:prstGeom>
          <a:noFill/>
          <a:ln/>
        </p:spPr>
        <p:txBody>
          <a:bodyPr wrap="square" lIns="0" tIns="0" rIns="0" bIns="0" rtlCol="0" anchor="ctr"/>
          <a:lstStyle/>
          <a:p>
            <a:pPr indent="0" marL="0">
              <a:buNone/>
            </a:pPr>
            <a:r>
              <a:rPr lang="en-US" sz="1250" dirty="0">
                <a:solidFill>
                  <a:srgbClr val="FFFFFF"/>
                </a:solidFill>
              </a:rPr>
              <a:t>BENANTAR Abderraouf</a:t>
            </a:r>
            <a:endParaRPr lang="en-US" sz="1250" dirty="0"/>
          </a:p>
        </p:txBody>
      </p:sp>
      <p:sp>
        <p:nvSpPr>
          <p:cNvPr id="9" name="Shape 6"/>
          <p:cNvSpPr/>
          <p:nvPr/>
        </p:nvSpPr>
        <p:spPr>
          <a:xfrm>
            <a:off x="4114800" y="1499616"/>
            <a:ext cx="91440" cy="91440"/>
          </a:xfrm>
          <a:prstGeom prst="oval">
            <a:avLst/>
          </a:prstGeom>
          <a:solidFill>
            <a:srgbClr val="5EEAD4"/>
          </a:solidFill>
          <a:ln/>
        </p:spPr>
      </p:sp>
      <p:sp>
        <p:nvSpPr>
          <p:cNvPr id="10" name="Text 7"/>
          <p:cNvSpPr/>
          <p:nvPr/>
        </p:nvSpPr>
        <p:spPr>
          <a:xfrm>
            <a:off x="4297680" y="1435608"/>
            <a:ext cx="4114800" cy="292608"/>
          </a:xfrm>
          <a:prstGeom prst="rect">
            <a:avLst/>
          </a:prstGeom>
          <a:noFill/>
          <a:ln/>
        </p:spPr>
        <p:txBody>
          <a:bodyPr wrap="square" lIns="0" tIns="0" rIns="0" bIns="0" rtlCol="0" anchor="ctr"/>
          <a:lstStyle/>
          <a:p>
            <a:pPr indent="0" marL="0">
              <a:buNone/>
            </a:pPr>
            <a:r>
              <a:rPr lang="en-US" sz="1250" dirty="0">
                <a:solidFill>
                  <a:srgbClr val="FFFFFF"/>
                </a:solidFill>
              </a:rPr>
              <a:t>ZIDANE Mohamed Mahdi</a:t>
            </a:r>
            <a:endParaRPr lang="en-US" sz="1250" dirty="0"/>
          </a:p>
        </p:txBody>
      </p:sp>
      <p:sp>
        <p:nvSpPr>
          <p:cNvPr id="11" name="Shape 8"/>
          <p:cNvSpPr/>
          <p:nvPr/>
        </p:nvSpPr>
        <p:spPr>
          <a:xfrm>
            <a:off x="4114800" y="1975104"/>
            <a:ext cx="91440" cy="91440"/>
          </a:xfrm>
          <a:prstGeom prst="oval">
            <a:avLst/>
          </a:prstGeom>
          <a:solidFill>
            <a:srgbClr val="5EEAD4"/>
          </a:solidFill>
          <a:ln/>
        </p:spPr>
      </p:sp>
      <p:sp>
        <p:nvSpPr>
          <p:cNvPr id="12" name="Text 9"/>
          <p:cNvSpPr/>
          <p:nvPr/>
        </p:nvSpPr>
        <p:spPr>
          <a:xfrm>
            <a:off x="4297680" y="1911096"/>
            <a:ext cx="4114800" cy="292608"/>
          </a:xfrm>
          <a:prstGeom prst="rect">
            <a:avLst/>
          </a:prstGeom>
          <a:noFill/>
          <a:ln/>
        </p:spPr>
        <p:txBody>
          <a:bodyPr wrap="square" lIns="0" tIns="0" rIns="0" bIns="0" rtlCol="0" anchor="ctr"/>
          <a:lstStyle/>
          <a:p>
            <a:pPr indent="0" marL="0">
              <a:buNone/>
            </a:pPr>
            <a:r>
              <a:rPr lang="en-US" sz="1250" dirty="0">
                <a:solidFill>
                  <a:srgbClr val="FFFFFF"/>
                </a:solidFill>
              </a:rPr>
              <a:t>BELKHIRI Ilyas</a:t>
            </a:r>
            <a:endParaRPr lang="en-US" sz="1250" dirty="0"/>
          </a:p>
        </p:txBody>
      </p:sp>
      <p:sp>
        <p:nvSpPr>
          <p:cNvPr id="13" name="Shape 10"/>
          <p:cNvSpPr/>
          <p:nvPr/>
        </p:nvSpPr>
        <p:spPr>
          <a:xfrm>
            <a:off x="4114800" y="2450592"/>
            <a:ext cx="91440" cy="91440"/>
          </a:xfrm>
          <a:prstGeom prst="oval">
            <a:avLst/>
          </a:prstGeom>
          <a:solidFill>
            <a:srgbClr val="5EEAD4"/>
          </a:solidFill>
          <a:ln/>
        </p:spPr>
      </p:sp>
      <p:sp>
        <p:nvSpPr>
          <p:cNvPr id="14" name="Text 11"/>
          <p:cNvSpPr/>
          <p:nvPr/>
        </p:nvSpPr>
        <p:spPr>
          <a:xfrm>
            <a:off x="4297680" y="2386584"/>
            <a:ext cx="4114800" cy="292608"/>
          </a:xfrm>
          <a:prstGeom prst="rect">
            <a:avLst/>
          </a:prstGeom>
          <a:noFill/>
          <a:ln/>
        </p:spPr>
        <p:txBody>
          <a:bodyPr wrap="square" lIns="0" tIns="0" rIns="0" bIns="0" rtlCol="0" anchor="ctr"/>
          <a:lstStyle/>
          <a:p>
            <a:pPr indent="0" marL="0">
              <a:buNone/>
            </a:pPr>
            <a:r>
              <a:rPr lang="en-US" sz="1250" dirty="0">
                <a:solidFill>
                  <a:srgbClr val="FFFFFF"/>
                </a:solidFill>
              </a:rPr>
              <a:t>TOLEHI Abdessamed</a:t>
            </a:r>
            <a:endParaRPr lang="en-US" sz="1250" dirty="0"/>
          </a:p>
        </p:txBody>
      </p:sp>
      <p:sp>
        <p:nvSpPr>
          <p:cNvPr id="15" name="Shape 12"/>
          <p:cNvSpPr/>
          <p:nvPr/>
        </p:nvSpPr>
        <p:spPr>
          <a:xfrm>
            <a:off x="4114800" y="2926080"/>
            <a:ext cx="91440" cy="91440"/>
          </a:xfrm>
          <a:prstGeom prst="oval">
            <a:avLst/>
          </a:prstGeom>
          <a:solidFill>
            <a:srgbClr val="5EEAD4"/>
          </a:solidFill>
          <a:ln/>
        </p:spPr>
      </p:sp>
      <p:sp>
        <p:nvSpPr>
          <p:cNvPr id="16" name="Text 13"/>
          <p:cNvSpPr/>
          <p:nvPr/>
        </p:nvSpPr>
        <p:spPr>
          <a:xfrm>
            <a:off x="4297680" y="2862072"/>
            <a:ext cx="4114800" cy="292608"/>
          </a:xfrm>
          <a:prstGeom prst="rect">
            <a:avLst/>
          </a:prstGeom>
          <a:noFill/>
          <a:ln/>
        </p:spPr>
        <p:txBody>
          <a:bodyPr wrap="square" lIns="0" tIns="0" rIns="0" bIns="0" rtlCol="0" anchor="ctr"/>
          <a:lstStyle/>
          <a:p>
            <a:pPr indent="0" marL="0">
              <a:buNone/>
            </a:pPr>
            <a:r>
              <a:rPr lang="en-US" sz="1250" dirty="0">
                <a:solidFill>
                  <a:srgbClr val="FFFFFF"/>
                </a:solidFill>
              </a:rPr>
              <a:t>TRAIA Aymen</a:t>
            </a:r>
            <a:endParaRPr lang="en-US" sz="1250" dirty="0"/>
          </a:p>
        </p:txBody>
      </p:sp>
      <p:sp>
        <p:nvSpPr>
          <p:cNvPr id="17" name="Shape 14"/>
          <p:cNvSpPr/>
          <p:nvPr/>
        </p:nvSpPr>
        <p:spPr>
          <a:xfrm>
            <a:off x="4114800" y="3401568"/>
            <a:ext cx="91440" cy="91440"/>
          </a:xfrm>
          <a:prstGeom prst="oval">
            <a:avLst/>
          </a:prstGeom>
          <a:solidFill>
            <a:srgbClr val="5EEAD4"/>
          </a:solidFill>
          <a:ln/>
        </p:spPr>
      </p:sp>
      <p:sp>
        <p:nvSpPr>
          <p:cNvPr id="18" name="Text 15"/>
          <p:cNvSpPr/>
          <p:nvPr/>
        </p:nvSpPr>
        <p:spPr>
          <a:xfrm>
            <a:off x="4297680" y="3337560"/>
            <a:ext cx="4114800" cy="292608"/>
          </a:xfrm>
          <a:prstGeom prst="rect">
            <a:avLst/>
          </a:prstGeom>
          <a:noFill/>
          <a:ln/>
        </p:spPr>
        <p:txBody>
          <a:bodyPr wrap="square" lIns="0" tIns="0" rIns="0" bIns="0" rtlCol="0" anchor="ctr"/>
          <a:lstStyle/>
          <a:p>
            <a:pPr indent="0" marL="0">
              <a:buNone/>
            </a:pPr>
            <a:r>
              <a:rPr lang="en-US" sz="1250" dirty="0">
                <a:solidFill>
                  <a:srgbClr val="FFFFFF"/>
                </a:solidFill>
              </a:rPr>
              <a:t>SAHRAOUI Mohammed Raouf</a:t>
            </a:r>
            <a:endParaRPr lang="en-US" sz="1250" dirty="0"/>
          </a:p>
        </p:txBody>
      </p:sp>
      <p:sp>
        <p:nvSpPr>
          <p:cNvPr id="19" name="Text 16"/>
          <p:cNvSpPr/>
          <p:nvPr/>
        </p:nvSpPr>
        <p:spPr>
          <a:xfrm>
            <a:off x="4114800" y="4160520"/>
            <a:ext cx="1828800" cy="256032"/>
          </a:xfrm>
          <a:prstGeom prst="rect">
            <a:avLst/>
          </a:prstGeom>
          <a:noFill/>
          <a:ln/>
        </p:spPr>
        <p:txBody>
          <a:bodyPr wrap="square" lIns="0" tIns="0" rIns="0" bIns="0" rtlCol="0" anchor="ctr"/>
          <a:lstStyle/>
          <a:p>
            <a:pPr indent="0" marL="0">
              <a:buNone/>
            </a:pPr>
            <a:r>
              <a:rPr lang="en-US" sz="1100" b="1" dirty="0">
                <a:solidFill>
                  <a:srgbClr val="5EEAD4"/>
                </a:solidFill>
              </a:rPr>
              <a:t>Encadré par :</a:t>
            </a:r>
            <a:endParaRPr lang="en-US" sz="1100" dirty="0"/>
          </a:p>
        </p:txBody>
      </p:sp>
      <p:sp>
        <p:nvSpPr>
          <p:cNvPr id="20" name="Text 17"/>
          <p:cNvSpPr/>
          <p:nvPr/>
        </p:nvSpPr>
        <p:spPr>
          <a:xfrm>
            <a:off x="4114800" y="4434840"/>
            <a:ext cx="4663440" cy="256032"/>
          </a:xfrm>
          <a:prstGeom prst="rect">
            <a:avLst/>
          </a:prstGeom>
          <a:noFill/>
          <a:ln/>
        </p:spPr>
        <p:txBody>
          <a:bodyPr wrap="square" lIns="0" tIns="0" rIns="0" bIns="0" rtlCol="0" anchor="ctr"/>
          <a:lstStyle/>
          <a:p>
            <a:pPr indent="0" marL="0">
              <a:buNone/>
            </a:pPr>
            <a:r>
              <a:rPr lang="en-US" sz="1100" dirty="0">
                <a:solidFill>
                  <a:srgbClr val="FFFFFF"/>
                </a:solidFill>
              </a:rPr>
              <a:t>M. BENDELLA Mohammed Salih</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DFA"/>
        </a:solidFill>
      </p:bgPr>
    </p:bg>
    <p:spTree>
      <p:nvGrpSpPr>
        <p:cNvPr id="1" name=""/>
        <p:cNvGrpSpPr/>
        <p:nvPr/>
      </p:nvGrpSpPr>
      <p:grpSpPr>
        <a:xfrm>
          <a:off x="0" y="0"/>
          <a:ext cx="0" cy="0"/>
          <a:chOff x="0" y="0"/>
          <a:chExt cx="0" cy="0"/>
        </a:xfrm>
      </p:grpSpPr>
      <p:sp>
        <p:nvSpPr>
          <p:cNvPr id="2" name="Shape 0"/>
          <p:cNvSpPr/>
          <p:nvPr/>
        </p:nvSpPr>
        <p:spPr>
          <a:xfrm>
            <a:off x="457200" y="274320"/>
            <a:ext cx="1645920" cy="274320"/>
          </a:xfrm>
          <a:prstGeom prst="rect">
            <a:avLst>
              <a:gd name="adj" fmla="val 13333"/>
            </a:avLst>
          </a:prstGeom>
          <a:solidFill>
            <a:srgbClr val="0D9488"/>
          </a:solidFill>
          <a:ln/>
        </p:spPr>
      </p:sp>
      <p:sp>
        <p:nvSpPr>
          <p:cNvPr id="3" name="Text 1"/>
          <p:cNvSpPr/>
          <p:nvPr/>
        </p:nvSpPr>
        <p:spPr>
          <a:xfrm>
            <a:off x="457200" y="274320"/>
            <a:ext cx="1645920" cy="274320"/>
          </a:xfrm>
          <a:prstGeom prst="rect">
            <a:avLst/>
          </a:prstGeom>
          <a:noFill/>
          <a:ln/>
        </p:spPr>
        <p:txBody>
          <a:bodyPr wrap="square" lIns="0" tIns="0" rIns="0" bIns="0" rtlCol="0" anchor="ctr"/>
          <a:lstStyle/>
          <a:p>
            <a:pPr algn="ctr" indent="0" marL="0">
              <a:buNone/>
            </a:pPr>
            <a:r>
              <a:rPr lang="en-US" sz="900" b="1" dirty="0">
                <a:solidFill>
                  <a:srgbClr val="FFFFFF"/>
                </a:solidFill>
              </a:rPr>
              <a:t>INTRODUCTION</a:t>
            </a:r>
            <a:endParaRPr lang="en-US" sz="900" dirty="0"/>
          </a:p>
        </p:txBody>
      </p:sp>
      <p:sp>
        <p:nvSpPr>
          <p:cNvPr id="4" name="Text 2"/>
          <p:cNvSpPr/>
          <p:nvPr/>
        </p:nvSpPr>
        <p:spPr>
          <a:xfrm>
            <a:off x="457200" y="685800"/>
            <a:ext cx="8229600" cy="594360"/>
          </a:xfrm>
          <a:prstGeom prst="rect">
            <a:avLst/>
          </a:prstGeom>
          <a:noFill/>
          <a:ln/>
        </p:spPr>
        <p:txBody>
          <a:bodyPr wrap="square" lIns="0" tIns="0" rIns="0" bIns="0" rtlCol="0" anchor="ctr"/>
          <a:lstStyle/>
          <a:p>
            <a:pPr indent="0" marL="0">
              <a:buNone/>
            </a:pPr>
            <a:r>
              <a:rPr lang="en-US" sz="3200" b="1" dirty="0">
                <a:solidFill>
                  <a:srgbClr val="0D9488"/>
                </a:solidFill>
              </a:rPr>
              <a:t>Introduction</a:t>
            </a:r>
            <a:endParaRPr lang="en-US" sz="3200" dirty="0"/>
          </a:p>
        </p:txBody>
      </p:sp>
      <p:sp>
        <p:nvSpPr>
          <p:cNvPr id="5" name="Shape 3"/>
          <p:cNvSpPr/>
          <p:nvPr/>
        </p:nvSpPr>
        <p:spPr>
          <a:xfrm>
            <a:off x="0" y="685800"/>
            <a:ext cx="64008" cy="502920"/>
          </a:xfrm>
          <a:prstGeom prst="rect">
            <a:avLst/>
          </a:prstGeom>
          <a:solidFill>
            <a:srgbClr val="0D9488"/>
          </a:solidFill>
          <a:ln/>
        </p:spPr>
      </p:sp>
      <p:sp>
        <p:nvSpPr>
          <p:cNvPr id="6" name="Text 4"/>
          <p:cNvSpPr/>
          <p:nvPr/>
        </p:nvSpPr>
        <p:spPr>
          <a:xfrm>
            <a:off x="457200" y="1417320"/>
            <a:ext cx="8229600" cy="1005840"/>
          </a:xfrm>
          <a:prstGeom prst="rect">
            <a:avLst/>
          </a:prstGeom>
          <a:noFill/>
          <a:ln/>
        </p:spPr>
        <p:txBody>
          <a:bodyPr wrap="square" lIns="0" tIns="0" rIns="0" bIns="0" rtlCol="0" anchor="ctr"/>
          <a:lstStyle/>
          <a:p>
            <a:pPr indent="0" marL="0">
              <a:buNone/>
            </a:pPr>
            <a:r>
              <a:rPr lang="en-US" sz="1300" dirty="0">
                <a:solidFill>
                  <a:srgbClr val="134E4A"/>
                </a:solidFill>
              </a:rPr>
              <a:t>L'accès aux soins de santé en Algérie est souvent freiné par des contraintes organisationnelles : files d'attente longues, manque d'information sur les médecins disponibles, et absence de suivi numérique. Shifa propose une solution mobile moderne qui met en relation patients et médecins de façon simple, rapide et sécurisée.</a:t>
            </a:r>
            <a:endParaRPr lang="en-US" sz="1300" dirty="0"/>
          </a:p>
        </p:txBody>
      </p:sp>
      <p:sp>
        <p:nvSpPr>
          <p:cNvPr id="7" name="Shape 5"/>
          <p:cNvSpPr/>
          <p:nvPr/>
        </p:nvSpPr>
        <p:spPr>
          <a:xfrm>
            <a:off x="457200" y="2606040"/>
            <a:ext cx="2651760" cy="2194560"/>
          </a:xfrm>
          <a:prstGeom prst="rect">
            <a:avLst/>
          </a:prstGeom>
          <a:solidFill>
            <a:srgbClr val="FFFFFF"/>
          </a:solidFill>
          <a:ln/>
          <a:effectLst>
            <a:outerShdw sx="100000" sy="100000" kx="0" ky="0" algn="bl" rotWithShape="0" blurRad="101600" dist="38100" dir="8100000">
              <a:srgbClr val="000000">
                <a:alpha val="12000"/>
              </a:srgbClr>
            </a:outerShdw>
          </a:effectLst>
        </p:spPr>
      </p:sp>
      <p:pic>
        <p:nvPicPr>
          <p:cNvPr id="8" name="Image 0" descr="preencoded.png">    </p:cNvPr>
          <p:cNvPicPr>
            <a:picLocks noChangeAspect="1"/>
          </p:cNvPicPr>
          <p:nvPr/>
        </p:nvPicPr>
        <p:blipFill>
          <a:blip r:embed="rId1"/>
          <a:stretch>
            <a:fillRect/>
          </a:stretch>
        </p:blipFill>
        <p:spPr>
          <a:xfrm>
            <a:off x="640080" y="2743200"/>
            <a:ext cx="457200" cy="457200"/>
          </a:xfrm>
          <a:prstGeom prst="rect">
            <a:avLst/>
          </a:prstGeom>
        </p:spPr>
      </p:pic>
      <p:sp>
        <p:nvSpPr>
          <p:cNvPr id="9" name="Text 6"/>
          <p:cNvSpPr/>
          <p:nvPr/>
        </p:nvSpPr>
        <p:spPr>
          <a:xfrm>
            <a:off x="1188720" y="2697480"/>
            <a:ext cx="1828800" cy="365760"/>
          </a:xfrm>
          <a:prstGeom prst="rect">
            <a:avLst/>
          </a:prstGeom>
          <a:noFill/>
          <a:ln/>
        </p:spPr>
        <p:txBody>
          <a:bodyPr wrap="square" lIns="0" tIns="0" rIns="0" bIns="0" rtlCol="0" anchor="ctr"/>
          <a:lstStyle/>
          <a:p>
            <a:pPr indent="0" marL="0">
              <a:buNone/>
            </a:pPr>
            <a:r>
              <a:rPr lang="en-US" sz="1300" b="1" dirty="0">
                <a:solidFill>
                  <a:srgbClr val="0D9488"/>
                </a:solidFill>
              </a:rPr>
              <a:t>Application Mobile</a:t>
            </a:r>
            <a:endParaRPr lang="en-US" sz="1300" dirty="0"/>
          </a:p>
        </p:txBody>
      </p:sp>
      <p:sp>
        <p:nvSpPr>
          <p:cNvPr id="10" name="Text 7"/>
          <p:cNvSpPr/>
          <p:nvPr/>
        </p:nvSpPr>
        <p:spPr>
          <a:xfrm>
            <a:off x="594360" y="3291840"/>
            <a:ext cx="2377440" cy="822960"/>
          </a:xfrm>
          <a:prstGeom prst="rect">
            <a:avLst/>
          </a:prstGeom>
          <a:noFill/>
          <a:ln/>
        </p:spPr>
        <p:txBody>
          <a:bodyPr wrap="square" lIns="0" tIns="0" rIns="0" bIns="0" rtlCol="0" anchor="ctr"/>
          <a:lstStyle/>
          <a:p>
            <a:pPr indent="0" marL="0">
              <a:buNone/>
            </a:pPr>
            <a:r>
              <a:rPr lang="en-US" sz="1100" dirty="0">
                <a:solidFill>
                  <a:srgbClr val="6B7280"/>
                </a:solidFill>
              </a:rPr>
              <a:t>Les patients réservent leurs rendez-vous depuis leur smartphone.</a:t>
            </a:r>
            <a:endParaRPr lang="en-US" sz="1100" dirty="0"/>
          </a:p>
        </p:txBody>
      </p:sp>
      <p:sp>
        <p:nvSpPr>
          <p:cNvPr id="11" name="Shape 8"/>
          <p:cNvSpPr/>
          <p:nvPr/>
        </p:nvSpPr>
        <p:spPr>
          <a:xfrm>
            <a:off x="3355848" y="2606040"/>
            <a:ext cx="2651760" cy="2194560"/>
          </a:xfrm>
          <a:prstGeom prst="rect">
            <a:avLst/>
          </a:prstGeom>
          <a:solidFill>
            <a:srgbClr val="FFFFFF"/>
          </a:solidFill>
          <a:ln/>
          <a:effectLst>
            <a:outerShdw sx="100000" sy="100000" kx="0" ky="0" algn="bl" rotWithShape="0" blurRad="101600" dist="38100" dir="8100000">
              <a:srgbClr val="000000">
                <a:alpha val="12000"/>
              </a:srgbClr>
            </a:outerShdw>
          </a:effectLst>
        </p:spPr>
      </p:sp>
      <p:pic>
        <p:nvPicPr>
          <p:cNvPr id="12" name="Image 1" descr="preencoded.png">    </p:cNvPr>
          <p:cNvPicPr>
            <a:picLocks noChangeAspect="1"/>
          </p:cNvPicPr>
          <p:nvPr/>
        </p:nvPicPr>
        <p:blipFill>
          <a:blip r:embed="rId2"/>
          <a:stretch>
            <a:fillRect/>
          </a:stretch>
        </p:blipFill>
        <p:spPr>
          <a:xfrm>
            <a:off x="3538728" y="2743200"/>
            <a:ext cx="457200" cy="457200"/>
          </a:xfrm>
          <a:prstGeom prst="rect">
            <a:avLst/>
          </a:prstGeom>
        </p:spPr>
      </p:pic>
      <p:sp>
        <p:nvSpPr>
          <p:cNvPr id="13" name="Text 9"/>
          <p:cNvSpPr/>
          <p:nvPr/>
        </p:nvSpPr>
        <p:spPr>
          <a:xfrm>
            <a:off x="4087368" y="2697480"/>
            <a:ext cx="1828800" cy="365760"/>
          </a:xfrm>
          <a:prstGeom prst="rect">
            <a:avLst/>
          </a:prstGeom>
          <a:noFill/>
          <a:ln/>
        </p:spPr>
        <p:txBody>
          <a:bodyPr wrap="square" lIns="0" tIns="0" rIns="0" bIns="0" rtlCol="0" anchor="ctr"/>
          <a:lstStyle/>
          <a:p>
            <a:pPr indent="0" marL="0">
              <a:buNone/>
            </a:pPr>
            <a:r>
              <a:rPr lang="en-US" sz="1300" b="1" dirty="0">
                <a:solidFill>
                  <a:srgbClr val="0D9488"/>
                </a:solidFill>
              </a:rPr>
              <a:t>Interface Web</a:t>
            </a:r>
            <a:endParaRPr lang="en-US" sz="1300" dirty="0"/>
          </a:p>
        </p:txBody>
      </p:sp>
      <p:sp>
        <p:nvSpPr>
          <p:cNvPr id="14" name="Text 10"/>
          <p:cNvSpPr/>
          <p:nvPr/>
        </p:nvSpPr>
        <p:spPr>
          <a:xfrm>
            <a:off x="3493008" y="3291840"/>
            <a:ext cx="2377440" cy="822960"/>
          </a:xfrm>
          <a:prstGeom prst="rect">
            <a:avLst/>
          </a:prstGeom>
          <a:noFill/>
          <a:ln/>
        </p:spPr>
        <p:txBody>
          <a:bodyPr wrap="square" lIns="0" tIns="0" rIns="0" bIns="0" rtlCol="0" anchor="ctr"/>
          <a:lstStyle/>
          <a:p>
            <a:pPr indent="0" marL="0">
              <a:buNone/>
            </a:pPr>
            <a:r>
              <a:rPr lang="en-US" sz="1100" dirty="0">
                <a:solidFill>
                  <a:srgbClr val="6B7280"/>
                </a:solidFill>
              </a:rPr>
              <a:t>Les médecins gèrent leur planning et leurs patients en ligne.</a:t>
            </a:r>
            <a:endParaRPr lang="en-US" sz="1100" dirty="0"/>
          </a:p>
        </p:txBody>
      </p:sp>
      <p:sp>
        <p:nvSpPr>
          <p:cNvPr id="15" name="Shape 11"/>
          <p:cNvSpPr/>
          <p:nvPr/>
        </p:nvSpPr>
        <p:spPr>
          <a:xfrm>
            <a:off x="6254496" y="2606040"/>
            <a:ext cx="2651760" cy="2194560"/>
          </a:xfrm>
          <a:prstGeom prst="rect">
            <a:avLst/>
          </a:prstGeom>
          <a:solidFill>
            <a:srgbClr val="FFFFFF"/>
          </a:solidFill>
          <a:ln/>
          <a:effectLst>
            <a:outerShdw sx="100000" sy="100000" kx="0" ky="0" algn="bl" rotWithShape="0" blurRad="101600" dist="38100" dir="8100000">
              <a:srgbClr val="000000">
                <a:alpha val="12000"/>
              </a:srgbClr>
            </a:outerShdw>
          </a:effectLst>
        </p:spPr>
      </p:sp>
      <p:pic>
        <p:nvPicPr>
          <p:cNvPr id="16" name="Image 2" descr="preencoded.png">    </p:cNvPr>
          <p:cNvPicPr>
            <a:picLocks noChangeAspect="1"/>
          </p:cNvPicPr>
          <p:nvPr/>
        </p:nvPicPr>
        <p:blipFill>
          <a:blip r:embed="rId3"/>
          <a:stretch>
            <a:fillRect/>
          </a:stretch>
        </p:blipFill>
        <p:spPr>
          <a:xfrm>
            <a:off x="6437376" y="2743200"/>
            <a:ext cx="457200" cy="457200"/>
          </a:xfrm>
          <a:prstGeom prst="rect">
            <a:avLst/>
          </a:prstGeom>
        </p:spPr>
      </p:pic>
      <p:sp>
        <p:nvSpPr>
          <p:cNvPr id="17" name="Text 12"/>
          <p:cNvSpPr/>
          <p:nvPr/>
        </p:nvSpPr>
        <p:spPr>
          <a:xfrm>
            <a:off x="6986016" y="2697480"/>
            <a:ext cx="1828800" cy="365760"/>
          </a:xfrm>
          <a:prstGeom prst="rect">
            <a:avLst/>
          </a:prstGeom>
          <a:noFill/>
          <a:ln/>
        </p:spPr>
        <p:txBody>
          <a:bodyPr wrap="square" lIns="0" tIns="0" rIns="0" bIns="0" rtlCol="0" anchor="ctr"/>
          <a:lstStyle/>
          <a:p>
            <a:pPr indent="0" marL="0">
              <a:buNone/>
            </a:pPr>
            <a:r>
              <a:rPr lang="en-US" sz="1300" b="1" dirty="0">
                <a:solidFill>
                  <a:srgbClr val="0D9488"/>
                </a:solidFill>
              </a:rPr>
              <a:t>Sécurisé</a:t>
            </a:r>
            <a:endParaRPr lang="en-US" sz="1300" dirty="0"/>
          </a:p>
        </p:txBody>
      </p:sp>
      <p:sp>
        <p:nvSpPr>
          <p:cNvPr id="18" name="Text 13"/>
          <p:cNvSpPr/>
          <p:nvPr/>
        </p:nvSpPr>
        <p:spPr>
          <a:xfrm>
            <a:off x="6391656" y="3291840"/>
            <a:ext cx="2377440" cy="822960"/>
          </a:xfrm>
          <a:prstGeom prst="rect">
            <a:avLst/>
          </a:prstGeom>
          <a:noFill/>
          <a:ln/>
        </p:spPr>
        <p:txBody>
          <a:bodyPr wrap="square" lIns="0" tIns="0" rIns="0" bIns="0" rtlCol="0" anchor="ctr"/>
          <a:lstStyle/>
          <a:p>
            <a:pPr indent="0" marL="0">
              <a:buNone/>
            </a:pPr>
            <a:r>
              <a:rPr lang="en-US" sz="1100" dirty="0">
                <a:solidFill>
                  <a:srgbClr val="6B7280"/>
                </a:solidFill>
              </a:rPr>
              <a:t>Authentification JWT, RBAC et hachage PBKDF2 des mots de passe.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DFA"/>
        </a:solidFill>
      </p:bgPr>
    </p:bg>
    <p:spTree>
      <p:nvGrpSpPr>
        <p:cNvPr id="1" name=""/>
        <p:cNvGrpSpPr/>
        <p:nvPr/>
      </p:nvGrpSpPr>
      <p:grpSpPr>
        <a:xfrm>
          <a:off x="0" y="0"/>
          <a:ext cx="0" cy="0"/>
          <a:chOff x="0" y="0"/>
          <a:chExt cx="0" cy="0"/>
        </a:xfrm>
      </p:grpSpPr>
      <p:sp>
        <p:nvSpPr>
          <p:cNvPr id="2" name="Shape 0"/>
          <p:cNvSpPr/>
          <p:nvPr/>
        </p:nvSpPr>
        <p:spPr>
          <a:xfrm>
            <a:off x="457200" y="274320"/>
            <a:ext cx="1645920" cy="274320"/>
          </a:xfrm>
          <a:prstGeom prst="rect">
            <a:avLst>
              <a:gd name="adj" fmla="val 13333"/>
            </a:avLst>
          </a:prstGeom>
          <a:solidFill>
            <a:srgbClr val="0D9488"/>
          </a:solidFill>
          <a:ln/>
        </p:spPr>
      </p:sp>
      <p:sp>
        <p:nvSpPr>
          <p:cNvPr id="3" name="Text 1"/>
          <p:cNvSpPr/>
          <p:nvPr/>
        </p:nvSpPr>
        <p:spPr>
          <a:xfrm>
            <a:off x="457200" y="274320"/>
            <a:ext cx="1645920" cy="274320"/>
          </a:xfrm>
          <a:prstGeom prst="rect">
            <a:avLst/>
          </a:prstGeom>
          <a:noFill/>
          <a:ln/>
        </p:spPr>
        <p:txBody>
          <a:bodyPr wrap="square" lIns="0" tIns="0" rIns="0" bIns="0" rtlCol="0" anchor="ctr"/>
          <a:lstStyle/>
          <a:p>
            <a:pPr algn="ctr" indent="0" marL="0">
              <a:buNone/>
            </a:pPr>
            <a:r>
              <a:rPr lang="en-US" sz="900" b="1" dirty="0">
                <a:solidFill>
                  <a:srgbClr val="FFFFFF"/>
                </a:solidFill>
              </a:rPr>
              <a:t>PROBLÉMATIQUE</a:t>
            </a:r>
            <a:endParaRPr lang="en-US" sz="900" dirty="0"/>
          </a:p>
        </p:txBody>
      </p:sp>
      <p:sp>
        <p:nvSpPr>
          <p:cNvPr id="4" name="Text 2"/>
          <p:cNvSpPr/>
          <p:nvPr/>
        </p:nvSpPr>
        <p:spPr>
          <a:xfrm>
            <a:off x="457200" y="685800"/>
            <a:ext cx="8229600" cy="594360"/>
          </a:xfrm>
          <a:prstGeom prst="rect">
            <a:avLst/>
          </a:prstGeom>
          <a:noFill/>
          <a:ln/>
        </p:spPr>
        <p:txBody>
          <a:bodyPr wrap="square" lIns="0" tIns="0" rIns="0" bIns="0" rtlCol="0" anchor="ctr"/>
          <a:lstStyle/>
          <a:p>
            <a:pPr indent="0" marL="0">
              <a:buNone/>
            </a:pPr>
            <a:r>
              <a:rPr lang="en-US" sz="3200" b="1" dirty="0">
                <a:solidFill>
                  <a:srgbClr val="0D9488"/>
                </a:solidFill>
              </a:rPr>
              <a:t>Problématique</a:t>
            </a:r>
            <a:endParaRPr lang="en-US" sz="3200" dirty="0"/>
          </a:p>
        </p:txBody>
      </p:sp>
      <p:sp>
        <p:nvSpPr>
          <p:cNvPr id="5" name="Shape 3"/>
          <p:cNvSpPr/>
          <p:nvPr/>
        </p:nvSpPr>
        <p:spPr>
          <a:xfrm>
            <a:off x="0" y="685800"/>
            <a:ext cx="64008" cy="502920"/>
          </a:xfrm>
          <a:prstGeom prst="rect">
            <a:avLst/>
          </a:prstGeom>
          <a:solidFill>
            <a:srgbClr val="0D9488"/>
          </a:solidFill>
          <a:ln/>
        </p:spPr>
      </p:sp>
      <p:sp>
        <p:nvSpPr>
          <p:cNvPr id="6" name="Text 4"/>
          <p:cNvSpPr/>
          <p:nvPr/>
        </p:nvSpPr>
        <p:spPr>
          <a:xfrm>
            <a:off x="457200" y="1417320"/>
            <a:ext cx="8229600" cy="365760"/>
          </a:xfrm>
          <a:prstGeom prst="rect">
            <a:avLst/>
          </a:prstGeom>
          <a:noFill/>
          <a:ln/>
        </p:spPr>
        <p:txBody>
          <a:bodyPr wrap="square" lIns="0" tIns="0" rIns="0" bIns="0" rtlCol="0" anchor="ctr"/>
          <a:lstStyle/>
          <a:p>
            <a:pPr indent="0" marL="0">
              <a:buNone/>
            </a:pPr>
            <a:r>
              <a:rPr lang="en-US" sz="1300" dirty="0">
                <a:solidFill>
                  <a:srgbClr val="134E4A"/>
                </a:solidFill>
              </a:rPr>
              <a:t>Dans le secteur médical algérien, la prise de rendez-vous présente plusieurs problèmes :</a:t>
            </a:r>
            <a:endParaRPr lang="en-US" sz="1300" dirty="0"/>
          </a:p>
        </p:txBody>
      </p:sp>
      <p:sp>
        <p:nvSpPr>
          <p:cNvPr id="7" name="Shape 5"/>
          <p:cNvSpPr/>
          <p:nvPr/>
        </p:nvSpPr>
        <p:spPr>
          <a:xfrm>
            <a:off x="457200" y="1920240"/>
            <a:ext cx="4114800" cy="1234440"/>
          </a:xfrm>
          <a:prstGeom prst="rect">
            <a:avLst/>
          </a:prstGeom>
          <a:solidFill>
            <a:srgbClr val="FFFFFF"/>
          </a:solidFill>
          <a:ln/>
          <a:effectLst>
            <a:outerShdw sx="100000" sy="100000" kx="0" ky="0" algn="bl" rotWithShape="0" blurRad="101600" dist="38100" dir="8100000">
              <a:srgbClr val="000000">
                <a:alpha val="12000"/>
              </a:srgbClr>
            </a:outerShdw>
          </a:effectLst>
        </p:spPr>
      </p:sp>
      <p:pic>
        <p:nvPicPr>
          <p:cNvPr id="8" name="Image 0" descr="preencoded.png">    </p:cNvPr>
          <p:cNvPicPr>
            <a:picLocks noChangeAspect="1"/>
          </p:cNvPicPr>
          <p:nvPr/>
        </p:nvPicPr>
        <p:blipFill>
          <a:blip r:embed="rId1"/>
          <a:stretch>
            <a:fillRect/>
          </a:stretch>
        </p:blipFill>
        <p:spPr>
          <a:xfrm>
            <a:off x="640080" y="2304288"/>
            <a:ext cx="411480" cy="411480"/>
          </a:xfrm>
          <a:prstGeom prst="rect">
            <a:avLst/>
          </a:prstGeom>
        </p:spPr>
      </p:pic>
      <p:sp>
        <p:nvSpPr>
          <p:cNvPr id="9" name="Text 6"/>
          <p:cNvSpPr/>
          <p:nvPr/>
        </p:nvSpPr>
        <p:spPr>
          <a:xfrm>
            <a:off x="1188720" y="2194560"/>
            <a:ext cx="3200400" cy="685800"/>
          </a:xfrm>
          <a:prstGeom prst="rect">
            <a:avLst/>
          </a:prstGeom>
          <a:noFill/>
          <a:ln/>
        </p:spPr>
        <p:txBody>
          <a:bodyPr wrap="square" lIns="0" tIns="0" rIns="0" bIns="0" rtlCol="0" anchor="ctr"/>
          <a:lstStyle/>
          <a:p>
            <a:pPr indent="0" marL="0">
              <a:buNone/>
            </a:pPr>
            <a:r>
              <a:rPr lang="en-US" sz="1200" dirty="0">
                <a:solidFill>
                  <a:srgbClr val="134E4A"/>
                </a:solidFill>
              </a:rPr>
              <a:t>Longues files d'attente sans suivi du temps réel</a:t>
            </a:r>
            <a:endParaRPr lang="en-US" sz="1200" dirty="0"/>
          </a:p>
        </p:txBody>
      </p:sp>
      <p:sp>
        <p:nvSpPr>
          <p:cNvPr id="10" name="Shape 7"/>
          <p:cNvSpPr/>
          <p:nvPr/>
        </p:nvSpPr>
        <p:spPr>
          <a:xfrm>
            <a:off x="4846320" y="1920240"/>
            <a:ext cx="4114800" cy="1234440"/>
          </a:xfrm>
          <a:prstGeom prst="rect">
            <a:avLst/>
          </a:prstGeom>
          <a:solidFill>
            <a:srgbClr val="FFFFFF"/>
          </a:solidFill>
          <a:ln/>
          <a:effectLst>
            <a:outerShdw sx="100000" sy="100000" kx="0" ky="0" algn="bl" rotWithShape="0" blurRad="101600" dist="38100" dir="8100000">
              <a:srgbClr val="000000">
                <a:alpha val="12000"/>
              </a:srgbClr>
            </a:outerShdw>
          </a:effectLst>
        </p:spPr>
      </p:sp>
      <p:pic>
        <p:nvPicPr>
          <p:cNvPr id="11" name="Image 1" descr="preencoded.png">    </p:cNvPr>
          <p:cNvPicPr>
            <a:picLocks noChangeAspect="1"/>
          </p:cNvPicPr>
          <p:nvPr/>
        </p:nvPicPr>
        <p:blipFill>
          <a:blip r:embed="rId2"/>
          <a:stretch>
            <a:fillRect/>
          </a:stretch>
        </p:blipFill>
        <p:spPr>
          <a:xfrm>
            <a:off x="5029200" y="2304288"/>
            <a:ext cx="411480" cy="411480"/>
          </a:xfrm>
          <a:prstGeom prst="rect">
            <a:avLst/>
          </a:prstGeom>
        </p:spPr>
      </p:pic>
      <p:sp>
        <p:nvSpPr>
          <p:cNvPr id="12" name="Text 8"/>
          <p:cNvSpPr/>
          <p:nvPr/>
        </p:nvSpPr>
        <p:spPr>
          <a:xfrm>
            <a:off x="5577840" y="2194560"/>
            <a:ext cx="3200400" cy="685800"/>
          </a:xfrm>
          <a:prstGeom prst="rect">
            <a:avLst/>
          </a:prstGeom>
          <a:noFill/>
          <a:ln/>
        </p:spPr>
        <p:txBody>
          <a:bodyPr wrap="square" lIns="0" tIns="0" rIns="0" bIns="0" rtlCol="0" anchor="ctr"/>
          <a:lstStyle/>
          <a:p>
            <a:pPr indent="0" marL="0">
              <a:buNone/>
            </a:pPr>
            <a:r>
              <a:rPr lang="en-US" sz="1200" dirty="0">
                <a:solidFill>
                  <a:srgbClr val="134E4A"/>
                </a:solidFill>
              </a:rPr>
              <a:t>Difficulté à trouver les médecins disponibles et leurs coordonnées</a:t>
            </a:r>
            <a:endParaRPr lang="en-US" sz="1200" dirty="0"/>
          </a:p>
        </p:txBody>
      </p:sp>
      <p:sp>
        <p:nvSpPr>
          <p:cNvPr id="13" name="Shape 9"/>
          <p:cNvSpPr/>
          <p:nvPr/>
        </p:nvSpPr>
        <p:spPr>
          <a:xfrm>
            <a:off x="457200" y="3383280"/>
            <a:ext cx="4114800" cy="1234440"/>
          </a:xfrm>
          <a:prstGeom prst="rect">
            <a:avLst/>
          </a:prstGeom>
          <a:solidFill>
            <a:srgbClr val="FFFFFF"/>
          </a:solidFill>
          <a:ln/>
          <a:effectLst>
            <a:outerShdw sx="100000" sy="100000" kx="0" ky="0" algn="bl" rotWithShape="0" blurRad="101600" dist="38100" dir="8100000">
              <a:srgbClr val="000000">
                <a:alpha val="12000"/>
              </a:srgbClr>
            </a:outerShdw>
          </a:effectLst>
        </p:spPr>
      </p:sp>
      <p:pic>
        <p:nvPicPr>
          <p:cNvPr id="14" name="Image 2" descr="preencoded.png">    </p:cNvPr>
          <p:cNvPicPr>
            <a:picLocks noChangeAspect="1"/>
          </p:cNvPicPr>
          <p:nvPr/>
        </p:nvPicPr>
        <p:blipFill>
          <a:blip r:embed="rId3"/>
          <a:stretch>
            <a:fillRect/>
          </a:stretch>
        </p:blipFill>
        <p:spPr>
          <a:xfrm>
            <a:off x="640080" y="3767328"/>
            <a:ext cx="411480" cy="411480"/>
          </a:xfrm>
          <a:prstGeom prst="rect">
            <a:avLst/>
          </a:prstGeom>
        </p:spPr>
      </p:pic>
      <p:sp>
        <p:nvSpPr>
          <p:cNvPr id="15" name="Text 10"/>
          <p:cNvSpPr/>
          <p:nvPr/>
        </p:nvSpPr>
        <p:spPr>
          <a:xfrm>
            <a:off x="1188720" y="3657600"/>
            <a:ext cx="3200400" cy="685800"/>
          </a:xfrm>
          <a:prstGeom prst="rect">
            <a:avLst/>
          </a:prstGeom>
          <a:noFill/>
          <a:ln/>
        </p:spPr>
        <p:txBody>
          <a:bodyPr wrap="square" lIns="0" tIns="0" rIns="0" bIns="0" rtlCol="0" anchor="ctr"/>
          <a:lstStyle/>
          <a:p>
            <a:pPr indent="0" marL="0">
              <a:buNone/>
            </a:pPr>
            <a:r>
              <a:rPr lang="en-US" sz="1200" dirty="0">
                <a:solidFill>
                  <a:srgbClr val="134E4A"/>
                </a:solidFill>
              </a:rPr>
              <a:t>Absence de confirmation et de rappel automatique</a:t>
            </a:r>
            <a:endParaRPr lang="en-US" sz="1200" dirty="0"/>
          </a:p>
        </p:txBody>
      </p:sp>
      <p:sp>
        <p:nvSpPr>
          <p:cNvPr id="16" name="Shape 11"/>
          <p:cNvSpPr/>
          <p:nvPr/>
        </p:nvSpPr>
        <p:spPr>
          <a:xfrm>
            <a:off x="4846320" y="3383280"/>
            <a:ext cx="4114800" cy="1234440"/>
          </a:xfrm>
          <a:prstGeom prst="rect">
            <a:avLst/>
          </a:prstGeom>
          <a:solidFill>
            <a:srgbClr val="FFFFFF"/>
          </a:solidFill>
          <a:ln/>
          <a:effectLst>
            <a:outerShdw sx="100000" sy="100000" kx="0" ky="0" algn="bl" rotWithShape="0" blurRad="101600" dist="38100" dir="8100000">
              <a:srgbClr val="000000">
                <a:alpha val="12000"/>
              </a:srgbClr>
            </a:outerShdw>
          </a:effectLst>
        </p:spPr>
      </p:sp>
      <p:pic>
        <p:nvPicPr>
          <p:cNvPr id="17" name="Image 3" descr="preencoded.png">    </p:cNvPr>
          <p:cNvPicPr>
            <a:picLocks noChangeAspect="1"/>
          </p:cNvPicPr>
          <p:nvPr/>
        </p:nvPicPr>
        <p:blipFill>
          <a:blip r:embed="rId4"/>
          <a:stretch>
            <a:fillRect/>
          </a:stretch>
        </p:blipFill>
        <p:spPr>
          <a:xfrm>
            <a:off x="5029200" y="3767328"/>
            <a:ext cx="411480" cy="411480"/>
          </a:xfrm>
          <a:prstGeom prst="rect">
            <a:avLst/>
          </a:prstGeom>
        </p:spPr>
      </p:pic>
      <p:sp>
        <p:nvSpPr>
          <p:cNvPr id="18" name="Text 12"/>
          <p:cNvSpPr/>
          <p:nvPr/>
        </p:nvSpPr>
        <p:spPr>
          <a:xfrm>
            <a:off x="5577840" y="3657600"/>
            <a:ext cx="3200400" cy="685800"/>
          </a:xfrm>
          <a:prstGeom prst="rect">
            <a:avLst/>
          </a:prstGeom>
          <a:noFill/>
          <a:ln/>
        </p:spPr>
        <p:txBody>
          <a:bodyPr wrap="square" lIns="0" tIns="0" rIns="0" bIns="0" rtlCol="0" anchor="ctr"/>
          <a:lstStyle/>
          <a:p>
            <a:pPr indent="0" marL="0">
              <a:buNone/>
            </a:pPr>
            <a:r>
              <a:rPr lang="en-US" sz="1200" dirty="0">
                <a:solidFill>
                  <a:srgbClr val="134E4A"/>
                </a:solidFill>
              </a:rPr>
              <a:t>Aucun dossier médical numérique centralisé</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DFA"/>
        </a:solidFill>
      </p:bgPr>
    </p:bg>
    <p:spTree>
      <p:nvGrpSpPr>
        <p:cNvPr id="1" name=""/>
        <p:cNvGrpSpPr/>
        <p:nvPr/>
      </p:nvGrpSpPr>
      <p:grpSpPr>
        <a:xfrm>
          <a:off x="0" y="0"/>
          <a:ext cx="0" cy="0"/>
          <a:chOff x="0" y="0"/>
          <a:chExt cx="0" cy="0"/>
        </a:xfrm>
      </p:grpSpPr>
      <p:sp>
        <p:nvSpPr>
          <p:cNvPr id="2" name="Shape 0"/>
          <p:cNvSpPr/>
          <p:nvPr/>
        </p:nvSpPr>
        <p:spPr>
          <a:xfrm>
            <a:off x="457200" y="274320"/>
            <a:ext cx="1645920" cy="274320"/>
          </a:xfrm>
          <a:prstGeom prst="rect">
            <a:avLst>
              <a:gd name="adj" fmla="val 13333"/>
            </a:avLst>
          </a:prstGeom>
          <a:solidFill>
            <a:srgbClr val="0D9488"/>
          </a:solidFill>
          <a:ln/>
        </p:spPr>
      </p:sp>
      <p:sp>
        <p:nvSpPr>
          <p:cNvPr id="3" name="Text 1"/>
          <p:cNvSpPr/>
          <p:nvPr/>
        </p:nvSpPr>
        <p:spPr>
          <a:xfrm>
            <a:off x="457200" y="274320"/>
            <a:ext cx="1645920" cy="274320"/>
          </a:xfrm>
          <a:prstGeom prst="rect">
            <a:avLst/>
          </a:prstGeom>
          <a:noFill/>
          <a:ln/>
        </p:spPr>
        <p:txBody>
          <a:bodyPr wrap="square" lIns="0" tIns="0" rIns="0" bIns="0" rtlCol="0" anchor="ctr"/>
          <a:lstStyle/>
          <a:p>
            <a:pPr algn="ctr" indent="0" marL="0">
              <a:buNone/>
            </a:pPr>
            <a:r>
              <a:rPr lang="en-US" sz="900" b="1" dirty="0">
                <a:solidFill>
                  <a:srgbClr val="FFFFFF"/>
                </a:solidFill>
              </a:rPr>
              <a:t>SOLUTION</a:t>
            </a:r>
            <a:endParaRPr lang="en-US" sz="900" dirty="0"/>
          </a:p>
        </p:txBody>
      </p:sp>
      <p:sp>
        <p:nvSpPr>
          <p:cNvPr id="4" name="Text 2"/>
          <p:cNvSpPr/>
          <p:nvPr/>
        </p:nvSpPr>
        <p:spPr>
          <a:xfrm>
            <a:off x="457200" y="685800"/>
            <a:ext cx="8229600" cy="594360"/>
          </a:xfrm>
          <a:prstGeom prst="rect">
            <a:avLst/>
          </a:prstGeom>
          <a:noFill/>
          <a:ln/>
        </p:spPr>
        <p:txBody>
          <a:bodyPr wrap="square" lIns="0" tIns="0" rIns="0" bIns="0" rtlCol="0" anchor="ctr"/>
          <a:lstStyle/>
          <a:p>
            <a:pPr indent="0" marL="0">
              <a:buNone/>
            </a:pPr>
            <a:r>
              <a:rPr lang="en-US" sz="3200" b="1" dirty="0">
                <a:solidFill>
                  <a:srgbClr val="0D9488"/>
                </a:solidFill>
              </a:rPr>
              <a:t>Solution Proposée</a:t>
            </a:r>
            <a:endParaRPr lang="en-US" sz="3200" dirty="0"/>
          </a:p>
        </p:txBody>
      </p:sp>
      <p:sp>
        <p:nvSpPr>
          <p:cNvPr id="5" name="Shape 3"/>
          <p:cNvSpPr/>
          <p:nvPr/>
        </p:nvSpPr>
        <p:spPr>
          <a:xfrm>
            <a:off x="0" y="685800"/>
            <a:ext cx="64008" cy="502920"/>
          </a:xfrm>
          <a:prstGeom prst="rect">
            <a:avLst/>
          </a:prstGeom>
          <a:solidFill>
            <a:srgbClr val="0D9488"/>
          </a:solidFill>
          <a:ln/>
        </p:spPr>
      </p:sp>
      <p:sp>
        <p:nvSpPr>
          <p:cNvPr id="6" name="Text 4"/>
          <p:cNvSpPr/>
          <p:nvPr/>
        </p:nvSpPr>
        <p:spPr>
          <a:xfrm>
            <a:off x="457200" y="1417320"/>
            <a:ext cx="8229600" cy="320040"/>
          </a:xfrm>
          <a:prstGeom prst="rect">
            <a:avLst/>
          </a:prstGeom>
          <a:noFill/>
          <a:ln/>
        </p:spPr>
        <p:txBody>
          <a:bodyPr wrap="square" lIns="0" tIns="0" rIns="0" bIns="0" rtlCol="0" anchor="ctr"/>
          <a:lstStyle/>
          <a:p>
            <a:pPr indent="0" marL="0">
              <a:buNone/>
            </a:pPr>
            <a:r>
              <a:rPr lang="en-US" sz="1300" dirty="0">
                <a:solidFill>
                  <a:srgbClr val="134E4A"/>
                </a:solidFill>
              </a:rPr>
              <a:t>Pour répondre à ces problèmes, nous avons développé Shifa, une plateforme complète :</a:t>
            </a:r>
            <a:endParaRPr lang="en-US" sz="1300" dirty="0"/>
          </a:p>
        </p:txBody>
      </p:sp>
      <p:sp>
        <p:nvSpPr>
          <p:cNvPr id="7" name="Shape 5"/>
          <p:cNvSpPr/>
          <p:nvPr/>
        </p:nvSpPr>
        <p:spPr>
          <a:xfrm>
            <a:off x="457200" y="1920240"/>
            <a:ext cx="4114800" cy="2834640"/>
          </a:xfrm>
          <a:prstGeom prst="rect">
            <a:avLst/>
          </a:prstGeom>
          <a:solidFill>
            <a:srgbClr val="FFFFFF"/>
          </a:solidFill>
          <a:ln/>
          <a:effectLst>
            <a:outerShdw sx="100000" sy="100000" kx="0" ky="0" algn="bl" rotWithShape="0" blurRad="101600" dist="38100" dir="8100000">
              <a:srgbClr val="000000">
                <a:alpha val="12000"/>
              </a:srgbClr>
            </a:outerShdw>
          </a:effectLst>
        </p:spPr>
      </p:sp>
      <p:pic>
        <p:nvPicPr>
          <p:cNvPr id="8" name="Image 0" descr="preencoded.png">    </p:cNvPr>
          <p:cNvPicPr>
            <a:picLocks noChangeAspect="1"/>
          </p:cNvPicPr>
          <p:nvPr/>
        </p:nvPicPr>
        <p:blipFill>
          <a:blip r:embed="rId1"/>
          <a:stretch>
            <a:fillRect/>
          </a:stretch>
        </p:blipFill>
        <p:spPr>
          <a:xfrm>
            <a:off x="640080" y="2057400"/>
            <a:ext cx="502920" cy="502920"/>
          </a:xfrm>
          <a:prstGeom prst="rect">
            <a:avLst/>
          </a:prstGeom>
        </p:spPr>
      </p:pic>
      <p:sp>
        <p:nvSpPr>
          <p:cNvPr id="9" name="Text 6"/>
          <p:cNvSpPr/>
          <p:nvPr/>
        </p:nvSpPr>
        <p:spPr>
          <a:xfrm>
            <a:off x="1234440" y="2011680"/>
            <a:ext cx="3200400" cy="457200"/>
          </a:xfrm>
          <a:prstGeom prst="rect">
            <a:avLst/>
          </a:prstGeom>
          <a:noFill/>
          <a:ln/>
        </p:spPr>
        <p:txBody>
          <a:bodyPr wrap="square" lIns="0" tIns="0" rIns="0" bIns="0" rtlCol="0" anchor="ctr"/>
          <a:lstStyle/>
          <a:p>
            <a:pPr indent="0" marL="0">
              <a:buNone/>
            </a:pPr>
            <a:r>
              <a:rPr lang="en-US" sz="1350" b="1" dirty="0">
                <a:solidFill>
                  <a:srgbClr val="0D9488"/>
                </a:solidFill>
              </a:rPr>
              <a:t>📱 Application Mobile (Flutter)</a:t>
            </a:r>
            <a:endParaRPr lang="en-US" sz="1350" dirty="0"/>
          </a:p>
        </p:txBody>
      </p:sp>
      <p:sp>
        <p:nvSpPr>
          <p:cNvPr id="10" name="Text 7"/>
          <p:cNvSpPr/>
          <p:nvPr/>
        </p:nvSpPr>
        <p:spPr>
          <a:xfrm>
            <a:off x="640080" y="2697480"/>
            <a:ext cx="3749040" cy="1645920"/>
          </a:xfrm>
          <a:prstGeom prst="rect">
            <a:avLst/>
          </a:prstGeom>
          <a:noFill/>
          <a:ln/>
        </p:spPr>
        <p:txBody>
          <a:bodyPr wrap="square" lIns="0" tIns="0" rIns="0" bIns="0" rtlCol="0" anchor="ctr"/>
          <a:lstStyle/>
          <a:p>
            <a:pPr indent="0" marL="0">
              <a:buNone/>
            </a:pPr>
            <a:r>
              <a:rPr lang="en-US" sz="1200" dirty="0">
                <a:solidFill>
                  <a:srgbClr val="134E4A"/>
                </a:solidFill>
              </a:rPr>
              <a:t>Les patients créent leur compte, recherchent un médecin par spécialité, consultent sa fiche détaillée, réservent un rendez-vous (physique ou téléconsultation) et paient en ligne.</a:t>
            </a:r>
            <a:endParaRPr lang="en-US" sz="1200" dirty="0"/>
          </a:p>
        </p:txBody>
      </p:sp>
      <p:sp>
        <p:nvSpPr>
          <p:cNvPr id="11" name="Shape 8"/>
          <p:cNvSpPr/>
          <p:nvPr/>
        </p:nvSpPr>
        <p:spPr>
          <a:xfrm>
            <a:off x="4846320" y="1920240"/>
            <a:ext cx="4114800" cy="2834640"/>
          </a:xfrm>
          <a:prstGeom prst="rect">
            <a:avLst/>
          </a:prstGeom>
          <a:solidFill>
            <a:srgbClr val="FFFFFF"/>
          </a:solidFill>
          <a:ln/>
          <a:effectLst>
            <a:outerShdw sx="100000" sy="100000" kx="0" ky="0" algn="bl" rotWithShape="0" blurRad="101600" dist="38100" dir="8100000">
              <a:srgbClr val="000000">
                <a:alpha val="12000"/>
              </a:srgbClr>
            </a:outerShdw>
          </a:effectLst>
        </p:spPr>
      </p:sp>
      <p:pic>
        <p:nvPicPr>
          <p:cNvPr id="12" name="Image 1" descr="preencoded.png">    </p:cNvPr>
          <p:cNvPicPr>
            <a:picLocks noChangeAspect="1"/>
          </p:cNvPicPr>
          <p:nvPr/>
        </p:nvPicPr>
        <p:blipFill>
          <a:blip r:embed="rId2"/>
          <a:stretch>
            <a:fillRect/>
          </a:stretch>
        </p:blipFill>
        <p:spPr>
          <a:xfrm>
            <a:off x="5029200" y="2057400"/>
            <a:ext cx="502920" cy="502920"/>
          </a:xfrm>
          <a:prstGeom prst="rect">
            <a:avLst/>
          </a:prstGeom>
        </p:spPr>
      </p:pic>
      <p:sp>
        <p:nvSpPr>
          <p:cNvPr id="13" name="Text 9"/>
          <p:cNvSpPr/>
          <p:nvPr/>
        </p:nvSpPr>
        <p:spPr>
          <a:xfrm>
            <a:off x="5623560" y="2011680"/>
            <a:ext cx="3200400" cy="457200"/>
          </a:xfrm>
          <a:prstGeom prst="rect">
            <a:avLst/>
          </a:prstGeom>
          <a:noFill/>
          <a:ln/>
        </p:spPr>
        <p:txBody>
          <a:bodyPr wrap="square" lIns="0" tIns="0" rIns="0" bIns="0" rtlCol="0" anchor="ctr"/>
          <a:lstStyle/>
          <a:p>
            <a:pPr indent="0" marL="0">
              <a:buNone/>
            </a:pPr>
            <a:r>
              <a:rPr lang="en-US" sz="1350" b="1" dirty="0">
                <a:solidFill>
                  <a:srgbClr val="0D9488"/>
                </a:solidFill>
              </a:rPr>
              <a:t>💻 Interface Web (Django)</a:t>
            </a:r>
            <a:endParaRPr lang="en-US" sz="1350" dirty="0"/>
          </a:p>
        </p:txBody>
      </p:sp>
      <p:sp>
        <p:nvSpPr>
          <p:cNvPr id="14" name="Text 10"/>
          <p:cNvSpPr/>
          <p:nvPr/>
        </p:nvSpPr>
        <p:spPr>
          <a:xfrm>
            <a:off x="5029200" y="2697480"/>
            <a:ext cx="3749040" cy="1645920"/>
          </a:xfrm>
          <a:prstGeom prst="rect">
            <a:avLst/>
          </a:prstGeom>
          <a:noFill/>
          <a:ln/>
        </p:spPr>
        <p:txBody>
          <a:bodyPr wrap="square" lIns="0" tIns="0" rIns="0" bIns="0" rtlCol="0" anchor="ctr"/>
          <a:lstStyle/>
          <a:p>
            <a:pPr indent="0" marL="0">
              <a:buNone/>
            </a:pPr>
            <a:r>
              <a:rPr lang="en-US" sz="1200" dirty="0">
                <a:solidFill>
                  <a:srgbClr val="134E4A"/>
                </a:solidFill>
              </a:rPr>
              <a:t>Les médecins gèrent leur planning, génèrent leurs disponibilités, consultent leurs rendez-vous en temps réel, communiquent avec les patients et accèdent aux dossiers médicaux.</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DFA"/>
        </a:solidFill>
      </p:bgPr>
    </p:bg>
    <p:spTree>
      <p:nvGrpSpPr>
        <p:cNvPr id="1" name=""/>
        <p:cNvGrpSpPr/>
        <p:nvPr/>
      </p:nvGrpSpPr>
      <p:grpSpPr>
        <a:xfrm>
          <a:off x="0" y="0"/>
          <a:ext cx="0" cy="0"/>
          <a:chOff x="0" y="0"/>
          <a:chExt cx="0" cy="0"/>
        </a:xfrm>
      </p:grpSpPr>
      <p:sp>
        <p:nvSpPr>
          <p:cNvPr id="2" name="Shape 0"/>
          <p:cNvSpPr/>
          <p:nvPr/>
        </p:nvSpPr>
        <p:spPr>
          <a:xfrm>
            <a:off x="457200" y="274320"/>
            <a:ext cx="1645920" cy="274320"/>
          </a:xfrm>
          <a:prstGeom prst="rect">
            <a:avLst>
              <a:gd name="adj" fmla="val 13333"/>
            </a:avLst>
          </a:prstGeom>
          <a:solidFill>
            <a:srgbClr val="0D9488"/>
          </a:solidFill>
          <a:ln/>
        </p:spPr>
      </p:sp>
      <p:sp>
        <p:nvSpPr>
          <p:cNvPr id="3" name="Text 1"/>
          <p:cNvSpPr/>
          <p:nvPr/>
        </p:nvSpPr>
        <p:spPr>
          <a:xfrm>
            <a:off x="457200" y="274320"/>
            <a:ext cx="1645920" cy="274320"/>
          </a:xfrm>
          <a:prstGeom prst="rect">
            <a:avLst/>
          </a:prstGeom>
          <a:noFill/>
          <a:ln/>
        </p:spPr>
        <p:txBody>
          <a:bodyPr wrap="square" lIns="0" tIns="0" rIns="0" bIns="0" rtlCol="0" anchor="ctr"/>
          <a:lstStyle/>
          <a:p>
            <a:pPr algn="ctr" indent="0" marL="0">
              <a:buNone/>
            </a:pPr>
            <a:r>
              <a:rPr lang="en-US" sz="900" b="1" dirty="0">
                <a:solidFill>
                  <a:srgbClr val="FFFFFF"/>
                </a:solidFill>
              </a:rPr>
              <a:t>OBJECTIFS</a:t>
            </a:r>
            <a:endParaRPr lang="en-US" sz="900" dirty="0"/>
          </a:p>
        </p:txBody>
      </p:sp>
      <p:sp>
        <p:nvSpPr>
          <p:cNvPr id="4" name="Text 2"/>
          <p:cNvSpPr/>
          <p:nvPr/>
        </p:nvSpPr>
        <p:spPr>
          <a:xfrm>
            <a:off x="457200" y="685800"/>
            <a:ext cx="8229600" cy="594360"/>
          </a:xfrm>
          <a:prstGeom prst="rect">
            <a:avLst/>
          </a:prstGeom>
          <a:noFill/>
          <a:ln/>
        </p:spPr>
        <p:txBody>
          <a:bodyPr wrap="square" lIns="0" tIns="0" rIns="0" bIns="0" rtlCol="0" anchor="ctr"/>
          <a:lstStyle/>
          <a:p>
            <a:pPr indent="0" marL="0">
              <a:buNone/>
            </a:pPr>
            <a:r>
              <a:rPr lang="en-US" sz="3200" b="1" dirty="0">
                <a:solidFill>
                  <a:srgbClr val="0D9488"/>
                </a:solidFill>
              </a:rPr>
              <a:t>Objectifs du Projet</a:t>
            </a:r>
            <a:endParaRPr lang="en-US" sz="3200" dirty="0"/>
          </a:p>
        </p:txBody>
      </p:sp>
      <p:sp>
        <p:nvSpPr>
          <p:cNvPr id="5" name="Shape 3"/>
          <p:cNvSpPr/>
          <p:nvPr/>
        </p:nvSpPr>
        <p:spPr>
          <a:xfrm>
            <a:off x="0" y="685800"/>
            <a:ext cx="64008" cy="502920"/>
          </a:xfrm>
          <a:prstGeom prst="rect">
            <a:avLst/>
          </a:prstGeom>
          <a:solidFill>
            <a:srgbClr val="0D9488"/>
          </a:solidFill>
          <a:ln/>
        </p:spPr>
      </p:sp>
      <p:sp>
        <p:nvSpPr>
          <p:cNvPr id="6" name="Shape 4"/>
          <p:cNvSpPr/>
          <p:nvPr/>
        </p:nvSpPr>
        <p:spPr>
          <a:xfrm>
            <a:off x="457200" y="1463040"/>
            <a:ext cx="8229600" cy="585216"/>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7" name="Text 5"/>
          <p:cNvSpPr/>
          <p:nvPr/>
        </p:nvSpPr>
        <p:spPr>
          <a:xfrm>
            <a:off x="594360" y="1554480"/>
            <a:ext cx="365760" cy="365760"/>
          </a:xfrm>
          <a:prstGeom prst="rect">
            <a:avLst/>
          </a:prstGeom>
          <a:noFill/>
          <a:ln/>
        </p:spPr>
        <p:txBody>
          <a:bodyPr wrap="square" lIns="0" tIns="0" rIns="0" bIns="0" rtlCol="0" anchor="ctr"/>
          <a:lstStyle/>
          <a:p>
            <a:pPr algn="ctr" indent="0" marL="0">
              <a:buNone/>
            </a:pPr>
            <a:r>
              <a:rPr lang="en-US" sz="1600" b="1" dirty="0">
                <a:solidFill>
                  <a:srgbClr val="0D9488"/>
                </a:solidFill>
              </a:rPr>
              <a:t>01</a:t>
            </a:r>
            <a:endParaRPr lang="en-US" sz="1600" dirty="0"/>
          </a:p>
        </p:txBody>
      </p:sp>
      <p:pic>
        <p:nvPicPr>
          <p:cNvPr id="8" name="Image 0" descr="preencoded.png">    </p:cNvPr>
          <p:cNvPicPr>
            <a:picLocks noChangeAspect="1"/>
          </p:cNvPicPr>
          <p:nvPr/>
        </p:nvPicPr>
        <p:blipFill>
          <a:blip r:embed="rId1"/>
          <a:stretch>
            <a:fillRect/>
          </a:stretch>
        </p:blipFill>
        <p:spPr>
          <a:xfrm>
            <a:off x="1051560" y="1572768"/>
            <a:ext cx="347472" cy="347472"/>
          </a:xfrm>
          <a:prstGeom prst="rect">
            <a:avLst/>
          </a:prstGeom>
        </p:spPr>
      </p:pic>
      <p:sp>
        <p:nvSpPr>
          <p:cNvPr id="9" name="Text 6"/>
          <p:cNvSpPr/>
          <p:nvPr/>
        </p:nvSpPr>
        <p:spPr>
          <a:xfrm>
            <a:off x="1554480" y="1572768"/>
            <a:ext cx="6858000" cy="365760"/>
          </a:xfrm>
          <a:prstGeom prst="rect">
            <a:avLst/>
          </a:prstGeom>
          <a:noFill/>
          <a:ln/>
        </p:spPr>
        <p:txBody>
          <a:bodyPr wrap="square" lIns="0" tIns="0" rIns="0" bIns="0" rtlCol="0" anchor="ctr"/>
          <a:lstStyle/>
          <a:p>
            <a:pPr indent="0" marL="0">
              <a:buNone/>
            </a:pPr>
            <a:r>
              <a:rPr lang="en-US" sz="1300" dirty="0">
                <a:solidFill>
                  <a:srgbClr val="134E4A"/>
                </a:solidFill>
              </a:rPr>
              <a:t>Simplifier la prise de rendez-vous médicaux via mobile</a:t>
            </a:r>
            <a:endParaRPr lang="en-US" sz="1300" dirty="0"/>
          </a:p>
        </p:txBody>
      </p:sp>
      <p:sp>
        <p:nvSpPr>
          <p:cNvPr id="10" name="Shape 7"/>
          <p:cNvSpPr/>
          <p:nvPr/>
        </p:nvSpPr>
        <p:spPr>
          <a:xfrm>
            <a:off x="457200" y="2130552"/>
            <a:ext cx="8229600" cy="585216"/>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1" name="Text 8"/>
          <p:cNvSpPr/>
          <p:nvPr/>
        </p:nvSpPr>
        <p:spPr>
          <a:xfrm>
            <a:off x="594360" y="2221992"/>
            <a:ext cx="365760" cy="365760"/>
          </a:xfrm>
          <a:prstGeom prst="rect">
            <a:avLst/>
          </a:prstGeom>
          <a:noFill/>
          <a:ln/>
        </p:spPr>
        <p:txBody>
          <a:bodyPr wrap="square" lIns="0" tIns="0" rIns="0" bIns="0" rtlCol="0" anchor="ctr"/>
          <a:lstStyle/>
          <a:p>
            <a:pPr algn="ctr" indent="0" marL="0">
              <a:buNone/>
            </a:pPr>
            <a:r>
              <a:rPr lang="en-US" sz="1600" b="1" dirty="0">
                <a:solidFill>
                  <a:srgbClr val="0D9488"/>
                </a:solidFill>
              </a:rPr>
              <a:t>02</a:t>
            </a:r>
            <a:endParaRPr lang="en-US" sz="1600" dirty="0"/>
          </a:p>
        </p:txBody>
      </p:sp>
      <p:pic>
        <p:nvPicPr>
          <p:cNvPr id="12" name="Image 1" descr="preencoded.png">    </p:cNvPr>
          <p:cNvPicPr>
            <a:picLocks noChangeAspect="1"/>
          </p:cNvPicPr>
          <p:nvPr/>
        </p:nvPicPr>
        <p:blipFill>
          <a:blip r:embed="rId2"/>
          <a:stretch>
            <a:fillRect/>
          </a:stretch>
        </p:blipFill>
        <p:spPr>
          <a:xfrm>
            <a:off x="1051560" y="2240280"/>
            <a:ext cx="347472" cy="347472"/>
          </a:xfrm>
          <a:prstGeom prst="rect">
            <a:avLst/>
          </a:prstGeom>
        </p:spPr>
      </p:pic>
      <p:sp>
        <p:nvSpPr>
          <p:cNvPr id="13" name="Text 9"/>
          <p:cNvSpPr/>
          <p:nvPr/>
        </p:nvSpPr>
        <p:spPr>
          <a:xfrm>
            <a:off x="1554480" y="2240280"/>
            <a:ext cx="6858000" cy="365760"/>
          </a:xfrm>
          <a:prstGeom prst="rect">
            <a:avLst/>
          </a:prstGeom>
          <a:noFill/>
          <a:ln/>
        </p:spPr>
        <p:txBody>
          <a:bodyPr wrap="square" lIns="0" tIns="0" rIns="0" bIns="0" rtlCol="0" anchor="ctr"/>
          <a:lstStyle/>
          <a:p>
            <a:pPr indent="0" marL="0">
              <a:buNone/>
            </a:pPr>
            <a:r>
              <a:rPr lang="en-US" sz="1300" dirty="0">
                <a:solidFill>
                  <a:srgbClr val="134E4A"/>
                </a:solidFill>
              </a:rPr>
              <a:t>Proposer la téléconsultation comme alternative à la visite physique</a:t>
            </a:r>
            <a:endParaRPr lang="en-US" sz="1300" dirty="0"/>
          </a:p>
        </p:txBody>
      </p:sp>
      <p:sp>
        <p:nvSpPr>
          <p:cNvPr id="14" name="Shape 10"/>
          <p:cNvSpPr/>
          <p:nvPr/>
        </p:nvSpPr>
        <p:spPr>
          <a:xfrm>
            <a:off x="457200" y="2798064"/>
            <a:ext cx="8229600" cy="585216"/>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5" name="Text 11"/>
          <p:cNvSpPr/>
          <p:nvPr/>
        </p:nvSpPr>
        <p:spPr>
          <a:xfrm>
            <a:off x="594360" y="2889504"/>
            <a:ext cx="365760" cy="365760"/>
          </a:xfrm>
          <a:prstGeom prst="rect">
            <a:avLst/>
          </a:prstGeom>
          <a:noFill/>
          <a:ln/>
        </p:spPr>
        <p:txBody>
          <a:bodyPr wrap="square" lIns="0" tIns="0" rIns="0" bIns="0" rtlCol="0" anchor="ctr"/>
          <a:lstStyle/>
          <a:p>
            <a:pPr algn="ctr" indent="0" marL="0">
              <a:buNone/>
            </a:pPr>
            <a:r>
              <a:rPr lang="en-US" sz="1600" b="1" dirty="0">
                <a:solidFill>
                  <a:srgbClr val="0D9488"/>
                </a:solidFill>
              </a:rPr>
              <a:t>03</a:t>
            </a:r>
            <a:endParaRPr lang="en-US" sz="1600" dirty="0"/>
          </a:p>
        </p:txBody>
      </p:sp>
      <p:pic>
        <p:nvPicPr>
          <p:cNvPr id="16" name="Image 2" descr="preencoded.png">    </p:cNvPr>
          <p:cNvPicPr>
            <a:picLocks noChangeAspect="1"/>
          </p:cNvPicPr>
          <p:nvPr/>
        </p:nvPicPr>
        <p:blipFill>
          <a:blip r:embed="rId3"/>
          <a:stretch>
            <a:fillRect/>
          </a:stretch>
        </p:blipFill>
        <p:spPr>
          <a:xfrm>
            <a:off x="1051560" y="2907792"/>
            <a:ext cx="347472" cy="347472"/>
          </a:xfrm>
          <a:prstGeom prst="rect">
            <a:avLst/>
          </a:prstGeom>
        </p:spPr>
      </p:pic>
      <p:sp>
        <p:nvSpPr>
          <p:cNvPr id="17" name="Text 12"/>
          <p:cNvSpPr/>
          <p:nvPr/>
        </p:nvSpPr>
        <p:spPr>
          <a:xfrm>
            <a:off x="1554480" y="2907792"/>
            <a:ext cx="6858000" cy="365760"/>
          </a:xfrm>
          <a:prstGeom prst="rect">
            <a:avLst/>
          </a:prstGeom>
          <a:noFill/>
          <a:ln/>
        </p:spPr>
        <p:txBody>
          <a:bodyPr wrap="square" lIns="0" tIns="0" rIns="0" bIns="0" rtlCol="0" anchor="ctr"/>
          <a:lstStyle/>
          <a:p>
            <a:pPr indent="0" marL="0">
              <a:buNone/>
            </a:pPr>
            <a:r>
              <a:rPr lang="en-US" sz="1300" dirty="0">
                <a:solidFill>
                  <a:srgbClr val="134E4A"/>
                </a:solidFill>
              </a:rPr>
              <a:t>Garantir la sécurité des données (JWT, PBKDF2, RBAC)</a:t>
            </a:r>
            <a:endParaRPr lang="en-US" sz="1300" dirty="0"/>
          </a:p>
        </p:txBody>
      </p:sp>
      <p:sp>
        <p:nvSpPr>
          <p:cNvPr id="18" name="Shape 13"/>
          <p:cNvSpPr/>
          <p:nvPr/>
        </p:nvSpPr>
        <p:spPr>
          <a:xfrm>
            <a:off x="457200" y="3465576"/>
            <a:ext cx="8229600" cy="585216"/>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9" name="Text 14"/>
          <p:cNvSpPr/>
          <p:nvPr/>
        </p:nvSpPr>
        <p:spPr>
          <a:xfrm>
            <a:off x="594360" y="3557016"/>
            <a:ext cx="365760" cy="365760"/>
          </a:xfrm>
          <a:prstGeom prst="rect">
            <a:avLst/>
          </a:prstGeom>
          <a:noFill/>
          <a:ln/>
        </p:spPr>
        <p:txBody>
          <a:bodyPr wrap="square" lIns="0" tIns="0" rIns="0" bIns="0" rtlCol="0" anchor="ctr"/>
          <a:lstStyle/>
          <a:p>
            <a:pPr algn="ctr" indent="0" marL="0">
              <a:buNone/>
            </a:pPr>
            <a:r>
              <a:rPr lang="en-US" sz="1600" b="1" dirty="0">
                <a:solidFill>
                  <a:srgbClr val="0D9488"/>
                </a:solidFill>
              </a:rPr>
              <a:t>04</a:t>
            </a:r>
            <a:endParaRPr lang="en-US" sz="1600" dirty="0"/>
          </a:p>
        </p:txBody>
      </p:sp>
      <p:pic>
        <p:nvPicPr>
          <p:cNvPr id="20" name="Image 3" descr="preencoded.png">    </p:cNvPr>
          <p:cNvPicPr>
            <a:picLocks noChangeAspect="1"/>
          </p:cNvPicPr>
          <p:nvPr/>
        </p:nvPicPr>
        <p:blipFill>
          <a:blip r:embed="rId4"/>
          <a:stretch>
            <a:fillRect/>
          </a:stretch>
        </p:blipFill>
        <p:spPr>
          <a:xfrm>
            <a:off x="1051560" y="3575304"/>
            <a:ext cx="347472" cy="347472"/>
          </a:xfrm>
          <a:prstGeom prst="rect">
            <a:avLst/>
          </a:prstGeom>
        </p:spPr>
      </p:pic>
      <p:sp>
        <p:nvSpPr>
          <p:cNvPr id="21" name="Text 15"/>
          <p:cNvSpPr/>
          <p:nvPr/>
        </p:nvSpPr>
        <p:spPr>
          <a:xfrm>
            <a:off x="1554480" y="3575304"/>
            <a:ext cx="6858000" cy="365760"/>
          </a:xfrm>
          <a:prstGeom prst="rect">
            <a:avLst/>
          </a:prstGeom>
          <a:noFill/>
          <a:ln/>
        </p:spPr>
        <p:txBody>
          <a:bodyPr wrap="square" lIns="0" tIns="0" rIns="0" bIns="0" rtlCol="0" anchor="ctr"/>
          <a:lstStyle/>
          <a:p>
            <a:pPr indent="0" marL="0">
              <a:buNone/>
            </a:pPr>
            <a:r>
              <a:rPr lang="en-US" sz="1300" dirty="0">
                <a:solidFill>
                  <a:srgbClr val="134E4A"/>
                </a:solidFill>
              </a:rPr>
              <a:t>Fournir aux médecins des statistiques d'activité en temps réel</a:t>
            </a:r>
            <a:endParaRPr lang="en-US" sz="1300" dirty="0"/>
          </a:p>
        </p:txBody>
      </p:sp>
      <p:sp>
        <p:nvSpPr>
          <p:cNvPr id="22" name="Shape 16"/>
          <p:cNvSpPr/>
          <p:nvPr/>
        </p:nvSpPr>
        <p:spPr>
          <a:xfrm>
            <a:off x="457200" y="4133088"/>
            <a:ext cx="8229600" cy="585216"/>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3" name="Text 17"/>
          <p:cNvSpPr/>
          <p:nvPr/>
        </p:nvSpPr>
        <p:spPr>
          <a:xfrm>
            <a:off x="594360" y="4224528"/>
            <a:ext cx="365760" cy="365760"/>
          </a:xfrm>
          <a:prstGeom prst="rect">
            <a:avLst/>
          </a:prstGeom>
          <a:noFill/>
          <a:ln/>
        </p:spPr>
        <p:txBody>
          <a:bodyPr wrap="square" lIns="0" tIns="0" rIns="0" bIns="0" rtlCol="0" anchor="ctr"/>
          <a:lstStyle/>
          <a:p>
            <a:pPr algn="ctr" indent="0" marL="0">
              <a:buNone/>
            </a:pPr>
            <a:r>
              <a:rPr lang="en-US" sz="1600" b="1" dirty="0">
                <a:solidFill>
                  <a:srgbClr val="0D9488"/>
                </a:solidFill>
              </a:rPr>
              <a:t>05</a:t>
            </a:r>
            <a:endParaRPr lang="en-US" sz="1600" dirty="0"/>
          </a:p>
        </p:txBody>
      </p:sp>
      <p:pic>
        <p:nvPicPr>
          <p:cNvPr id="24" name="Image 4" descr="preencoded.png">    </p:cNvPr>
          <p:cNvPicPr>
            <a:picLocks noChangeAspect="1"/>
          </p:cNvPicPr>
          <p:nvPr/>
        </p:nvPicPr>
        <p:blipFill>
          <a:blip r:embed="rId5"/>
          <a:stretch>
            <a:fillRect/>
          </a:stretch>
        </p:blipFill>
        <p:spPr>
          <a:xfrm>
            <a:off x="1051560" y="4242816"/>
            <a:ext cx="347472" cy="347472"/>
          </a:xfrm>
          <a:prstGeom prst="rect">
            <a:avLst/>
          </a:prstGeom>
        </p:spPr>
      </p:pic>
      <p:sp>
        <p:nvSpPr>
          <p:cNvPr id="25" name="Text 18"/>
          <p:cNvSpPr/>
          <p:nvPr/>
        </p:nvSpPr>
        <p:spPr>
          <a:xfrm>
            <a:off x="1554480" y="4242816"/>
            <a:ext cx="6858000" cy="365760"/>
          </a:xfrm>
          <a:prstGeom prst="rect">
            <a:avLst/>
          </a:prstGeom>
          <a:noFill/>
          <a:ln/>
        </p:spPr>
        <p:txBody>
          <a:bodyPr wrap="square" lIns="0" tIns="0" rIns="0" bIns="0" rtlCol="0" anchor="ctr"/>
          <a:lstStyle/>
          <a:p>
            <a:pPr indent="0" marL="0">
              <a:buNone/>
            </a:pPr>
            <a:r>
              <a:rPr lang="en-US" sz="1300" dirty="0">
                <a:solidFill>
                  <a:srgbClr val="134E4A"/>
                </a:solidFill>
              </a:rPr>
              <a:t>Centraliser les dossiers médicaux électroniques (EHR)</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DFA"/>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D9488"/>
          </a:solidFill>
          <a:ln/>
        </p:spPr>
      </p:sp>
      <p:sp>
        <p:nvSpPr>
          <p:cNvPr id="3" name="Text 1"/>
          <p:cNvSpPr/>
          <p:nvPr/>
        </p:nvSpPr>
        <p:spPr>
          <a:xfrm>
            <a:off x="274320" y="0"/>
            <a:ext cx="8595360" cy="566928"/>
          </a:xfrm>
          <a:prstGeom prst="rect">
            <a:avLst/>
          </a:prstGeom>
          <a:noFill/>
          <a:ln/>
        </p:spPr>
        <p:txBody>
          <a:bodyPr wrap="square" lIns="0" tIns="0" rIns="0" bIns="0" rtlCol="0" anchor="ctr"/>
          <a:lstStyle/>
          <a:p>
            <a:pPr indent="0" marL="0">
              <a:buNone/>
            </a:pPr>
            <a:r>
              <a:rPr lang="en-US" sz="2200" b="1" dirty="0">
                <a:solidFill>
                  <a:srgbClr val="FFFFFF"/>
                </a:solidFill>
              </a:rPr>
              <a:t>Diagramme de Classes</a:t>
            </a:r>
            <a:endParaRPr lang="en-US" sz="2200" dirty="0"/>
          </a:p>
        </p:txBody>
      </p:sp>
      <p:sp>
        <p:nvSpPr>
          <p:cNvPr id="4" name="Shape 2"/>
          <p:cNvSpPr/>
          <p:nvPr/>
        </p:nvSpPr>
        <p:spPr>
          <a:xfrm>
            <a:off x="228600" y="685800"/>
            <a:ext cx="2560320" cy="1499616"/>
          </a:xfrm>
          <a:prstGeom prst="rect">
            <a:avLst/>
          </a:prstGeom>
          <a:solidFill>
            <a:srgbClr val="FFFFFF"/>
          </a:solidFill>
          <a:ln w="15240">
            <a:solidFill>
              <a:srgbClr val="94A3B8"/>
            </a:solidFill>
            <a:prstDash val="solid"/>
          </a:ln>
        </p:spPr>
      </p:sp>
      <p:sp>
        <p:nvSpPr>
          <p:cNvPr id="5" name="Shape 3"/>
          <p:cNvSpPr/>
          <p:nvPr/>
        </p:nvSpPr>
        <p:spPr>
          <a:xfrm>
            <a:off x="228600" y="685800"/>
            <a:ext cx="2560320" cy="347472"/>
          </a:xfrm>
          <a:prstGeom prst="rect">
            <a:avLst/>
          </a:prstGeom>
          <a:solidFill>
            <a:srgbClr val="0D9488"/>
          </a:solidFill>
          <a:ln w="12700">
            <a:solidFill>
              <a:srgbClr val="0D9488"/>
            </a:solidFill>
            <a:prstDash val="solid"/>
          </a:ln>
        </p:spPr>
      </p:sp>
      <p:sp>
        <p:nvSpPr>
          <p:cNvPr id="6" name="Text 4"/>
          <p:cNvSpPr/>
          <p:nvPr/>
        </p:nvSpPr>
        <p:spPr>
          <a:xfrm>
            <a:off x="301752" y="740664"/>
            <a:ext cx="2414016" cy="292608"/>
          </a:xfrm>
          <a:prstGeom prst="rect">
            <a:avLst/>
          </a:prstGeom>
          <a:noFill/>
          <a:ln/>
        </p:spPr>
        <p:txBody>
          <a:bodyPr wrap="square" lIns="0" tIns="0" rIns="0" bIns="0" rtlCol="0" anchor="ctr"/>
          <a:lstStyle/>
          <a:p>
            <a:pPr algn="ctr" indent="0" marL="0">
              <a:buNone/>
            </a:pPr>
            <a:r>
              <a:rPr lang="en-US" sz="1300" b="1" dirty="0">
                <a:solidFill>
                  <a:srgbClr val="FFFFFF"/>
                </a:solidFill>
              </a:rPr>
              <a:t>User</a:t>
            </a:r>
            <a:endParaRPr lang="en-US" sz="1300" dirty="0"/>
          </a:p>
        </p:txBody>
      </p:sp>
      <p:sp>
        <p:nvSpPr>
          <p:cNvPr id="7" name="Shape 5"/>
          <p:cNvSpPr/>
          <p:nvPr/>
        </p:nvSpPr>
        <p:spPr>
          <a:xfrm>
            <a:off x="228600" y="1033272"/>
            <a:ext cx="2560320" cy="0"/>
          </a:xfrm>
          <a:prstGeom prst="line">
            <a:avLst/>
          </a:prstGeom>
          <a:noFill/>
          <a:ln w="12700">
            <a:solidFill>
              <a:srgbClr val="94A3B8"/>
            </a:solidFill>
            <a:prstDash val="solid"/>
          </a:ln>
        </p:spPr>
      </p:sp>
      <p:sp>
        <p:nvSpPr>
          <p:cNvPr id="8" name="Text 6"/>
          <p:cNvSpPr/>
          <p:nvPr/>
        </p:nvSpPr>
        <p:spPr>
          <a:xfrm>
            <a:off x="338328" y="1088136"/>
            <a:ext cx="2377440" cy="256032"/>
          </a:xfrm>
          <a:prstGeom prst="rect">
            <a:avLst/>
          </a:prstGeom>
          <a:noFill/>
          <a:ln/>
        </p:spPr>
        <p:txBody>
          <a:bodyPr wrap="square" lIns="0" tIns="0" rIns="0" bIns="0" rtlCol="0" anchor="ctr"/>
          <a:lstStyle/>
          <a:p>
            <a:pPr indent="0" marL="0">
              <a:buNone/>
            </a:pPr>
            <a:r>
              <a:rPr lang="en-US" sz="1000" dirty="0">
                <a:solidFill>
                  <a:srgbClr val="1E293B"/>
                </a:solidFill>
                <a:latin typeface="Consolas" pitchFamily="34" charset="0"/>
                <a:ea typeface="Consolas" pitchFamily="34" charset="-122"/>
                <a:cs typeface="Consolas" pitchFamily="34" charset="-120"/>
              </a:rPr>
              <a:t>+email: String</a:t>
            </a:r>
            <a:endParaRPr lang="en-US" sz="1000" dirty="0"/>
          </a:p>
        </p:txBody>
      </p:sp>
      <p:sp>
        <p:nvSpPr>
          <p:cNvPr id="9" name="Text 7"/>
          <p:cNvSpPr/>
          <p:nvPr/>
        </p:nvSpPr>
        <p:spPr>
          <a:xfrm>
            <a:off x="338328" y="1353312"/>
            <a:ext cx="2377440" cy="256032"/>
          </a:xfrm>
          <a:prstGeom prst="rect">
            <a:avLst/>
          </a:prstGeom>
          <a:noFill/>
          <a:ln/>
        </p:spPr>
        <p:txBody>
          <a:bodyPr wrap="square" lIns="0" tIns="0" rIns="0" bIns="0" rtlCol="0" anchor="ctr"/>
          <a:lstStyle/>
          <a:p>
            <a:pPr indent="0" marL="0">
              <a:buNone/>
            </a:pPr>
            <a:r>
              <a:rPr lang="en-US" sz="1000" dirty="0">
                <a:solidFill>
                  <a:srgbClr val="1E293B"/>
                </a:solidFill>
                <a:latin typeface="Consolas" pitchFamily="34" charset="0"/>
                <a:ea typeface="Consolas" pitchFamily="34" charset="-122"/>
                <a:cs typeface="Consolas" pitchFamily="34" charset="-120"/>
              </a:rPr>
              <a:t>+password_hash: String</a:t>
            </a:r>
            <a:endParaRPr lang="en-US" sz="1000" dirty="0"/>
          </a:p>
        </p:txBody>
      </p:sp>
      <p:sp>
        <p:nvSpPr>
          <p:cNvPr id="10" name="Text 8"/>
          <p:cNvSpPr/>
          <p:nvPr/>
        </p:nvSpPr>
        <p:spPr>
          <a:xfrm>
            <a:off x="338328" y="1618488"/>
            <a:ext cx="2377440" cy="256032"/>
          </a:xfrm>
          <a:prstGeom prst="rect">
            <a:avLst/>
          </a:prstGeom>
          <a:noFill/>
          <a:ln/>
        </p:spPr>
        <p:txBody>
          <a:bodyPr wrap="square" lIns="0" tIns="0" rIns="0" bIns="0" rtlCol="0" anchor="ctr"/>
          <a:lstStyle/>
          <a:p>
            <a:pPr indent="0" marL="0">
              <a:buNone/>
            </a:pPr>
            <a:r>
              <a:rPr lang="en-US" sz="1000" dirty="0">
                <a:solidFill>
                  <a:srgbClr val="1E293B"/>
                </a:solidFill>
                <a:latin typeface="Consolas" pitchFamily="34" charset="0"/>
                <a:ea typeface="Consolas" pitchFamily="34" charset="-122"/>
                <a:cs typeface="Consolas" pitchFamily="34" charset="-120"/>
              </a:rPr>
              <a:t>+role_id: FK(Role)</a:t>
            </a:r>
            <a:endParaRPr lang="en-US" sz="1000" dirty="0"/>
          </a:p>
        </p:txBody>
      </p:sp>
      <p:sp>
        <p:nvSpPr>
          <p:cNvPr id="11" name="Text 9"/>
          <p:cNvSpPr/>
          <p:nvPr/>
        </p:nvSpPr>
        <p:spPr>
          <a:xfrm>
            <a:off x="338328" y="1883664"/>
            <a:ext cx="2377440" cy="256032"/>
          </a:xfrm>
          <a:prstGeom prst="rect">
            <a:avLst/>
          </a:prstGeom>
          <a:noFill/>
          <a:ln/>
        </p:spPr>
        <p:txBody>
          <a:bodyPr wrap="square" lIns="0" tIns="0" rIns="0" bIns="0" rtlCol="0" anchor="ctr"/>
          <a:lstStyle/>
          <a:p>
            <a:pPr indent="0" marL="0">
              <a:buNone/>
            </a:pPr>
            <a:r>
              <a:rPr lang="en-US" sz="1000" dirty="0">
                <a:solidFill>
                  <a:srgbClr val="1E293B"/>
                </a:solidFill>
                <a:latin typeface="Consolas" pitchFamily="34" charset="0"/>
                <a:ea typeface="Consolas" pitchFamily="34" charset="-122"/>
                <a:cs typeface="Consolas" pitchFamily="34" charset="-120"/>
              </a:rPr>
              <a:t>+is_active: Boolean</a:t>
            </a:r>
            <a:endParaRPr lang="en-US" sz="1000" dirty="0"/>
          </a:p>
        </p:txBody>
      </p:sp>
      <p:sp>
        <p:nvSpPr>
          <p:cNvPr id="12" name="Shape 10"/>
          <p:cNvSpPr/>
          <p:nvPr/>
        </p:nvSpPr>
        <p:spPr>
          <a:xfrm>
            <a:off x="3200400" y="685800"/>
            <a:ext cx="2560320" cy="1499616"/>
          </a:xfrm>
          <a:prstGeom prst="rect">
            <a:avLst/>
          </a:prstGeom>
          <a:solidFill>
            <a:srgbClr val="FFFFFF"/>
          </a:solidFill>
          <a:ln w="15240">
            <a:solidFill>
              <a:srgbClr val="94A3B8"/>
            </a:solidFill>
            <a:prstDash val="solid"/>
          </a:ln>
        </p:spPr>
      </p:sp>
      <p:sp>
        <p:nvSpPr>
          <p:cNvPr id="13" name="Shape 11"/>
          <p:cNvSpPr/>
          <p:nvPr/>
        </p:nvSpPr>
        <p:spPr>
          <a:xfrm>
            <a:off x="3200400" y="685800"/>
            <a:ext cx="2560320" cy="347472"/>
          </a:xfrm>
          <a:prstGeom prst="rect">
            <a:avLst/>
          </a:prstGeom>
          <a:solidFill>
            <a:srgbClr val="0D9488"/>
          </a:solidFill>
          <a:ln w="12700">
            <a:solidFill>
              <a:srgbClr val="0D9488"/>
            </a:solidFill>
            <a:prstDash val="solid"/>
          </a:ln>
        </p:spPr>
      </p:sp>
      <p:sp>
        <p:nvSpPr>
          <p:cNvPr id="14" name="Text 12"/>
          <p:cNvSpPr/>
          <p:nvPr/>
        </p:nvSpPr>
        <p:spPr>
          <a:xfrm>
            <a:off x="3273552" y="740664"/>
            <a:ext cx="2414016" cy="292608"/>
          </a:xfrm>
          <a:prstGeom prst="rect">
            <a:avLst/>
          </a:prstGeom>
          <a:noFill/>
          <a:ln/>
        </p:spPr>
        <p:txBody>
          <a:bodyPr wrap="square" lIns="0" tIns="0" rIns="0" bIns="0" rtlCol="0" anchor="ctr"/>
          <a:lstStyle/>
          <a:p>
            <a:pPr algn="ctr" indent="0" marL="0">
              <a:buNone/>
            </a:pPr>
            <a:r>
              <a:rPr lang="en-US" sz="1300" b="1" dirty="0">
                <a:solidFill>
                  <a:srgbClr val="FFFFFF"/>
                </a:solidFill>
              </a:rPr>
              <a:t>DoctorProfile</a:t>
            </a:r>
            <a:endParaRPr lang="en-US" sz="1300" dirty="0"/>
          </a:p>
        </p:txBody>
      </p:sp>
      <p:sp>
        <p:nvSpPr>
          <p:cNvPr id="15" name="Shape 13"/>
          <p:cNvSpPr/>
          <p:nvPr/>
        </p:nvSpPr>
        <p:spPr>
          <a:xfrm>
            <a:off x="3200400" y="1033272"/>
            <a:ext cx="2560320" cy="0"/>
          </a:xfrm>
          <a:prstGeom prst="line">
            <a:avLst/>
          </a:prstGeom>
          <a:noFill/>
          <a:ln w="12700">
            <a:solidFill>
              <a:srgbClr val="94A3B8"/>
            </a:solidFill>
            <a:prstDash val="solid"/>
          </a:ln>
        </p:spPr>
      </p:sp>
      <p:sp>
        <p:nvSpPr>
          <p:cNvPr id="16" name="Text 14"/>
          <p:cNvSpPr/>
          <p:nvPr/>
        </p:nvSpPr>
        <p:spPr>
          <a:xfrm>
            <a:off x="3310128" y="1088136"/>
            <a:ext cx="2377440" cy="256032"/>
          </a:xfrm>
          <a:prstGeom prst="rect">
            <a:avLst/>
          </a:prstGeom>
          <a:noFill/>
          <a:ln/>
        </p:spPr>
        <p:txBody>
          <a:bodyPr wrap="square" lIns="0" tIns="0" rIns="0" bIns="0" rtlCol="0" anchor="ctr"/>
          <a:lstStyle/>
          <a:p>
            <a:pPr indent="0" marL="0">
              <a:buNone/>
            </a:pPr>
            <a:r>
              <a:rPr lang="en-US" sz="1000" dirty="0">
                <a:solidFill>
                  <a:srgbClr val="1E293B"/>
                </a:solidFill>
                <a:latin typeface="Consolas" pitchFamily="34" charset="0"/>
                <a:ea typeface="Consolas" pitchFamily="34" charset="-122"/>
                <a:cs typeface="Consolas" pitchFamily="34" charset="-120"/>
              </a:rPr>
              <a:t>+user: OneToOne(User)</a:t>
            </a:r>
            <a:endParaRPr lang="en-US" sz="1000" dirty="0"/>
          </a:p>
        </p:txBody>
      </p:sp>
      <p:sp>
        <p:nvSpPr>
          <p:cNvPr id="17" name="Text 15"/>
          <p:cNvSpPr/>
          <p:nvPr/>
        </p:nvSpPr>
        <p:spPr>
          <a:xfrm>
            <a:off x="3310128" y="1353312"/>
            <a:ext cx="2377440" cy="256032"/>
          </a:xfrm>
          <a:prstGeom prst="rect">
            <a:avLst/>
          </a:prstGeom>
          <a:noFill/>
          <a:ln/>
        </p:spPr>
        <p:txBody>
          <a:bodyPr wrap="square" lIns="0" tIns="0" rIns="0" bIns="0" rtlCol="0" anchor="ctr"/>
          <a:lstStyle/>
          <a:p>
            <a:pPr indent="0" marL="0">
              <a:buNone/>
            </a:pPr>
            <a:r>
              <a:rPr lang="en-US" sz="1000" dirty="0">
                <a:solidFill>
                  <a:srgbClr val="1E293B"/>
                </a:solidFill>
                <a:latin typeface="Consolas" pitchFamily="34" charset="0"/>
                <a:ea typeface="Consolas" pitchFamily="34" charset="-122"/>
                <a:cs typeface="Consolas" pitchFamily="34" charset="-120"/>
              </a:rPr>
              <a:t>+specialization: String</a:t>
            </a:r>
            <a:endParaRPr lang="en-US" sz="1000" dirty="0"/>
          </a:p>
        </p:txBody>
      </p:sp>
      <p:sp>
        <p:nvSpPr>
          <p:cNvPr id="18" name="Text 16"/>
          <p:cNvSpPr/>
          <p:nvPr/>
        </p:nvSpPr>
        <p:spPr>
          <a:xfrm>
            <a:off x="3310128" y="1618488"/>
            <a:ext cx="2377440" cy="256032"/>
          </a:xfrm>
          <a:prstGeom prst="rect">
            <a:avLst/>
          </a:prstGeom>
          <a:noFill/>
          <a:ln/>
        </p:spPr>
        <p:txBody>
          <a:bodyPr wrap="square" lIns="0" tIns="0" rIns="0" bIns="0" rtlCol="0" anchor="ctr"/>
          <a:lstStyle/>
          <a:p>
            <a:pPr indent="0" marL="0">
              <a:buNone/>
            </a:pPr>
            <a:r>
              <a:rPr lang="en-US" sz="1000" dirty="0">
                <a:solidFill>
                  <a:srgbClr val="1E293B"/>
                </a:solidFill>
                <a:latin typeface="Consolas" pitchFamily="34" charset="0"/>
                <a:ea typeface="Consolas" pitchFamily="34" charset="-122"/>
                <a:cs typeface="Consolas" pitchFamily="34" charset="-120"/>
              </a:rPr>
              <a:t>+license_no: String</a:t>
            </a:r>
            <a:endParaRPr lang="en-US" sz="1000" dirty="0"/>
          </a:p>
        </p:txBody>
      </p:sp>
      <p:sp>
        <p:nvSpPr>
          <p:cNvPr id="19" name="Text 17"/>
          <p:cNvSpPr/>
          <p:nvPr/>
        </p:nvSpPr>
        <p:spPr>
          <a:xfrm>
            <a:off x="3310128" y="1883664"/>
            <a:ext cx="2377440" cy="256032"/>
          </a:xfrm>
          <a:prstGeom prst="rect">
            <a:avLst/>
          </a:prstGeom>
          <a:noFill/>
          <a:ln/>
        </p:spPr>
        <p:txBody>
          <a:bodyPr wrap="square" lIns="0" tIns="0" rIns="0" bIns="0" rtlCol="0" anchor="ctr"/>
          <a:lstStyle/>
          <a:p>
            <a:pPr indent="0" marL="0">
              <a:buNone/>
            </a:pPr>
            <a:r>
              <a:rPr lang="en-US" sz="1000" dirty="0">
                <a:solidFill>
                  <a:srgbClr val="1E293B"/>
                </a:solidFill>
                <a:latin typeface="Consolas" pitchFamily="34" charset="0"/>
                <a:ea typeface="Consolas" pitchFamily="34" charset="-122"/>
                <a:cs typeface="Consolas" pitchFamily="34" charset="-120"/>
              </a:rPr>
              <a:t>+experience: Integer</a:t>
            </a:r>
            <a:endParaRPr lang="en-US" sz="1000" dirty="0"/>
          </a:p>
        </p:txBody>
      </p:sp>
      <p:sp>
        <p:nvSpPr>
          <p:cNvPr id="20" name="Shape 18"/>
          <p:cNvSpPr/>
          <p:nvPr/>
        </p:nvSpPr>
        <p:spPr>
          <a:xfrm>
            <a:off x="6172200" y="685800"/>
            <a:ext cx="2560320" cy="1499616"/>
          </a:xfrm>
          <a:prstGeom prst="rect">
            <a:avLst/>
          </a:prstGeom>
          <a:solidFill>
            <a:srgbClr val="FFFFFF"/>
          </a:solidFill>
          <a:ln w="15240">
            <a:solidFill>
              <a:srgbClr val="94A3B8"/>
            </a:solidFill>
            <a:prstDash val="solid"/>
          </a:ln>
        </p:spPr>
      </p:sp>
      <p:sp>
        <p:nvSpPr>
          <p:cNvPr id="21" name="Shape 19"/>
          <p:cNvSpPr/>
          <p:nvPr/>
        </p:nvSpPr>
        <p:spPr>
          <a:xfrm>
            <a:off x="6172200" y="685800"/>
            <a:ext cx="2560320" cy="347472"/>
          </a:xfrm>
          <a:prstGeom prst="rect">
            <a:avLst/>
          </a:prstGeom>
          <a:solidFill>
            <a:srgbClr val="0D9488"/>
          </a:solidFill>
          <a:ln w="12700">
            <a:solidFill>
              <a:srgbClr val="0D9488"/>
            </a:solidFill>
            <a:prstDash val="solid"/>
          </a:ln>
        </p:spPr>
      </p:sp>
      <p:sp>
        <p:nvSpPr>
          <p:cNvPr id="22" name="Text 20"/>
          <p:cNvSpPr/>
          <p:nvPr/>
        </p:nvSpPr>
        <p:spPr>
          <a:xfrm>
            <a:off x="6245352" y="740664"/>
            <a:ext cx="2414016" cy="292608"/>
          </a:xfrm>
          <a:prstGeom prst="rect">
            <a:avLst/>
          </a:prstGeom>
          <a:noFill/>
          <a:ln/>
        </p:spPr>
        <p:txBody>
          <a:bodyPr wrap="square" lIns="0" tIns="0" rIns="0" bIns="0" rtlCol="0" anchor="ctr"/>
          <a:lstStyle/>
          <a:p>
            <a:pPr algn="ctr" indent="0" marL="0">
              <a:buNone/>
            </a:pPr>
            <a:r>
              <a:rPr lang="en-US" sz="1300" b="1" dirty="0">
                <a:solidFill>
                  <a:srgbClr val="FFFFFF"/>
                </a:solidFill>
              </a:rPr>
              <a:t>Clinic</a:t>
            </a:r>
            <a:endParaRPr lang="en-US" sz="1300" dirty="0"/>
          </a:p>
        </p:txBody>
      </p:sp>
      <p:sp>
        <p:nvSpPr>
          <p:cNvPr id="23" name="Shape 21"/>
          <p:cNvSpPr/>
          <p:nvPr/>
        </p:nvSpPr>
        <p:spPr>
          <a:xfrm>
            <a:off x="6172200" y="1033272"/>
            <a:ext cx="2560320" cy="0"/>
          </a:xfrm>
          <a:prstGeom prst="line">
            <a:avLst/>
          </a:prstGeom>
          <a:noFill/>
          <a:ln w="12700">
            <a:solidFill>
              <a:srgbClr val="94A3B8"/>
            </a:solidFill>
            <a:prstDash val="solid"/>
          </a:ln>
        </p:spPr>
      </p:sp>
      <p:sp>
        <p:nvSpPr>
          <p:cNvPr id="24" name="Text 22"/>
          <p:cNvSpPr/>
          <p:nvPr/>
        </p:nvSpPr>
        <p:spPr>
          <a:xfrm>
            <a:off x="6281928" y="1088136"/>
            <a:ext cx="2377440" cy="256032"/>
          </a:xfrm>
          <a:prstGeom prst="rect">
            <a:avLst/>
          </a:prstGeom>
          <a:noFill/>
          <a:ln/>
        </p:spPr>
        <p:txBody>
          <a:bodyPr wrap="square" lIns="0" tIns="0" rIns="0" bIns="0" rtlCol="0" anchor="ctr"/>
          <a:lstStyle/>
          <a:p>
            <a:pPr indent="0" marL="0">
              <a:buNone/>
            </a:pPr>
            <a:r>
              <a:rPr lang="en-US" sz="1000" dirty="0">
                <a:solidFill>
                  <a:srgbClr val="1E293B"/>
                </a:solidFill>
                <a:latin typeface="Consolas" pitchFamily="34" charset="0"/>
                <a:ea typeface="Consolas" pitchFamily="34" charset="-122"/>
                <a:cs typeface="Consolas" pitchFamily="34" charset="-120"/>
              </a:rPr>
              <a:t>+name: String</a:t>
            </a:r>
            <a:endParaRPr lang="en-US" sz="1000" dirty="0"/>
          </a:p>
        </p:txBody>
      </p:sp>
      <p:sp>
        <p:nvSpPr>
          <p:cNvPr id="25" name="Text 23"/>
          <p:cNvSpPr/>
          <p:nvPr/>
        </p:nvSpPr>
        <p:spPr>
          <a:xfrm>
            <a:off x="6281928" y="1353312"/>
            <a:ext cx="2377440" cy="256032"/>
          </a:xfrm>
          <a:prstGeom prst="rect">
            <a:avLst/>
          </a:prstGeom>
          <a:noFill/>
          <a:ln/>
        </p:spPr>
        <p:txBody>
          <a:bodyPr wrap="square" lIns="0" tIns="0" rIns="0" bIns="0" rtlCol="0" anchor="ctr"/>
          <a:lstStyle/>
          <a:p>
            <a:pPr indent="0" marL="0">
              <a:buNone/>
            </a:pPr>
            <a:r>
              <a:rPr lang="en-US" sz="1000" dirty="0">
                <a:solidFill>
                  <a:srgbClr val="1E293B"/>
                </a:solidFill>
                <a:latin typeface="Consolas" pitchFamily="34" charset="0"/>
                <a:ea typeface="Consolas" pitchFamily="34" charset="-122"/>
                <a:cs typeface="Consolas" pitchFamily="34" charset="-120"/>
              </a:rPr>
              <a:t>+location: String</a:t>
            </a:r>
            <a:endParaRPr lang="en-US" sz="1000" dirty="0"/>
          </a:p>
        </p:txBody>
      </p:sp>
      <p:sp>
        <p:nvSpPr>
          <p:cNvPr id="26" name="Text 24"/>
          <p:cNvSpPr/>
          <p:nvPr/>
        </p:nvSpPr>
        <p:spPr>
          <a:xfrm>
            <a:off x="6281928" y="1618488"/>
            <a:ext cx="2377440" cy="256032"/>
          </a:xfrm>
          <a:prstGeom prst="rect">
            <a:avLst/>
          </a:prstGeom>
          <a:noFill/>
          <a:ln/>
        </p:spPr>
        <p:txBody>
          <a:bodyPr wrap="square" lIns="0" tIns="0" rIns="0" bIns="0" rtlCol="0" anchor="ctr"/>
          <a:lstStyle/>
          <a:p>
            <a:pPr indent="0" marL="0">
              <a:buNone/>
            </a:pPr>
            <a:r>
              <a:rPr lang="en-US" sz="1000" dirty="0">
                <a:solidFill>
                  <a:srgbClr val="1E293B"/>
                </a:solidFill>
                <a:latin typeface="Consolas" pitchFamily="34" charset="0"/>
                <a:ea typeface="Consolas" pitchFamily="34" charset="-122"/>
                <a:cs typeface="Consolas" pitchFamily="34" charset="-120"/>
              </a:rPr>
              <a:t>+coordinates: Point</a:t>
            </a:r>
            <a:endParaRPr lang="en-US" sz="1000" dirty="0"/>
          </a:p>
        </p:txBody>
      </p:sp>
      <p:sp>
        <p:nvSpPr>
          <p:cNvPr id="27" name="Text 25"/>
          <p:cNvSpPr/>
          <p:nvPr/>
        </p:nvSpPr>
        <p:spPr>
          <a:xfrm>
            <a:off x="6281928" y="1883664"/>
            <a:ext cx="2377440" cy="256032"/>
          </a:xfrm>
          <a:prstGeom prst="rect">
            <a:avLst/>
          </a:prstGeom>
          <a:noFill/>
          <a:ln/>
        </p:spPr>
        <p:txBody>
          <a:bodyPr wrap="square" lIns="0" tIns="0" rIns="0" bIns="0" rtlCol="0" anchor="ctr"/>
          <a:lstStyle/>
          <a:p>
            <a:pPr indent="0" marL="0">
              <a:buNone/>
            </a:pPr>
            <a:r>
              <a:rPr lang="en-US" sz="1000" dirty="0">
                <a:solidFill>
                  <a:srgbClr val="1E293B"/>
                </a:solidFill>
                <a:latin typeface="Consolas" pitchFamily="34" charset="0"/>
                <a:ea typeface="Consolas" pitchFamily="34" charset="-122"/>
                <a:cs typeface="Consolas" pitchFamily="34" charset="-120"/>
              </a:rPr>
              <a:t>+working_hours: JSON</a:t>
            </a:r>
            <a:endParaRPr lang="en-US" sz="1000" dirty="0"/>
          </a:p>
        </p:txBody>
      </p:sp>
      <p:sp>
        <p:nvSpPr>
          <p:cNvPr id="28" name="Shape 26"/>
          <p:cNvSpPr/>
          <p:nvPr/>
        </p:nvSpPr>
        <p:spPr>
          <a:xfrm>
            <a:off x="228600" y="2999232"/>
            <a:ext cx="2560320" cy="1234440"/>
          </a:xfrm>
          <a:prstGeom prst="rect">
            <a:avLst/>
          </a:prstGeom>
          <a:solidFill>
            <a:srgbClr val="FFFFFF"/>
          </a:solidFill>
          <a:ln w="15240">
            <a:solidFill>
              <a:srgbClr val="94A3B8"/>
            </a:solidFill>
            <a:prstDash val="solid"/>
          </a:ln>
        </p:spPr>
      </p:sp>
      <p:sp>
        <p:nvSpPr>
          <p:cNvPr id="29" name="Shape 27"/>
          <p:cNvSpPr/>
          <p:nvPr/>
        </p:nvSpPr>
        <p:spPr>
          <a:xfrm>
            <a:off x="228600" y="2999232"/>
            <a:ext cx="2560320" cy="347472"/>
          </a:xfrm>
          <a:prstGeom prst="rect">
            <a:avLst/>
          </a:prstGeom>
          <a:solidFill>
            <a:srgbClr val="0D9488"/>
          </a:solidFill>
          <a:ln w="12700">
            <a:solidFill>
              <a:srgbClr val="0D9488"/>
            </a:solidFill>
            <a:prstDash val="solid"/>
          </a:ln>
        </p:spPr>
      </p:sp>
      <p:sp>
        <p:nvSpPr>
          <p:cNvPr id="30" name="Text 28"/>
          <p:cNvSpPr/>
          <p:nvPr/>
        </p:nvSpPr>
        <p:spPr>
          <a:xfrm>
            <a:off x="301752" y="3054096"/>
            <a:ext cx="2414016" cy="292608"/>
          </a:xfrm>
          <a:prstGeom prst="rect">
            <a:avLst/>
          </a:prstGeom>
          <a:noFill/>
          <a:ln/>
        </p:spPr>
        <p:txBody>
          <a:bodyPr wrap="square" lIns="0" tIns="0" rIns="0" bIns="0" rtlCol="0" anchor="ctr"/>
          <a:lstStyle/>
          <a:p>
            <a:pPr algn="ctr" indent="0" marL="0">
              <a:buNone/>
            </a:pPr>
            <a:r>
              <a:rPr lang="en-US" sz="1300" b="1" dirty="0">
                <a:solidFill>
                  <a:srgbClr val="FFFFFF"/>
                </a:solidFill>
              </a:rPr>
              <a:t>PatientProfile</a:t>
            </a:r>
            <a:endParaRPr lang="en-US" sz="1300" dirty="0"/>
          </a:p>
        </p:txBody>
      </p:sp>
      <p:sp>
        <p:nvSpPr>
          <p:cNvPr id="31" name="Shape 29"/>
          <p:cNvSpPr/>
          <p:nvPr/>
        </p:nvSpPr>
        <p:spPr>
          <a:xfrm>
            <a:off x="228600" y="3346704"/>
            <a:ext cx="2560320" cy="0"/>
          </a:xfrm>
          <a:prstGeom prst="line">
            <a:avLst/>
          </a:prstGeom>
          <a:noFill/>
          <a:ln w="12700">
            <a:solidFill>
              <a:srgbClr val="94A3B8"/>
            </a:solidFill>
            <a:prstDash val="solid"/>
          </a:ln>
        </p:spPr>
      </p:sp>
      <p:sp>
        <p:nvSpPr>
          <p:cNvPr id="32" name="Text 30"/>
          <p:cNvSpPr/>
          <p:nvPr/>
        </p:nvSpPr>
        <p:spPr>
          <a:xfrm>
            <a:off x="338328" y="3401568"/>
            <a:ext cx="2377440" cy="256032"/>
          </a:xfrm>
          <a:prstGeom prst="rect">
            <a:avLst/>
          </a:prstGeom>
          <a:noFill/>
          <a:ln/>
        </p:spPr>
        <p:txBody>
          <a:bodyPr wrap="square" lIns="0" tIns="0" rIns="0" bIns="0" rtlCol="0" anchor="ctr"/>
          <a:lstStyle/>
          <a:p>
            <a:pPr indent="0" marL="0">
              <a:buNone/>
            </a:pPr>
            <a:r>
              <a:rPr lang="en-US" sz="1000" dirty="0">
                <a:solidFill>
                  <a:srgbClr val="1E293B"/>
                </a:solidFill>
                <a:latin typeface="Consolas" pitchFamily="34" charset="0"/>
                <a:ea typeface="Consolas" pitchFamily="34" charset="-122"/>
                <a:cs typeface="Consolas" pitchFamily="34" charset="-120"/>
              </a:rPr>
              <a:t>+user: OneToOne(User)</a:t>
            </a:r>
            <a:endParaRPr lang="en-US" sz="1000" dirty="0"/>
          </a:p>
        </p:txBody>
      </p:sp>
      <p:sp>
        <p:nvSpPr>
          <p:cNvPr id="33" name="Text 31"/>
          <p:cNvSpPr/>
          <p:nvPr/>
        </p:nvSpPr>
        <p:spPr>
          <a:xfrm>
            <a:off x="338328" y="3666744"/>
            <a:ext cx="2377440" cy="256032"/>
          </a:xfrm>
          <a:prstGeom prst="rect">
            <a:avLst/>
          </a:prstGeom>
          <a:noFill/>
          <a:ln/>
        </p:spPr>
        <p:txBody>
          <a:bodyPr wrap="square" lIns="0" tIns="0" rIns="0" bIns="0" rtlCol="0" anchor="ctr"/>
          <a:lstStyle/>
          <a:p>
            <a:pPr indent="0" marL="0">
              <a:buNone/>
            </a:pPr>
            <a:r>
              <a:rPr lang="en-US" sz="1000" dirty="0">
                <a:solidFill>
                  <a:srgbClr val="1E293B"/>
                </a:solidFill>
                <a:latin typeface="Consolas" pitchFamily="34" charset="0"/>
                <a:ea typeface="Consolas" pitchFamily="34" charset="-122"/>
                <a:cs typeface="Consolas" pitchFamily="34" charset="-120"/>
              </a:rPr>
              <a:t>+date_of_birth: Date</a:t>
            </a:r>
            <a:endParaRPr lang="en-US" sz="1000" dirty="0"/>
          </a:p>
        </p:txBody>
      </p:sp>
      <p:sp>
        <p:nvSpPr>
          <p:cNvPr id="34" name="Text 32"/>
          <p:cNvSpPr/>
          <p:nvPr/>
        </p:nvSpPr>
        <p:spPr>
          <a:xfrm>
            <a:off x="338328" y="3931920"/>
            <a:ext cx="2377440" cy="256032"/>
          </a:xfrm>
          <a:prstGeom prst="rect">
            <a:avLst/>
          </a:prstGeom>
          <a:noFill/>
          <a:ln/>
        </p:spPr>
        <p:txBody>
          <a:bodyPr wrap="square" lIns="0" tIns="0" rIns="0" bIns="0" rtlCol="0" anchor="ctr"/>
          <a:lstStyle/>
          <a:p>
            <a:pPr indent="0" marL="0">
              <a:buNone/>
            </a:pPr>
            <a:r>
              <a:rPr lang="en-US" sz="1000" dirty="0">
                <a:solidFill>
                  <a:srgbClr val="1E293B"/>
                </a:solidFill>
                <a:latin typeface="Consolas" pitchFamily="34" charset="0"/>
                <a:ea typeface="Consolas" pitchFamily="34" charset="-122"/>
                <a:cs typeface="Consolas" pitchFamily="34" charset="-120"/>
              </a:rPr>
              <a:t>+national_id: String</a:t>
            </a:r>
            <a:endParaRPr lang="en-US" sz="1000" dirty="0"/>
          </a:p>
        </p:txBody>
      </p:sp>
      <p:sp>
        <p:nvSpPr>
          <p:cNvPr id="35" name="Shape 33"/>
          <p:cNvSpPr/>
          <p:nvPr/>
        </p:nvSpPr>
        <p:spPr>
          <a:xfrm>
            <a:off x="3200400" y="2999232"/>
            <a:ext cx="2560320" cy="1764792"/>
          </a:xfrm>
          <a:prstGeom prst="rect">
            <a:avLst/>
          </a:prstGeom>
          <a:solidFill>
            <a:srgbClr val="FFFFFF"/>
          </a:solidFill>
          <a:ln w="15240">
            <a:solidFill>
              <a:srgbClr val="94A3B8"/>
            </a:solidFill>
            <a:prstDash val="solid"/>
          </a:ln>
        </p:spPr>
      </p:sp>
      <p:sp>
        <p:nvSpPr>
          <p:cNvPr id="36" name="Shape 34"/>
          <p:cNvSpPr/>
          <p:nvPr/>
        </p:nvSpPr>
        <p:spPr>
          <a:xfrm>
            <a:off x="3200400" y="2999232"/>
            <a:ext cx="2560320" cy="347472"/>
          </a:xfrm>
          <a:prstGeom prst="rect">
            <a:avLst/>
          </a:prstGeom>
          <a:solidFill>
            <a:srgbClr val="0D9488"/>
          </a:solidFill>
          <a:ln w="12700">
            <a:solidFill>
              <a:srgbClr val="0D9488"/>
            </a:solidFill>
            <a:prstDash val="solid"/>
          </a:ln>
        </p:spPr>
      </p:sp>
      <p:sp>
        <p:nvSpPr>
          <p:cNvPr id="37" name="Text 35"/>
          <p:cNvSpPr/>
          <p:nvPr/>
        </p:nvSpPr>
        <p:spPr>
          <a:xfrm>
            <a:off x="3273552" y="3054096"/>
            <a:ext cx="2414016" cy="292608"/>
          </a:xfrm>
          <a:prstGeom prst="rect">
            <a:avLst/>
          </a:prstGeom>
          <a:noFill/>
          <a:ln/>
        </p:spPr>
        <p:txBody>
          <a:bodyPr wrap="square" lIns="0" tIns="0" rIns="0" bIns="0" rtlCol="0" anchor="ctr"/>
          <a:lstStyle/>
          <a:p>
            <a:pPr algn="ctr" indent="0" marL="0">
              <a:buNone/>
            </a:pPr>
            <a:r>
              <a:rPr lang="en-US" sz="1300" b="1" dirty="0">
                <a:solidFill>
                  <a:srgbClr val="FFFFFF"/>
                </a:solidFill>
              </a:rPr>
              <a:t>Appointment</a:t>
            </a:r>
            <a:endParaRPr lang="en-US" sz="1300" dirty="0"/>
          </a:p>
        </p:txBody>
      </p:sp>
      <p:sp>
        <p:nvSpPr>
          <p:cNvPr id="38" name="Shape 36"/>
          <p:cNvSpPr/>
          <p:nvPr/>
        </p:nvSpPr>
        <p:spPr>
          <a:xfrm>
            <a:off x="3200400" y="3346704"/>
            <a:ext cx="2560320" cy="0"/>
          </a:xfrm>
          <a:prstGeom prst="line">
            <a:avLst/>
          </a:prstGeom>
          <a:noFill/>
          <a:ln w="12700">
            <a:solidFill>
              <a:srgbClr val="94A3B8"/>
            </a:solidFill>
            <a:prstDash val="solid"/>
          </a:ln>
        </p:spPr>
      </p:sp>
      <p:sp>
        <p:nvSpPr>
          <p:cNvPr id="39" name="Text 37"/>
          <p:cNvSpPr/>
          <p:nvPr/>
        </p:nvSpPr>
        <p:spPr>
          <a:xfrm>
            <a:off x="3310128" y="3401568"/>
            <a:ext cx="2377440" cy="256032"/>
          </a:xfrm>
          <a:prstGeom prst="rect">
            <a:avLst/>
          </a:prstGeom>
          <a:noFill/>
          <a:ln/>
        </p:spPr>
        <p:txBody>
          <a:bodyPr wrap="square" lIns="0" tIns="0" rIns="0" bIns="0" rtlCol="0" anchor="ctr"/>
          <a:lstStyle/>
          <a:p>
            <a:pPr indent="0" marL="0">
              <a:buNone/>
            </a:pPr>
            <a:r>
              <a:rPr lang="en-US" sz="1000" dirty="0">
                <a:solidFill>
                  <a:srgbClr val="1E293B"/>
                </a:solidFill>
                <a:latin typeface="Consolas" pitchFamily="34" charset="0"/>
                <a:ea typeface="Consolas" pitchFamily="34" charset="-122"/>
                <a:cs typeface="Consolas" pitchFamily="34" charset="-120"/>
              </a:rPr>
              <a:t>+patient: FK(Patient)</a:t>
            </a:r>
            <a:endParaRPr lang="en-US" sz="1000" dirty="0"/>
          </a:p>
        </p:txBody>
      </p:sp>
      <p:sp>
        <p:nvSpPr>
          <p:cNvPr id="40" name="Text 38"/>
          <p:cNvSpPr/>
          <p:nvPr/>
        </p:nvSpPr>
        <p:spPr>
          <a:xfrm>
            <a:off x="3310128" y="3666744"/>
            <a:ext cx="2377440" cy="256032"/>
          </a:xfrm>
          <a:prstGeom prst="rect">
            <a:avLst/>
          </a:prstGeom>
          <a:noFill/>
          <a:ln/>
        </p:spPr>
        <p:txBody>
          <a:bodyPr wrap="square" lIns="0" tIns="0" rIns="0" bIns="0" rtlCol="0" anchor="ctr"/>
          <a:lstStyle/>
          <a:p>
            <a:pPr indent="0" marL="0">
              <a:buNone/>
            </a:pPr>
            <a:r>
              <a:rPr lang="en-US" sz="1000" dirty="0">
                <a:solidFill>
                  <a:srgbClr val="1E293B"/>
                </a:solidFill>
                <a:latin typeface="Consolas" pitchFamily="34" charset="0"/>
                <a:ea typeface="Consolas" pitchFamily="34" charset="-122"/>
                <a:cs typeface="Consolas" pitchFamily="34" charset="-120"/>
              </a:rPr>
              <a:t>+doctor: FK(Doctor)</a:t>
            </a:r>
            <a:endParaRPr lang="en-US" sz="1000" dirty="0"/>
          </a:p>
        </p:txBody>
      </p:sp>
      <p:sp>
        <p:nvSpPr>
          <p:cNvPr id="41" name="Text 39"/>
          <p:cNvSpPr/>
          <p:nvPr/>
        </p:nvSpPr>
        <p:spPr>
          <a:xfrm>
            <a:off x="3310128" y="3931920"/>
            <a:ext cx="2377440" cy="256032"/>
          </a:xfrm>
          <a:prstGeom prst="rect">
            <a:avLst/>
          </a:prstGeom>
          <a:noFill/>
          <a:ln/>
        </p:spPr>
        <p:txBody>
          <a:bodyPr wrap="square" lIns="0" tIns="0" rIns="0" bIns="0" rtlCol="0" anchor="ctr"/>
          <a:lstStyle/>
          <a:p>
            <a:pPr indent="0" marL="0">
              <a:buNone/>
            </a:pPr>
            <a:r>
              <a:rPr lang="en-US" sz="1000" dirty="0">
                <a:solidFill>
                  <a:srgbClr val="1E293B"/>
                </a:solidFill>
                <a:latin typeface="Consolas" pitchFamily="34" charset="0"/>
                <a:ea typeface="Consolas" pitchFamily="34" charset="-122"/>
                <a:cs typeface="Consolas" pitchFamily="34" charset="-120"/>
              </a:rPr>
              <a:t>+date_time: DateTime</a:t>
            </a:r>
            <a:endParaRPr lang="en-US" sz="1000" dirty="0"/>
          </a:p>
        </p:txBody>
      </p:sp>
      <p:sp>
        <p:nvSpPr>
          <p:cNvPr id="42" name="Text 40"/>
          <p:cNvSpPr/>
          <p:nvPr/>
        </p:nvSpPr>
        <p:spPr>
          <a:xfrm>
            <a:off x="3310128" y="4197096"/>
            <a:ext cx="2377440" cy="256032"/>
          </a:xfrm>
          <a:prstGeom prst="rect">
            <a:avLst/>
          </a:prstGeom>
          <a:noFill/>
          <a:ln/>
        </p:spPr>
        <p:txBody>
          <a:bodyPr wrap="square" lIns="0" tIns="0" rIns="0" bIns="0" rtlCol="0" anchor="ctr"/>
          <a:lstStyle/>
          <a:p>
            <a:pPr indent="0" marL="0">
              <a:buNone/>
            </a:pPr>
            <a:r>
              <a:rPr lang="en-US" sz="1000" dirty="0">
                <a:solidFill>
                  <a:srgbClr val="1E293B"/>
                </a:solidFill>
                <a:latin typeface="Consolas" pitchFamily="34" charset="0"/>
                <a:ea typeface="Consolas" pitchFamily="34" charset="-122"/>
                <a:cs typeface="Consolas" pitchFamily="34" charset="-120"/>
              </a:rPr>
              <a:t>+visit_type: String</a:t>
            </a:r>
            <a:endParaRPr lang="en-US" sz="1000" dirty="0"/>
          </a:p>
        </p:txBody>
      </p:sp>
      <p:sp>
        <p:nvSpPr>
          <p:cNvPr id="43" name="Text 41"/>
          <p:cNvSpPr/>
          <p:nvPr/>
        </p:nvSpPr>
        <p:spPr>
          <a:xfrm>
            <a:off x="3310128" y="4462272"/>
            <a:ext cx="2377440" cy="256032"/>
          </a:xfrm>
          <a:prstGeom prst="rect">
            <a:avLst/>
          </a:prstGeom>
          <a:noFill/>
          <a:ln/>
        </p:spPr>
        <p:txBody>
          <a:bodyPr wrap="square" lIns="0" tIns="0" rIns="0" bIns="0" rtlCol="0" anchor="ctr"/>
          <a:lstStyle/>
          <a:p>
            <a:pPr indent="0" marL="0">
              <a:buNone/>
            </a:pPr>
            <a:r>
              <a:rPr lang="en-US" sz="1000" dirty="0">
                <a:solidFill>
                  <a:srgbClr val="1E293B"/>
                </a:solidFill>
                <a:latin typeface="Consolas" pitchFamily="34" charset="0"/>
                <a:ea typeface="Consolas" pitchFamily="34" charset="-122"/>
                <a:cs typeface="Consolas" pitchFamily="34" charset="-120"/>
              </a:rPr>
              <a:t>+status: String</a:t>
            </a:r>
            <a:endParaRPr lang="en-US" sz="1000" dirty="0"/>
          </a:p>
        </p:txBody>
      </p:sp>
      <p:sp>
        <p:nvSpPr>
          <p:cNvPr id="44" name="Shape 42"/>
          <p:cNvSpPr/>
          <p:nvPr/>
        </p:nvSpPr>
        <p:spPr>
          <a:xfrm>
            <a:off x="6172200" y="2999232"/>
            <a:ext cx="2560320" cy="1499616"/>
          </a:xfrm>
          <a:prstGeom prst="rect">
            <a:avLst/>
          </a:prstGeom>
          <a:solidFill>
            <a:srgbClr val="FFFFFF"/>
          </a:solidFill>
          <a:ln w="15240">
            <a:solidFill>
              <a:srgbClr val="94A3B8"/>
            </a:solidFill>
            <a:prstDash val="solid"/>
          </a:ln>
        </p:spPr>
      </p:sp>
      <p:sp>
        <p:nvSpPr>
          <p:cNvPr id="45" name="Shape 43"/>
          <p:cNvSpPr/>
          <p:nvPr/>
        </p:nvSpPr>
        <p:spPr>
          <a:xfrm>
            <a:off x="6172200" y="2999232"/>
            <a:ext cx="2560320" cy="347472"/>
          </a:xfrm>
          <a:prstGeom prst="rect">
            <a:avLst/>
          </a:prstGeom>
          <a:solidFill>
            <a:srgbClr val="0D9488"/>
          </a:solidFill>
          <a:ln w="12700">
            <a:solidFill>
              <a:srgbClr val="0D9488"/>
            </a:solidFill>
            <a:prstDash val="solid"/>
          </a:ln>
        </p:spPr>
      </p:sp>
      <p:sp>
        <p:nvSpPr>
          <p:cNvPr id="46" name="Text 44"/>
          <p:cNvSpPr/>
          <p:nvPr/>
        </p:nvSpPr>
        <p:spPr>
          <a:xfrm>
            <a:off x="6245352" y="3054096"/>
            <a:ext cx="2414016" cy="292608"/>
          </a:xfrm>
          <a:prstGeom prst="rect">
            <a:avLst/>
          </a:prstGeom>
          <a:noFill/>
          <a:ln/>
        </p:spPr>
        <p:txBody>
          <a:bodyPr wrap="square" lIns="0" tIns="0" rIns="0" bIns="0" rtlCol="0" anchor="ctr"/>
          <a:lstStyle/>
          <a:p>
            <a:pPr algn="ctr" indent="0" marL="0">
              <a:buNone/>
            </a:pPr>
            <a:r>
              <a:rPr lang="en-US" sz="1300" b="1" dirty="0">
                <a:solidFill>
                  <a:srgbClr val="FFFFFF"/>
                </a:solidFill>
              </a:rPr>
              <a:t>MedicalRecord</a:t>
            </a:r>
            <a:endParaRPr lang="en-US" sz="1300" dirty="0"/>
          </a:p>
        </p:txBody>
      </p:sp>
      <p:sp>
        <p:nvSpPr>
          <p:cNvPr id="47" name="Shape 45"/>
          <p:cNvSpPr/>
          <p:nvPr/>
        </p:nvSpPr>
        <p:spPr>
          <a:xfrm>
            <a:off x="6172200" y="3346704"/>
            <a:ext cx="2560320" cy="0"/>
          </a:xfrm>
          <a:prstGeom prst="line">
            <a:avLst/>
          </a:prstGeom>
          <a:noFill/>
          <a:ln w="12700">
            <a:solidFill>
              <a:srgbClr val="94A3B8"/>
            </a:solidFill>
            <a:prstDash val="solid"/>
          </a:ln>
        </p:spPr>
      </p:sp>
      <p:sp>
        <p:nvSpPr>
          <p:cNvPr id="48" name="Text 46"/>
          <p:cNvSpPr/>
          <p:nvPr/>
        </p:nvSpPr>
        <p:spPr>
          <a:xfrm>
            <a:off x="6281928" y="3401568"/>
            <a:ext cx="2377440" cy="256032"/>
          </a:xfrm>
          <a:prstGeom prst="rect">
            <a:avLst/>
          </a:prstGeom>
          <a:noFill/>
          <a:ln/>
        </p:spPr>
        <p:txBody>
          <a:bodyPr wrap="square" lIns="0" tIns="0" rIns="0" bIns="0" rtlCol="0" anchor="ctr"/>
          <a:lstStyle/>
          <a:p>
            <a:pPr indent="0" marL="0">
              <a:buNone/>
            </a:pPr>
            <a:r>
              <a:rPr lang="en-US" sz="1000" dirty="0">
                <a:solidFill>
                  <a:srgbClr val="1E293B"/>
                </a:solidFill>
                <a:latin typeface="Consolas" pitchFamily="34" charset="0"/>
                <a:ea typeface="Consolas" pitchFamily="34" charset="-122"/>
                <a:cs typeface="Consolas" pitchFamily="34" charset="-120"/>
              </a:rPr>
              <a:t>+patient: FK(Patient)</a:t>
            </a:r>
            <a:endParaRPr lang="en-US" sz="1000" dirty="0"/>
          </a:p>
        </p:txBody>
      </p:sp>
      <p:sp>
        <p:nvSpPr>
          <p:cNvPr id="49" name="Text 47"/>
          <p:cNvSpPr/>
          <p:nvPr/>
        </p:nvSpPr>
        <p:spPr>
          <a:xfrm>
            <a:off x="6281928" y="3666744"/>
            <a:ext cx="2377440" cy="256032"/>
          </a:xfrm>
          <a:prstGeom prst="rect">
            <a:avLst/>
          </a:prstGeom>
          <a:noFill/>
          <a:ln/>
        </p:spPr>
        <p:txBody>
          <a:bodyPr wrap="square" lIns="0" tIns="0" rIns="0" bIns="0" rtlCol="0" anchor="ctr"/>
          <a:lstStyle/>
          <a:p>
            <a:pPr indent="0" marL="0">
              <a:buNone/>
            </a:pPr>
            <a:r>
              <a:rPr lang="en-US" sz="1000" dirty="0">
                <a:solidFill>
                  <a:srgbClr val="1E293B"/>
                </a:solidFill>
                <a:latin typeface="Consolas" pitchFamily="34" charset="0"/>
                <a:ea typeface="Consolas" pitchFamily="34" charset="-122"/>
                <a:cs typeface="Consolas" pitchFamily="34" charset="-120"/>
              </a:rPr>
              <a:t>+consultation: FK</a:t>
            </a:r>
            <a:endParaRPr lang="en-US" sz="1000" dirty="0"/>
          </a:p>
        </p:txBody>
      </p:sp>
      <p:sp>
        <p:nvSpPr>
          <p:cNvPr id="50" name="Text 48"/>
          <p:cNvSpPr/>
          <p:nvPr/>
        </p:nvSpPr>
        <p:spPr>
          <a:xfrm>
            <a:off x="6281928" y="3931920"/>
            <a:ext cx="2377440" cy="256032"/>
          </a:xfrm>
          <a:prstGeom prst="rect">
            <a:avLst/>
          </a:prstGeom>
          <a:noFill/>
          <a:ln/>
        </p:spPr>
        <p:txBody>
          <a:bodyPr wrap="square" lIns="0" tIns="0" rIns="0" bIns="0" rtlCol="0" anchor="ctr"/>
          <a:lstStyle/>
          <a:p>
            <a:pPr indent="0" marL="0">
              <a:buNone/>
            </a:pPr>
            <a:r>
              <a:rPr lang="en-US" sz="1000" dirty="0">
                <a:solidFill>
                  <a:srgbClr val="1E293B"/>
                </a:solidFill>
                <a:latin typeface="Consolas" pitchFamily="34" charset="0"/>
                <a:ea typeface="Consolas" pitchFamily="34" charset="-122"/>
                <a:cs typeface="Consolas" pitchFamily="34" charset="-120"/>
              </a:rPr>
              <a:t>+diagnosis: Text</a:t>
            </a:r>
            <a:endParaRPr lang="en-US" sz="1000" dirty="0"/>
          </a:p>
        </p:txBody>
      </p:sp>
      <p:sp>
        <p:nvSpPr>
          <p:cNvPr id="51" name="Text 49"/>
          <p:cNvSpPr/>
          <p:nvPr/>
        </p:nvSpPr>
        <p:spPr>
          <a:xfrm>
            <a:off x="6281928" y="4197096"/>
            <a:ext cx="2377440" cy="256032"/>
          </a:xfrm>
          <a:prstGeom prst="rect">
            <a:avLst/>
          </a:prstGeom>
          <a:noFill/>
          <a:ln/>
        </p:spPr>
        <p:txBody>
          <a:bodyPr wrap="square" lIns="0" tIns="0" rIns="0" bIns="0" rtlCol="0" anchor="ctr"/>
          <a:lstStyle/>
          <a:p>
            <a:pPr indent="0" marL="0">
              <a:buNone/>
            </a:pPr>
            <a:r>
              <a:rPr lang="en-US" sz="1000" dirty="0">
                <a:solidFill>
                  <a:srgbClr val="1E293B"/>
                </a:solidFill>
                <a:latin typeface="Consolas" pitchFamily="34" charset="0"/>
                <a:ea typeface="Consolas" pitchFamily="34" charset="-122"/>
                <a:cs typeface="Consolas" pitchFamily="34" charset="-120"/>
              </a:rPr>
              <a:t>+prescription: Text</a:t>
            </a:r>
            <a:endParaRPr lang="en-US" sz="1000" dirty="0"/>
          </a:p>
        </p:txBody>
      </p:sp>
      <p:sp>
        <p:nvSpPr>
          <p:cNvPr id="52" name="Shape 50"/>
          <p:cNvSpPr/>
          <p:nvPr/>
        </p:nvSpPr>
        <p:spPr>
          <a:xfrm>
            <a:off x="2788920" y="859536"/>
            <a:ext cx="411480" cy="0"/>
          </a:xfrm>
          <a:prstGeom prst="line">
            <a:avLst/>
          </a:prstGeom>
          <a:noFill/>
          <a:ln w="25400">
            <a:solidFill>
              <a:srgbClr val="0F766E"/>
            </a:solidFill>
            <a:prstDash val="solid"/>
          </a:ln>
        </p:spPr>
      </p:sp>
      <p:sp>
        <p:nvSpPr>
          <p:cNvPr id="53" name="Shape 51"/>
          <p:cNvSpPr/>
          <p:nvPr/>
        </p:nvSpPr>
        <p:spPr>
          <a:xfrm>
            <a:off x="2793492" y="731520"/>
            <a:ext cx="402336" cy="219456"/>
          </a:xfrm>
          <a:prstGeom prst="rect">
            <a:avLst/>
          </a:prstGeom>
          <a:solidFill>
            <a:srgbClr val="FFFFFF"/>
          </a:solidFill>
          <a:ln w="10160">
            <a:solidFill>
              <a:srgbClr val="0D9488"/>
            </a:solidFill>
            <a:prstDash val="solid"/>
          </a:ln>
        </p:spPr>
      </p:sp>
      <p:sp>
        <p:nvSpPr>
          <p:cNvPr id="54" name="Text 52"/>
          <p:cNvSpPr/>
          <p:nvPr/>
        </p:nvSpPr>
        <p:spPr>
          <a:xfrm>
            <a:off x="2793492" y="731520"/>
            <a:ext cx="402336" cy="219456"/>
          </a:xfrm>
          <a:prstGeom prst="rect">
            <a:avLst/>
          </a:prstGeom>
          <a:noFill/>
          <a:ln/>
        </p:spPr>
        <p:txBody>
          <a:bodyPr wrap="square" lIns="0" tIns="0" rIns="0" bIns="0" rtlCol="0" anchor="ctr"/>
          <a:lstStyle/>
          <a:p>
            <a:pPr algn="ctr" indent="0" marL="0">
              <a:buNone/>
            </a:pPr>
            <a:r>
              <a:rPr lang="en-US" sz="900" b="1" dirty="0">
                <a:solidFill>
                  <a:srgbClr val="0F766E"/>
                </a:solidFill>
              </a:rPr>
              <a:t>1:1</a:t>
            </a:r>
            <a:endParaRPr lang="en-US" sz="900" dirty="0"/>
          </a:p>
        </p:txBody>
      </p:sp>
      <p:sp>
        <p:nvSpPr>
          <p:cNvPr id="55" name="Shape 53"/>
          <p:cNvSpPr/>
          <p:nvPr/>
        </p:nvSpPr>
        <p:spPr>
          <a:xfrm>
            <a:off x="5760720" y="859536"/>
            <a:ext cx="411480" cy="0"/>
          </a:xfrm>
          <a:prstGeom prst="line">
            <a:avLst/>
          </a:prstGeom>
          <a:noFill/>
          <a:ln w="25400">
            <a:solidFill>
              <a:srgbClr val="0F766E"/>
            </a:solidFill>
            <a:prstDash val="sysDash"/>
          </a:ln>
        </p:spPr>
      </p:sp>
      <p:sp>
        <p:nvSpPr>
          <p:cNvPr id="56" name="Shape 54"/>
          <p:cNvSpPr/>
          <p:nvPr/>
        </p:nvSpPr>
        <p:spPr>
          <a:xfrm>
            <a:off x="5765292" y="731520"/>
            <a:ext cx="402336" cy="219456"/>
          </a:xfrm>
          <a:prstGeom prst="rect">
            <a:avLst/>
          </a:prstGeom>
          <a:solidFill>
            <a:srgbClr val="FFFFFF"/>
          </a:solidFill>
          <a:ln w="10160">
            <a:solidFill>
              <a:srgbClr val="0D9488"/>
            </a:solidFill>
            <a:prstDash val="solid"/>
          </a:ln>
        </p:spPr>
      </p:sp>
      <p:sp>
        <p:nvSpPr>
          <p:cNvPr id="57" name="Text 55"/>
          <p:cNvSpPr/>
          <p:nvPr/>
        </p:nvSpPr>
        <p:spPr>
          <a:xfrm>
            <a:off x="5765292" y="731520"/>
            <a:ext cx="402336" cy="219456"/>
          </a:xfrm>
          <a:prstGeom prst="rect">
            <a:avLst/>
          </a:prstGeom>
          <a:noFill/>
          <a:ln/>
        </p:spPr>
        <p:txBody>
          <a:bodyPr wrap="square" lIns="0" tIns="0" rIns="0" bIns="0" rtlCol="0" anchor="ctr"/>
          <a:lstStyle/>
          <a:p>
            <a:pPr algn="ctr" indent="0" marL="0">
              <a:buNone/>
            </a:pPr>
            <a:r>
              <a:rPr lang="en-US" sz="900" b="1" dirty="0">
                <a:solidFill>
                  <a:srgbClr val="0F766E"/>
                </a:solidFill>
              </a:rPr>
              <a:t>M:N</a:t>
            </a:r>
            <a:endParaRPr lang="en-US" sz="900" dirty="0"/>
          </a:p>
        </p:txBody>
      </p:sp>
      <p:sp>
        <p:nvSpPr>
          <p:cNvPr id="58" name="Shape 56"/>
          <p:cNvSpPr/>
          <p:nvPr/>
        </p:nvSpPr>
        <p:spPr>
          <a:xfrm>
            <a:off x="5760720" y="3172968"/>
            <a:ext cx="411480" cy="0"/>
          </a:xfrm>
          <a:prstGeom prst="line">
            <a:avLst/>
          </a:prstGeom>
          <a:noFill/>
          <a:ln w="25400">
            <a:solidFill>
              <a:srgbClr val="0F766E"/>
            </a:solidFill>
            <a:prstDash val="solid"/>
          </a:ln>
        </p:spPr>
      </p:sp>
      <p:sp>
        <p:nvSpPr>
          <p:cNvPr id="59" name="Shape 57"/>
          <p:cNvSpPr/>
          <p:nvPr/>
        </p:nvSpPr>
        <p:spPr>
          <a:xfrm>
            <a:off x="5765292" y="3044952"/>
            <a:ext cx="402336" cy="219456"/>
          </a:xfrm>
          <a:prstGeom prst="rect">
            <a:avLst/>
          </a:prstGeom>
          <a:solidFill>
            <a:srgbClr val="FFFFFF"/>
          </a:solidFill>
          <a:ln w="10160">
            <a:solidFill>
              <a:srgbClr val="0D9488"/>
            </a:solidFill>
            <a:prstDash val="solid"/>
          </a:ln>
        </p:spPr>
      </p:sp>
      <p:sp>
        <p:nvSpPr>
          <p:cNvPr id="60" name="Text 58"/>
          <p:cNvSpPr/>
          <p:nvPr/>
        </p:nvSpPr>
        <p:spPr>
          <a:xfrm>
            <a:off x="5765292" y="3044952"/>
            <a:ext cx="402336" cy="219456"/>
          </a:xfrm>
          <a:prstGeom prst="rect">
            <a:avLst/>
          </a:prstGeom>
          <a:noFill/>
          <a:ln/>
        </p:spPr>
        <p:txBody>
          <a:bodyPr wrap="square" lIns="0" tIns="0" rIns="0" bIns="0" rtlCol="0" anchor="ctr"/>
          <a:lstStyle/>
          <a:p>
            <a:pPr algn="ctr" indent="0" marL="0">
              <a:buNone/>
            </a:pPr>
            <a:r>
              <a:rPr lang="en-US" sz="900" b="1" dirty="0">
                <a:solidFill>
                  <a:srgbClr val="0F766E"/>
                </a:solidFill>
              </a:rPr>
              <a:t>1:1</a:t>
            </a:r>
            <a:endParaRPr lang="en-US" sz="900" dirty="0"/>
          </a:p>
        </p:txBody>
      </p:sp>
      <p:sp>
        <p:nvSpPr>
          <p:cNvPr id="61" name="Shape 59"/>
          <p:cNvSpPr/>
          <p:nvPr/>
        </p:nvSpPr>
        <p:spPr>
          <a:xfrm>
            <a:off x="228600" y="859536"/>
            <a:ext cx="-164592" cy="0"/>
          </a:xfrm>
          <a:prstGeom prst="line">
            <a:avLst/>
          </a:prstGeom>
          <a:noFill/>
          <a:ln w="25400">
            <a:solidFill>
              <a:srgbClr val="0F766E"/>
            </a:solidFill>
            <a:prstDash val="solid"/>
          </a:ln>
        </p:spPr>
      </p:sp>
      <p:sp>
        <p:nvSpPr>
          <p:cNvPr id="62" name="Shape 60"/>
          <p:cNvSpPr/>
          <p:nvPr/>
        </p:nvSpPr>
        <p:spPr>
          <a:xfrm>
            <a:off x="64008" y="859536"/>
            <a:ext cx="0" cy="2313432"/>
          </a:xfrm>
          <a:prstGeom prst="line">
            <a:avLst/>
          </a:prstGeom>
          <a:noFill/>
          <a:ln w="25400">
            <a:solidFill>
              <a:srgbClr val="0F766E"/>
            </a:solidFill>
            <a:prstDash val="solid"/>
          </a:ln>
        </p:spPr>
      </p:sp>
      <p:sp>
        <p:nvSpPr>
          <p:cNvPr id="63" name="Shape 61"/>
          <p:cNvSpPr/>
          <p:nvPr/>
        </p:nvSpPr>
        <p:spPr>
          <a:xfrm>
            <a:off x="-137160" y="1888236"/>
            <a:ext cx="402336" cy="219456"/>
          </a:xfrm>
          <a:prstGeom prst="rect">
            <a:avLst/>
          </a:prstGeom>
          <a:solidFill>
            <a:srgbClr val="FFFFFF"/>
          </a:solidFill>
          <a:ln w="10160">
            <a:solidFill>
              <a:srgbClr val="0D9488"/>
            </a:solidFill>
            <a:prstDash val="solid"/>
          </a:ln>
        </p:spPr>
      </p:sp>
      <p:sp>
        <p:nvSpPr>
          <p:cNvPr id="64" name="Text 62"/>
          <p:cNvSpPr/>
          <p:nvPr/>
        </p:nvSpPr>
        <p:spPr>
          <a:xfrm>
            <a:off x="-137160" y="1888236"/>
            <a:ext cx="402336" cy="219456"/>
          </a:xfrm>
          <a:prstGeom prst="rect">
            <a:avLst/>
          </a:prstGeom>
          <a:noFill/>
          <a:ln/>
        </p:spPr>
        <p:txBody>
          <a:bodyPr wrap="square" lIns="0" tIns="0" rIns="0" bIns="0" rtlCol="0" anchor="ctr"/>
          <a:lstStyle/>
          <a:p>
            <a:pPr algn="ctr" indent="0" marL="0">
              <a:buNone/>
            </a:pPr>
            <a:r>
              <a:rPr lang="en-US" sz="900" b="1" dirty="0">
                <a:solidFill>
                  <a:srgbClr val="0F766E"/>
                </a:solidFill>
              </a:rPr>
              <a:t>1:1</a:t>
            </a:r>
            <a:endParaRPr lang="en-US" sz="900" dirty="0"/>
          </a:p>
        </p:txBody>
      </p:sp>
      <p:sp>
        <p:nvSpPr>
          <p:cNvPr id="65" name="Shape 63"/>
          <p:cNvSpPr/>
          <p:nvPr/>
        </p:nvSpPr>
        <p:spPr>
          <a:xfrm>
            <a:off x="64008" y="3172968"/>
            <a:ext cx="164592" cy="0"/>
          </a:xfrm>
          <a:prstGeom prst="line">
            <a:avLst/>
          </a:prstGeom>
          <a:noFill/>
          <a:ln w="25400">
            <a:solidFill>
              <a:srgbClr val="0F766E"/>
            </a:solidFill>
            <a:prstDash val="solid"/>
          </a:ln>
        </p:spPr>
      </p:sp>
      <p:sp>
        <p:nvSpPr>
          <p:cNvPr id="66" name="Shape 64"/>
          <p:cNvSpPr/>
          <p:nvPr/>
        </p:nvSpPr>
        <p:spPr>
          <a:xfrm>
            <a:off x="4480560" y="2185416"/>
            <a:ext cx="0" cy="813816"/>
          </a:xfrm>
          <a:prstGeom prst="line">
            <a:avLst/>
          </a:prstGeom>
          <a:noFill/>
          <a:ln w="25400">
            <a:solidFill>
              <a:srgbClr val="0F766E"/>
            </a:solidFill>
            <a:prstDash val="solid"/>
          </a:ln>
        </p:spPr>
      </p:sp>
      <p:sp>
        <p:nvSpPr>
          <p:cNvPr id="67" name="Shape 65"/>
          <p:cNvSpPr/>
          <p:nvPr/>
        </p:nvSpPr>
        <p:spPr>
          <a:xfrm>
            <a:off x="4279392" y="2464308"/>
            <a:ext cx="402336" cy="219456"/>
          </a:xfrm>
          <a:prstGeom prst="rect">
            <a:avLst/>
          </a:prstGeom>
          <a:solidFill>
            <a:srgbClr val="FFFFFF"/>
          </a:solidFill>
          <a:ln w="10160">
            <a:solidFill>
              <a:srgbClr val="0D9488"/>
            </a:solidFill>
            <a:prstDash val="solid"/>
          </a:ln>
        </p:spPr>
      </p:sp>
      <p:sp>
        <p:nvSpPr>
          <p:cNvPr id="68" name="Text 66"/>
          <p:cNvSpPr/>
          <p:nvPr/>
        </p:nvSpPr>
        <p:spPr>
          <a:xfrm>
            <a:off x="4279392" y="2464308"/>
            <a:ext cx="402336" cy="219456"/>
          </a:xfrm>
          <a:prstGeom prst="rect">
            <a:avLst/>
          </a:prstGeom>
          <a:noFill/>
          <a:ln/>
        </p:spPr>
        <p:txBody>
          <a:bodyPr wrap="square" lIns="0" tIns="0" rIns="0" bIns="0" rtlCol="0" anchor="ctr"/>
          <a:lstStyle/>
          <a:p>
            <a:pPr algn="ctr" indent="0" marL="0">
              <a:buNone/>
            </a:pPr>
            <a:r>
              <a:rPr lang="en-US" sz="900" b="1" dirty="0">
                <a:solidFill>
                  <a:srgbClr val="0F766E"/>
                </a:solidFill>
              </a:rPr>
              <a:t>1:N</a:t>
            </a:r>
            <a:endParaRPr lang="en-US" sz="900" dirty="0"/>
          </a:p>
        </p:txBody>
      </p:sp>
      <p:sp>
        <p:nvSpPr>
          <p:cNvPr id="69" name="Shape 67"/>
          <p:cNvSpPr/>
          <p:nvPr/>
        </p:nvSpPr>
        <p:spPr>
          <a:xfrm>
            <a:off x="2788920" y="3172968"/>
            <a:ext cx="411480" cy="0"/>
          </a:xfrm>
          <a:prstGeom prst="line">
            <a:avLst/>
          </a:prstGeom>
          <a:noFill/>
          <a:ln w="25400">
            <a:solidFill>
              <a:srgbClr val="0F766E"/>
            </a:solidFill>
            <a:prstDash val="solid"/>
          </a:ln>
        </p:spPr>
      </p:sp>
      <p:sp>
        <p:nvSpPr>
          <p:cNvPr id="70" name="Shape 68"/>
          <p:cNvSpPr/>
          <p:nvPr/>
        </p:nvSpPr>
        <p:spPr>
          <a:xfrm>
            <a:off x="2793492" y="3044952"/>
            <a:ext cx="402336" cy="219456"/>
          </a:xfrm>
          <a:prstGeom prst="rect">
            <a:avLst/>
          </a:prstGeom>
          <a:solidFill>
            <a:srgbClr val="FFFFFF"/>
          </a:solidFill>
          <a:ln w="10160">
            <a:solidFill>
              <a:srgbClr val="0D9488"/>
            </a:solidFill>
            <a:prstDash val="solid"/>
          </a:ln>
        </p:spPr>
      </p:sp>
      <p:sp>
        <p:nvSpPr>
          <p:cNvPr id="71" name="Text 69"/>
          <p:cNvSpPr/>
          <p:nvPr/>
        </p:nvSpPr>
        <p:spPr>
          <a:xfrm>
            <a:off x="2793492" y="3044952"/>
            <a:ext cx="402336" cy="219456"/>
          </a:xfrm>
          <a:prstGeom prst="rect">
            <a:avLst/>
          </a:prstGeom>
          <a:noFill/>
          <a:ln/>
        </p:spPr>
        <p:txBody>
          <a:bodyPr wrap="square" lIns="0" tIns="0" rIns="0" bIns="0" rtlCol="0" anchor="ctr"/>
          <a:lstStyle/>
          <a:p>
            <a:pPr algn="ctr" indent="0" marL="0">
              <a:buNone/>
            </a:pPr>
            <a:r>
              <a:rPr lang="en-US" sz="900" b="1" dirty="0">
                <a:solidFill>
                  <a:srgbClr val="0F766E"/>
                </a:solidFill>
              </a:rPr>
              <a:t>1:N</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42F2E"/>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9488"/>
          </a:solidFill>
          <a:ln/>
        </p:spPr>
      </p:sp>
      <p:pic>
        <p:nvPicPr>
          <p:cNvPr id="3" name="Image 0" descr="preencoded.png">    </p:cNvPr>
          <p:cNvPicPr>
            <a:picLocks noChangeAspect="1"/>
          </p:cNvPicPr>
          <p:nvPr/>
        </p:nvPicPr>
        <p:blipFill>
          <a:blip r:embed="rId1"/>
          <a:stretch>
            <a:fillRect/>
          </a:stretch>
        </p:blipFill>
        <p:spPr>
          <a:xfrm>
            <a:off x="3749040" y="640080"/>
            <a:ext cx="1645920" cy="1645920"/>
          </a:xfrm>
          <a:prstGeom prst="rect">
            <a:avLst/>
          </a:prstGeom>
        </p:spPr>
      </p:pic>
      <p:sp>
        <p:nvSpPr>
          <p:cNvPr id="4" name="Text 1"/>
          <p:cNvSpPr/>
          <p:nvPr/>
        </p:nvSpPr>
        <p:spPr>
          <a:xfrm>
            <a:off x="914400" y="2468880"/>
            <a:ext cx="7315200" cy="1005840"/>
          </a:xfrm>
          <a:prstGeom prst="rect">
            <a:avLst/>
          </a:prstGeom>
          <a:noFill/>
          <a:ln/>
        </p:spPr>
        <p:txBody>
          <a:bodyPr wrap="square" lIns="0" tIns="0" rIns="0" bIns="0" rtlCol="0" anchor="ctr"/>
          <a:lstStyle/>
          <a:p>
            <a:pPr algn="ctr" indent="0" marL="0">
              <a:buNone/>
            </a:pPr>
            <a:r>
              <a:rPr lang="en-US" sz="4800" b="1" dirty="0">
                <a:solidFill>
                  <a:srgbClr val="FFFFFF"/>
                </a:solidFill>
                <a:latin typeface="Calibri" pitchFamily="34" charset="0"/>
                <a:ea typeface="Calibri" pitchFamily="34" charset="-122"/>
                <a:cs typeface="Calibri" pitchFamily="34" charset="-120"/>
              </a:rPr>
              <a:t>Fonctionnalités</a:t>
            </a:r>
            <a:endParaRPr lang="en-US" sz="4800" dirty="0"/>
          </a:p>
        </p:txBody>
      </p:sp>
      <p:sp>
        <p:nvSpPr>
          <p:cNvPr id="5" name="Text 2"/>
          <p:cNvSpPr/>
          <p:nvPr/>
        </p:nvSpPr>
        <p:spPr>
          <a:xfrm>
            <a:off x="914400" y="3474720"/>
            <a:ext cx="7315200" cy="411480"/>
          </a:xfrm>
          <a:prstGeom prst="rect">
            <a:avLst/>
          </a:prstGeom>
          <a:noFill/>
          <a:ln/>
        </p:spPr>
        <p:txBody>
          <a:bodyPr wrap="square" lIns="0" tIns="0" rIns="0" bIns="0" rtlCol="0" anchor="ctr"/>
          <a:lstStyle/>
          <a:p>
            <a:pPr algn="ctr" indent="0" marL="0">
              <a:buNone/>
            </a:pPr>
            <a:r>
              <a:rPr lang="en-US" sz="1800" dirty="0">
                <a:solidFill>
                  <a:srgbClr val="CCFBF1"/>
                </a:solidFill>
              </a:rPr>
              <a:t>Patient  •  Médecin</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DFA"/>
        </a:solidFill>
      </p:bgPr>
    </p:bg>
    <p:spTree>
      <p:nvGrpSpPr>
        <p:cNvPr id="1" name=""/>
        <p:cNvGrpSpPr/>
        <p:nvPr/>
      </p:nvGrpSpPr>
      <p:grpSpPr>
        <a:xfrm>
          <a:off x="0" y="0"/>
          <a:ext cx="0" cy="0"/>
          <a:chOff x="0" y="0"/>
          <a:chExt cx="0" cy="0"/>
        </a:xfrm>
      </p:grpSpPr>
      <p:sp>
        <p:nvSpPr>
          <p:cNvPr id="2" name="Shape 0"/>
          <p:cNvSpPr/>
          <p:nvPr/>
        </p:nvSpPr>
        <p:spPr>
          <a:xfrm>
            <a:off x="457200" y="274320"/>
            <a:ext cx="1645920" cy="274320"/>
          </a:xfrm>
          <a:prstGeom prst="rect">
            <a:avLst>
              <a:gd name="adj" fmla="val 13333"/>
            </a:avLst>
          </a:prstGeom>
          <a:solidFill>
            <a:srgbClr val="0D9488"/>
          </a:solidFill>
          <a:ln/>
        </p:spPr>
      </p:sp>
      <p:sp>
        <p:nvSpPr>
          <p:cNvPr id="3" name="Text 1"/>
          <p:cNvSpPr/>
          <p:nvPr/>
        </p:nvSpPr>
        <p:spPr>
          <a:xfrm>
            <a:off x="457200" y="274320"/>
            <a:ext cx="1645920" cy="274320"/>
          </a:xfrm>
          <a:prstGeom prst="rect">
            <a:avLst/>
          </a:prstGeom>
          <a:noFill/>
          <a:ln/>
        </p:spPr>
        <p:txBody>
          <a:bodyPr wrap="square" lIns="0" tIns="0" rIns="0" bIns="0" rtlCol="0" anchor="ctr"/>
          <a:lstStyle/>
          <a:p>
            <a:pPr algn="ctr" indent="0" marL="0">
              <a:buNone/>
            </a:pPr>
            <a:r>
              <a:rPr lang="en-US" sz="900" b="1" dirty="0">
                <a:solidFill>
                  <a:srgbClr val="FFFFFF"/>
                </a:solidFill>
              </a:rPr>
              <a:t>PATIENT</a:t>
            </a:r>
            <a:endParaRPr lang="en-US" sz="900" dirty="0"/>
          </a:p>
        </p:txBody>
      </p:sp>
      <p:sp>
        <p:nvSpPr>
          <p:cNvPr id="4" name="Text 2"/>
          <p:cNvSpPr/>
          <p:nvPr/>
        </p:nvSpPr>
        <p:spPr>
          <a:xfrm>
            <a:off x="457200" y="685800"/>
            <a:ext cx="8229600" cy="548640"/>
          </a:xfrm>
          <a:prstGeom prst="rect">
            <a:avLst/>
          </a:prstGeom>
          <a:noFill/>
          <a:ln/>
        </p:spPr>
        <p:txBody>
          <a:bodyPr wrap="square" lIns="0" tIns="0" rIns="0" bIns="0" rtlCol="0" anchor="ctr"/>
          <a:lstStyle/>
          <a:p>
            <a:pPr indent="0" marL="0">
              <a:buNone/>
            </a:pPr>
            <a:r>
              <a:rPr lang="en-US" sz="2600" b="1" dirty="0">
                <a:solidFill>
                  <a:srgbClr val="0D9488"/>
                </a:solidFill>
              </a:rPr>
              <a:t>Accueil &amp; Recherche de Médecins</a:t>
            </a:r>
            <a:endParaRPr lang="en-US" sz="2600" dirty="0"/>
          </a:p>
        </p:txBody>
      </p:sp>
      <p:sp>
        <p:nvSpPr>
          <p:cNvPr id="5" name="Shape 3"/>
          <p:cNvSpPr/>
          <p:nvPr/>
        </p:nvSpPr>
        <p:spPr>
          <a:xfrm>
            <a:off x="0" y="685800"/>
            <a:ext cx="64008" cy="457200"/>
          </a:xfrm>
          <a:prstGeom prst="rect">
            <a:avLst/>
          </a:prstGeom>
          <a:solidFill>
            <a:srgbClr val="0D9488"/>
          </a:solidFill>
          <a:ln/>
        </p:spPr>
      </p:sp>
      <p:sp>
        <p:nvSpPr>
          <p:cNvPr id="6" name="Shape 4"/>
          <p:cNvSpPr/>
          <p:nvPr/>
        </p:nvSpPr>
        <p:spPr>
          <a:xfrm>
            <a:off x="457200" y="1417320"/>
            <a:ext cx="2651760" cy="3383280"/>
          </a:xfrm>
          <a:prstGeom prst="rect">
            <a:avLst/>
          </a:prstGeom>
          <a:solidFill>
            <a:srgbClr val="FFFFFF"/>
          </a:solidFill>
          <a:ln/>
          <a:effectLst>
            <a:outerShdw sx="100000" sy="100000" kx="0" ky="0" algn="bl" rotWithShape="0" blurRad="101600" dist="38100" dir="8100000">
              <a:srgbClr val="000000">
                <a:alpha val="12000"/>
              </a:srgbClr>
            </a:outerShdw>
          </a:effectLst>
        </p:spPr>
      </p:sp>
      <p:pic>
        <p:nvPicPr>
          <p:cNvPr id="7" name="Image 0" descr="preencoded.png">    </p:cNvPr>
          <p:cNvPicPr>
            <a:picLocks noChangeAspect="1"/>
          </p:cNvPicPr>
          <p:nvPr/>
        </p:nvPicPr>
        <p:blipFill>
          <a:blip r:embed="rId1"/>
          <a:stretch>
            <a:fillRect/>
          </a:stretch>
        </p:blipFill>
        <p:spPr>
          <a:xfrm>
            <a:off x="1371600" y="1600200"/>
            <a:ext cx="777240" cy="777240"/>
          </a:xfrm>
          <a:prstGeom prst="rect">
            <a:avLst/>
          </a:prstGeom>
        </p:spPr>
      </p:pic>
      <p:sp>
        <p:nvSpPr>
          <p:cNvPr id="8" name="Text 5"/>
          <p:cNvSpPr/>
          <p:nvPr/>
        </p:nvSpPr>
        <p:spPr>
          <a:xfrm>
            <a:off x="594360" y="2514600"/>
            <a:ext cx="2377440" cy="457200"/>
          </a:xfrm>
          <a:prstGeom prst="rect">
            <a:avLst/>
          </a:prstGeom>
          <a:noFill/>
          <a:ln/>
        </p:spPr>
        <p:txBody>
          <a:bodyPr wrap="square" lIns="0" tIns="0" rIns="0" bIns="0" rtlCol="0" anchor="ctr"/>
          <a:lstStyle/>
          <a:p>
            <a:pPr algn="ctr" indent="0" marL="0">
              <a:buNone/>
            </a:pPr>
            <a:r>
              <a:rPr lang="en-US" sz="1250" b="1" dirty="0">
                <a:solidFill>
                  <a:srgbClr val="0D9488"/>
                </a:solidFill>
              </a:rPr>
              <a:t>Accueil personnalisé</a:t>
            </a:r>
            <a:endParaRPr lang="en-US" sz="1250" dirty="0"/>
          </a:p>
        </p:txBody>
      </p:sp>
      <p:sp>
        <p:nvSpPr>
          <p:cNvPr id="9" name="Text 6"/>
          <p:cNvSpPr/>
          <p:nvPr/>
        </p:nvSpPr>
        <p:spPr>
          <a:xfrm>
            <a:off x="594360" y="3063240"/>
            <a:ext cx="2377440" cy="1463040"/>
          </a:xfrm>
          <a:prstGeom prst="rect">
            <a:avLst/>
          </a:prstGeom>
          <a:noFill/>
          <a:ln/>
        </p:spPr>
        <p:txBody>
          <a:bodyPr wrap="square" lIns="0" tIns="0" rIns="0" bIns="0" rtlCol="0" anchor="ctr"/>
          <a:lstStyle/>
          <a:p>
            <a:pPr algn="ctr" indent="0" marL="0">
              <a:buNone/>
            </a:pPr>
            <a:r>
              <a:rPr lang="en-US" sz="1050" dirty="0">
                <a:solidFill>
                  <a:srgbClr val="6B7280"/>
                </a:solidFill>
              </a:rPr>
              <a:t>Prochain rendez-vous avec compte à rebours, médecins à proximité, spécialités disponibles</a:t>
            </a:r>
            <a:endParaRPr lang="en-US" sz="1050" dirty="0"/>
          </a:p>
        </p:txBody>
      </p:sp>
      <p:sp>
        <p:nvSpPr>
          <p:cNvPr id="10" name="Shape 7"/>
          <p:cNvSpPr/>
          <p:nvPr/>
        </p:nvSpPr>
        <p:spPr>
          <a:xfrm>
            <a:off x="3355848" y="1417320"/>
            <a:ext cx="2651760" cy="3383280"/>
          </a:xfrm>
          <a:prstGeom prst="rect">
            <a:avLst/>
          </a:prstGeom>
          <a:solidFill>
            <a:srgbClr val="FFFFFF"/>
          </a:solidFill>
          <a:ln/>
          <a:effectLst>
            <a:outerShdw sx="100000" sy="100000" kx="0" ky="0" algn="bl" rotWithShape="0" blurRad="101600" dist="38100" dir="8100000">
              <a:srgbClr val="000000">
                <a:alpha val="12000"/>
              </a:srgbClr>
            </a:outerShdw>
          </a:effectLst>
        </p:spPr>
      </p:sp>
      <p:pic>
        <p:nvPicPr>
          <p:cNvPr id="11" name="Image 1" descr="preencoded.png">    </p:cNvPr>
          <p:cNvPicPr>
            <a:picLocks noChangeAspect="1"/>
          </p:cNvPicPr>
          <p:nvPr/>
        </p:nvPicPr>
        <p:blipFill>
          <a:blip r:embed="rId2"/>
          <a:stretch>
            <a:fillRect/>
          </a:stretch>
        </p:blipFill>
        <p:spPr>
          <a:xfrm>
            <a:off x="4270248" y="1600200"/>
            <a:ext cx="777240" cy="777240"/>
          </a:xfrm>
          <a:prstGeom prst="rect">
            <a:avLst/>
          </a:prstGeom>
        </p:spPr>
      </p:pic>
      <p:sp>
        <p:nvSpPr>
          <p:cNvPr id="12" name="Text 8"/>
          <p:cNvSpPr/>
          <p:nvPr/>
        </p:nvSpPr>
        <p:spPr>
          <a:xfrm>
            <a:off x="3493008" y="2514600"/>
            <a:ext cx="2377440" cy="457200"/>
          </a:xfrm>
          <a:prstGeom prst="rect">
            <a:avLst/>
          </a:prstGeom>
          <a:noFill/>
          <a:ln/>
        </p:spPr>
        <p:txBody>
          <a:bodyPr wrap="square" lIns="0" tIns="0" rIns="0" bIns="0" rtlCol="0" anchor="ctr"/>
          <a:lstStyle/>
          <a:p>
            <a:pPr algn="ctr" indent="0" marL="0">
              <a:buNone/>
            </a:pPr>
            <a:r>
              <a:rPr lang="en-US" sz="1250" b="1" dirty="0">
                <a:solidFill>
                  <a:srgbClr val="0D9488"/>
                </a:solidFill>
              </a:rPr>
              <a:t>Recherche avancée</a:t>
            </a:r>
            <a:endParaRPr lang="en-US" sz="1250" dirty="0"/>
          </a:p>
        </p:txBody>
      </p:sp>
      <p:sp>
        <p:nvSpPr>
          <p:cNvPr id="13" name="Text 9"/>
          <p:cNvSpPr/>
          <p:nvPr/>
        </p:nvSpPr>
        <p:spPr>
          <a:xfrm>
            <a:off x="3493008" y="3063240"/>
            <a:ext cx="2377440" cy="1463040"/>
          </a:xfrm>
          <a:prstGeom prst="rect">
            <a:avLst/>
          </a:prstGeom>
          <a:noFill/>
          <a:ln/>
        </p:spPr>
        <p:txBody>
          <a:bodyPr wrap="square" lIns="0" tIns="0" rIns="0" bIns="0" rtlCol="0" anchor="ctr"/>
          <a:lstStyle/>
          <a:p>
            <a:pPr algn="ctr" indent="0" marL="0">
              <a:buNone/>
            </a:pPr>
            <a:r>
              <a:rPr lang="en-US" sz="1050" dirty="0">
                <a:solidFill>
                  <a:srgbClr val="6B7280"/>
                </a:solidFill>
              </a:rPr>
              <a:t>Filtrage par spécialité (Cardiologie, Pédiatrie, Dentisterie...) avec statut disponible en temps réel</a:t>
            </a:r>
            <a:endParaRPr lang="en-US" sz="1050" dirty="0"/>
          </a:p>
        </p:txBody>
      </p:sp>
      <p:sp>
        <p:nvSpPr>
          <p:cNvPr id="14" name="Shape 10"/>
          <p:cNvSpPr/>
          <p:nvPr/>
        </p:nvSpPr>
        <p:spPr>
          <a:xfrm>
            <a:off x="6254496" y="1417320"/>
            <a:ext cx="2651760" cy="3383280"/>
          </a:xfrm>
          <a:prstGeom prst="rect">
            <a:avLst/>
          </a:prstGeom>
          <a:solidFill>
            <a:srgbClr val="FFFFFF"/>
          </a:solidFill>
          <a:ln/>
          <a:effectLst>
            <a:outerShdw sx="100000" sy="100000" kx="0" ky="0" algn="bl" rotWithShape="0" blurRad="101600" dist="38100" dir="8100000">
              <a:srgbClr val="000000">
                <a:alpha val="12000"/>
              </a:srgbClr>
            </a:outerShdw>
          </a:effectLst>
        </p:spPr>
      </p:sp>
      <p:pic>
        <p:nvPicPr>
          <p:cNvPr id="15" name="Image 2" descr="preencoded.png">    </p:cNvPr>
          <p:cNvPicPr>
            <a:picLocks noChangeAspect="1"/>
          </p:cNvPicPr>
          <p:nvPr/>
        </p:nvPicPr>
        <p:blipFill>
          <a:blip r:embed="rId3"/>
          <a:stretch>
            <a:fillRect/>
          </a:stretch>
        </p:blipFill>
        <p:spPr>
          <a:xfrm>
            <a:off x="7168896" y="1600200"/>
            <a:ext cx="777240" cy="777240"/>
          </a:xfrm>
          <a:prstGeom prst="rect">
            <a:avLst/>
          </a:prstGeom>
        </p:spPr>
      </p:pic>
      <p:sp>
        <p:nvSpPr>
          <p:cNvPr id="16" name="Text 11"/>
          <p:cNvSpPr/>
          <p:nvPr/>
        </p:nvSpPr>
        <p:spPr>
          <a:xfrm>
            <a:off x="6391656" y="2514600"/>
            <a:ext cx="2377440" cy="457200"/>
          </a:xfrm>
          <a:prstGeom prst="rect">
            <a:avLst/>
          </a:prstGeom>
          <a:noFill/>
          <a:ln/>
        </p:spPr>
        <p:txBody>
          <a:bodyPr wrap="square" lIns="0" tIns="0" rIns="0" bIns="0" rtlCol="0" anchor="ctr"/>
          <a:lstStyle/>
          <a:p>
            <a:pPr algn="ctr" indent="0" marL="0">
              <a:buNone/>
            </a:pPr>
            <a:r>
              <a:rPr lang="en-US" sz="1250" b="1" dirty="0">
                <a:solidFill>
                  <a:srgbClr val="0D9488"/>
                </a:solidFill>
              </a:rPr>
              <a:t>Géolocalisation GPS</a:t>
            </a:r>
            <a:endParaRPr lang="en-US" sz="1250" dirty="0"/>
          </a:p>
        </p:txBody>
      </p:sp>
      <p:sp>
        <p:nvSpPr>
          <p:cNvPr id="17" name="Text 12"/>
          <p:cNvSpPr/>
          <p:nvPr/>
        </p:nvSpPr>
        <p:spPr>
          <a:xfrm>
            <a:off x="6391656" y="3063240"/>
            <a:ext cx="2377440" cy="1463040"/>
          </a:xfrm>
          <a:prstGeom prst="rect">
            <a:avLst/>
          </a:prstGeom>
          <a:noFill/>
          <a:ln/>
        </p:spPr>
        <p:txBody>
          <a:bodyPr wrap="square" lIns="0" tIns="0" rIns="0" bIns="0" rtlCol="0" anchor="ctr"/>
          <a:lstStyle/>
          <a:p>
            <a:pPr algn="ctr" indent="0" marL="0">
              <a:buNone/>
            </a:pPr>
            <a:r>
              <a:rPr lang="en-US" sz="1050" dirty="0">
                <a:solidFill>
                  <a:srgbClr val="6B7280"/>
                </a:solidFill>
              </a:rPr>
              <a:t>Affichage des médecins et cliniques à proximité avec distance en km</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DFA"/>
        </a:solidFill>
      </p:bgPr>
    </p:bg>
    <p:spTree>
      <p:nvGrpSpPr>
        <p:cNvPr id="1" name=""/>
        <p:cNvGrpSpPr/>
        <p:nvPr/>
      </p:nvGrpSpPr>
      <p:grpSpPr>
        <a:xfrm>
          <a:off x="0" y="0"/>
          <a:ext cx="0" cy="0"/>
          <a:chOff x="0" y="0"/>
          <a:chExt cx="0" cy="0"/>
        </a:xfrm>
      </p:grpSpPr>
      <p:sp>
        <p:nvSpPr>
          <p:cNvPr id="2" name="Shape 0"/>
          <p:cNvSpPr/>
          <p:nvPr/>
        </p:nvSpPr>
        <p:spPr>
          <a:xfrm>
            <a:off x="457200" y="274320"/>
            <a:ext cx="1645920" cy="274320"/>
          </a:xfrm>
          <a:prstGeom prst="rect">
            <a:avLst>
              <a:gd name="adj" fmla="val 13333"/>
            </a:avLst>
          </a:prstGeom>
          <a:solidFill>
            <a:srgbClr val="0D9488"/>
          </a:solidFill>
          <a:ln/>
        </p:spPr>
      </p:sp>
      <p:sp>
        <p:nvSpPr>
          <p:cNvPr id="3" name="Text 1"/>
          <p:cNvSpPr/>
          <p:nvPr/>
        </p:nvSpPr>
        <p:spPr>
          <a:xfrm>
            <a:off x="457200" y="274320"/>
            <a:ext cx="1645920" cy="274320"/>
          </a:xfrm>
          <a:prstGeom prst="rect">
            <a:avLst/>
          </a:prstGeom>
          <a:noFill/>
          <a:ln/>
        </p:spPr>
        <p:txBody>
          <a:bodyPr wrap="square" lIns="0" tIns="0" rIns="0" bIns="0" rtlCol="0" anchor="ctr"/>
          <a:lstStyle/>
          <a:p>
            <a:pPr algn="ctr" indent="0" marL="0">
              <a:buNone/>
            </a:pPr>
            <a:r>
              <a:rPr lang="en-US" sz="900" b="1" dirty="0">
                <a:solidFill>
                  <a:srgbClr val="FFFFFF"/>
                </a:solidFill>
              </a:rPr>
              <a:t>PATIENT</a:t>
            </a:r>
            <a:endParaRPr lang="en-US" sz="900" dirty="0"/>
          </a:p>
        </p:txBody>
      </p:sp>
      <p:sp>
        <p:nvSpPr>
          <p:cNvPr id="4" name="Text 2"/>
          <p:cNvSpPr/>
          <p:nvPr/>
        </p:nvSpPr>
        <p:spPr>
          <a:xfrm>
            <a:off x="457200" y="685800"/>
            <a:ext cx="8229600" cy="548640"/>
          </a:xfrm>
          <a:prstGeom prst="rect">
            <a:avLst/>
          </a:prstGeom>
          <a:noFill/>
          <a:ln/>
        </p:spPr>
        <p:txBody>
          <a:bodyPr wrap="square" lIns="0" tIns="0" rIns="0" bIns="0" rtlCol="0" anchor="ctr"/>
          <a:lstStyle/>
          <a:p>
            <a:pPr indent="0" marL="0">
              <a:buNone/>
            </a:pPr>
            <a:r>
              <a:rPr lang="en-US" sz="2600" b="1" dirty="0">
                <a:solidFill>
                  <a:srgbClr val="0D9488"/>
                </a:solidFill>
              </a:rPr>
              <a:t>Fiche Détaillée du Médecin</a:t>
            </a:r>
            <a:endParaRPr lang="en-US" sz="2600" dirty="0"/>
          </a:p>
        </p:txBody>
      </p:sp>
      <p:sp>
        <p:nvSpPr>
          <p:cNvPr id="5" name="Shape 3"/>
          <p:cNvSpPr/>
          <p:nvPr/>
        </p:nvSpPr>
        <p:spPr>
          <a:xfrm>
            <a:off x="0" y="685800"/>
            <a:ext cx="64008" cy="457200"/>
          </a:xfrm>
          <a:prstGeom prst="rect">
            <a:avLst/>
          </a:prstGeom>
          <a:solidFill>
            <a:srgbClr val="0D9488"/>
          </a:solidFill>
          <a:ln/>
        </p:spPr>
      </p:sp>
      <p:sp>
        <p:nvSpPr>
          <p:cNvPr id="6" name="Text 4"/>
          <p:cNvSpPr/>
          <p:nvPr/>
        </p:nvSpPr>
        <p:spPr>
          <a:xfrm>
            <a:off x="457200" y="1325880"/>
            <a:ext cx="8229600" cy="320040"/>
          </a:xfrm>
          <a:prstGeom prst="rect">
            <a:avLst/>
          </a:prstGeom>
          <a:noFill/>
          <a:ln/>
        </p:spPr>
        <p:txBody>
          <a:bodyPr wrap="square" lIns="0" tIns="0" rIns="0" bIns="0" rtlCol="0" anchor="ctr"/>
          <a:lstStyle/>
          <a:p>
            <a:pPr indent="0" marL="0">
              <a:buNone/>
            </a:pPr>
            <a:r>
              <a:rPr lang="en-US" sz="1200" dirty="0">
                <a:solidFill>
                  <a:srgbClr val="134E4A"/>
                </a:solidFill>
              </a:rPr>
              <a:t>En sélectionnant un médecin, le patient accède à une fiche complète :</a:t>
            </a:r>
            <a:endParaRPr lang="en-US" sz="1200" dirty="0"/>
          </a:p>
        </p:txBody>
      </p:sp>
      <p:sp>
        <p:nvSpPr>
          <p:cNvPr id="7" name="Shape 5"/>
          <p:cNvSpPr/>
          <p:nvPr/>
        </p:nvSpPr>
        <p:spPr>
          <a:xfrm>
            <a:off x="457200" y="1783080"/>
            <a:ext cx="4114800" cy="868680"/>
          </a:xfrm>
          <a:prstGeom prst="rect">
            <a:avLst/>
          </a:prstGeom>
          <a:solidFill>
            <a:srgbClr val="FFFFFF"/>
          </a:solidFill>
          <a:ln/>
          <a:effectLst>
            <a:outerShdw sx="100000" sy="100000" kx="0" ky="0" algn="bl" rotWithShape="0" blurRad="101600" dist="38100" dir="8100000">
              <a:srgbClr val="000000">
                <a:alpha val="12000"/>
              </a:srgbClr>
            </a:outerShdw>
          </a:effectLst>
        </p:spPr>
      </p:sp>
      <p:pic>
        <p:nvPicPr>
          <p:cNvPr id="8" name="Image 0" descr="preencoded.png">    </p:cNvPr>
          <p:cNvPicPr>
            <a:picLocks noChangeAspect="1"/>
          </p:cNvPicPr>
          <p:nvPr/>
        </p:nvPicPr>
        <p:blipFill>
          <a:blip r:embed="rId1"/>
          <a:stretch>
            <a:fillRect/>
          </a:stretch>
        </p:blipFill>
        <p:spPr>
          <a:xfrm>
            <a:off x="594360" y="1984248"/>
            <a:ext cx="384048" cy="384048"/>
          </a:xfrm>
          <a:prstGeom prst="rect">
            <a:avLst/>
          </a:prstGeom>
        </p:spPr>
      </p:pic>
      <p:sp>
        <p:nvSpPr>
          <p:cNvPr id="9" name="Text 6"/>
          <p:cNvSpPr/>
          <p:nvPr/>
        </p:nvSpPr>
        <p:spPr>
          <a:xfrm>
            <a:off x="1097280" y="1874520"/>
            <a:ext cx="3291840" cy="292608"/>
          </a:xfrm>
          <a:prstGeom prst="rect">
            <a:avLst/>
          </a:prstGeom>
          <a:noFill/>
          <a:ln/>
        </p:spPr>
        <p:txBody>
          <a:bodyPr wrap="square" lIns="0" tIns="0" rIns="0" bIns="0" rtlCol="0" anchor="ctr"/>
          <a:lstStyle/>
          <a:p>
            <a:pPr indent="0" marL="0">
              <a:buNone/>
            </a:pPr>
            <a:r>
              <a:rPr lang="en-US" sz="1200" b="1" dirty="0">
                <a:solidFill>
                  <a:srgbClr val="0D9488"/>
                </a:solidFill>
              </a:rPr>
              <a:t>Note &amp; Expérience</a:t>
            </a:r>
            <a:endParaRPr lang="en-US" sz="1200" dirty="0"/>
          </a:p>
        </p:txBody>
      </p:sp>
      <p:sp>
        <p:nvSpPr>
          <p:cNvPr id="10" name="Text 7"/>
          <p:cNvSpPr/>
          <p:nvPr/>
        </p:nvSpPr>
        <p:spPr>
          <a:xfrm>
            <a:off x="1097280" y="2221992"/>
            <a:ext cx="3291840" cy="292608"/>
          </a:xfrm>
          <a:prstGeom prst="rect">
            <a:avLst/>
          </a:prstGeom>
          <a:noFill/>
          <a:ln/>
        </p:spPr>
        <p:txBody>
          <a:bodyPr wrap="square" lIns="0" tIns="0" rIns="0" bIns="0" rtlCol="0" anchor="ctr"/>
          <a:lstStyle/>
          <a:p>
            <a:pPr indent="0" marL="0">
              <a:buNone/>
            </a:pPr>
            <a:r>
              <a:rPr lang="en-US" sz="1050" dirty="0">
                <a:solidFill>
                  <a:srgbClr val="134E4A"/>
                </a:solidFill>
              </a:rPr>
              <a:t>14 ans d'expérience · 4.9★ · 312 patients</a:t>
            </a:r>
            <a:endParaRPr lang="en-US" sz="1050" dirty="0"/>
          </a:p>
        </p:txBody>
      </p:sp>
      <p:sp>
        <p:nvSpPr>
          <p:cNvPr id="11" name="Shape 8"/>
          <p:cNvSpPr/>
          <p:nvPr/>
        </p:nvSpPr>
        <p:spPr>
          <a:xfrm>
            <a:off x="4846320" y="1783080"/>
            <a:ext cx="4114800" cy="868680"/>
          </a:xfrm>
          <a:prstGeom prst="rect">
            <a:avLst/>
          </a:prstGeom>
          <a:solidFill>
            <a:srgbClr val="FFFFFF"/>
          </a:solidFill>
          <a:ln/>
          <a:effectLst>
            <a:outerShdw sx="100000" sy="100000" kx="0" ky="0" algn="bl" rotWithShape="0" blurRad="101600" dist="38100" dir="8100000">
              <a:srgbClr val="000000">
                <a:alpha val="12000"/>
              </a:srgbClr>
            </a:outerShdw>
          </a:effectLst>
        </p:spPr>
      </p:sp>
      <p:pic>
        <p:nvPicPr>
          <p:cNvPr id="12" name="Image 1" descr="preencoded.png">    </p:cNvPr>
          <p:cNvPicPr>
            <a:picLocks noChangeAspect="1"/>
          </p:cNvPicPr>
          <p:nvPr/>
        </p:nvPicPr>
        <p:blipFill>
          <a:blip r:embed="rId2"/>
          <a:stretch>
            <a:fillRect/>
          </a:stretch>
        </p:blipFill>
        <p:spPr>
          <a:xfrm>
            <a:off x="4983480" y="1984248"/>
            <a:ext cx="384048" cy="384048"/>
          </a:xfrm>
          <a:prstGeom prst="rect">
            <a:avLst/>
          </a:prstGeom>
        </p:spPr>
      </p:pic>
      <p:sp>
        <p:nvSpPr>
          <p:cNvPr id="13" name="Text 9"/>
          <p:cNvSpPr/>
          <p:nvPr/>
        </p:nvSpPr>
        <p:spPr>
          <a:xfrm>
            <a:off x="5486400" y="1874520"/>
            <a:ext cx="3291840" cy="292608"/>
          </a:xfrm>
          <a:prstGeom prst="rect">
            <a:avLst/>
          </a:prstGeom>
          <a:noFill/>
          <a:ln/>
        </p:spPr>
        <p:txBody>
          <a:bodyPr wrap="square" lIns="0" tIns="0" rIns="0" bIns="0" rtlCol="0" anchor="ctr"/>
          <a:lstStyle/>
          <a:p>
            <a:pPr indent="0" marL="0">
              <a:buNone/>
            </a:pPr>
            <a:r>
              <a:rPr lang="en-US" sz="1200" b="1" dirty="0">
                <a:solidFill>
                  <a:srgbClr val="0D9488"/>
                </a:solidFill>
              </a:rPr>
              <a:t>Localisation</a:t>
            </a:r>
            <a:endParaRPr lang="en-US" sz="1200" dirty="0"/>
          </a:p>
        </p:txBody>
      </p:sp>
      <p:sp>
        <p:nvSpPr>
          <p:cNvPr id="14" name="Text 10"/>
          <p:cNvSpPr/>
          <p:nvPr/>
        </p:nvSpPr>
        <p:spPr>
          <a:xfrm>
            <a:off x="5486400" y="2221992"/>
            <a:ext cx="3291840" cy="292608"/>
          </a:xfrm>
          <a:prstGeom prst="rect">
            <a:avLst/>
          </a:prstGeom>
          <a:noFill/>
          <a:ln/>
        </p:spPr>
        <p:txBody>
          <a:bodyPr wrap="square" lIns="0" tIns="0" rIns="0" bIns="0" rtlCol="0" anchor="ctr"/>
          <a:lstStyle/>
          <a:p>
            <a:pPr indent="0" marL="0">
              <a:buNone/>
            </a:pPr>
            <a:r>
              <a:rPr lang="en-US" sz="1050" dirty="0">
                <a:solidFill>
                  <a:srgbClr val="134E4A"/>
                </a:solidFill>
              </a:rPr>
              <a:t>Clinique Al Noor · Directions intégrées</a:t>
            </a:r>
            <a:endParaRPr lang="en-US" sz="1050" dirty="0"/>
          </a:p>
        </p:txBody>
      </p:sp>
      <p:sp>
        <p:nvSpPr>
          <p:cNvPr id="15" name="Shape 11"/>
          <p:cNvSpPr/>
          <p:nvPr/>
        </p:nvSpPr>
        <p:spPr>
          <a:xfrm>
            <a:off x="457200" y="2788920"/>
            <a:ext cx="4114800" cy="868680"/>
          </a:xfrm>
          <a:prstGeom prst="rect">
            <a:avLst/>
          </a:prstGeom>
          <a:solidFill>
            <a:srgbClr val="FFFFFF"/>
          </a:solidFill>
          <a:ln/>
          <a:effectLst>
            <a:outerShdw sx="100000" sy="100000" kx="0" ky="0" algn="bl" rotWithShape="0" blurRad="101600" dist="38100" dir="8100000">
              <a:srgbClr val="000000">
                <a:alpha val="12000"/>
              </a:srgbClr>
            </a:outerShdw>
          </a:effectLst>
        </p:spPr>
      </p:sp>
      <p:pic>
        <p:nvPicPr>
          <p:cNvPr id="16" name="Image 2" descr="preencoded.png">    </p:cNvPr>
          <p:cNvPicPr>
            <a:picLocks noChangeAspect="1"/>
          </p:cNvPicPr>
          <p:nvPr/>
        </p:nvPicPr>
        <p:blipFill>
          <a:blip r:embed="rId3"/>
          <a:stretch>
            <a:fillRect/>
          </a:stretch>
        </p:blipFill>
        <p:spPr>
          <a:xfrm>
            <a:off x="594360" y="2990088"/>
            <a:ext cx="384048" cy="384048"/>
          </a:xfrm>
          <a:prstGeom prst="rect">
            <a:avLst/>
          </a:prstGeom>
        </p:spPr>
      </p:pic>
      <p:sp>
        <p:nvSpPr>
          <p:cNvPr id="17" name="Text 12"/>
          <p:cNvSpPr/>
          <p:nvPr/>
        </p:nvSpPr>
        <p:spPr>
          <a:xfrm>
            <a:off x="1097280" y="2880360"/>
            <a:ext cx="3291840" cy="292608"/>
          </a:xfrm>
          <a:prstGeom prst="rect">
            <a:avLst/>
          </a:prstGeom>
          <a:noFill/>
          <a:ln/>
        </p:spPr>
        <p:txBody>
          <a:bodyPr wrap="square" lIns="0" tIns="0" rIns="0" bIns="0" rtlCol="0" anchor="ctr"/>
          <a:lstStyle/>
          <a:p>
            <a:pPr indent="0" marL="0">
              <a:buNone/>
            </a:pPr>
            <a:r>
              <a:rPr lang="en-US" sz="1200" b="1" dirty="0">
                <a:solidFill>
                  <a:srgbClr val="0D9488"/>
                </a:solidFill>
              </a:rPr>
              <a:t>Horaires</a:t>
            </a:r>
            <a:endParaRPr lang="en-US" sz="1200" dirty="0"/>
          </a:p>
        </p:txBody>
      </p:sp>
      <p:sp>
        <p:nvSpPr>
          <p:cNvPr id="18" name="Text 13"/>
          <p:cNvSpPr/>
          <p:nvPr/>
        </p:nvSpPr>
        <p:spPr>
          <a:xfrm>
            <a:off x="1097280" y="3227832"/>
            <a:ext cx="3291840" cy="292608"/>
          </a:xfrm>
          <a:prstGeom prst="rect">
            <a:avLst/>
          </a:prstGeom>
          <a:noFill/>
          <a:ln/>
        </p:spPr>
        <p:txBody>
          <a:bodyPr wrap="square" lIns="0" tIns="0" rIns="0" bIns="0" rtlCol="0" anchor="ctr"/>
          <a:lstStyle/>
          <a:p>
            <a:pPr indent="0" marL="0">
              <a:buNone/>
            </a:pPr>
            <a:r>
              <a:rPr lang="en-US" sz="1050" dirty="0">
                <a:solidFill>
                  <a:srgbClr val="134E4A"/>
                </a:solidFill>
              </a:rPr>
              <a:t>Sam–Mer : 9h00–17h00</a:t>
            </a:r>
            <a:endParaRPr lang="en-US" sz="1050" dirty="0"/>
          </a:p>
        </p:txBody>
      </p:sp>
      <p:sp>
        <p:nvSpPr>
          <p:cNvPr id="19" name="Shape 14"/>
          <p:cNvSpPr/>
          <p:nvPr/>
        </p:nvSpPr>
        <p:spPr>
          <a:xfrm>
            <a:off x="4846320" y="2788920"/>
            <a:ext cx="4114800" cy="868680"/>
          </a:xfrm>
          <a:prstGeom prst="rect">
            <a:avLst/>
          </a:prstGeom>
          <a:solidFill>
            <a:srgbClr val="FFFFFF"/>
          </a:solidFill>
          <a:ln/>
          <a:effectLst>
            <a:outerShdw sx="100000" sy="100000" kx="0" ky="0" algn="bl" rotWithShape="0" blurRad="101600" dist="38100" dir="8100000">
              <a:srgbClr val="000000">
                <a:alpha val="12000"/>
              </a:srgbClr>
            </a:outerShdw>
          </a:effectLst>
        </p:spPr>
      </p:sp>
      <p:pic>
        <p:nvPicPr>
          <p:cNvPr id="20" name="Image 3" descr="preencoded.png">    </p:cNvPr>
          <p:cNvPicPr>
            <a:picLocks noChangeAspect="1"/>
          </p:cNvPicPr>
          <p:nvPr/>
        </p:nvPicPr>
        <p:blipFill>
          <a:blip r:embed="rId4"/>
          <a:stretch>
            <a:fillRect/>
          </a:stretch>
        </p:blipFill>
        <p:spPr>
          <a:xfrm>
            <a:off x="4983480" y="2990088"/>
            <a:ext cx="384048" cy="384048"/>
          </a:xfrm>
          <a:prstGeom prst="rect">
            <a:avLst/>
          </a:prstGeom>
        </p:spPr>
      </p:pic>
      <p:sp>
        <p:nvSpPr>
          <p:cNvPr id="21" name="Text 15"/>
          <p:cNvSpPr/>
          <p:nvPr/>
        </p:nvSpPr>
        <p:spPr>
          <a:xfrm>
            <a:off x="5486400" y="2880360"/>
            <a:ext cx="3291840" cy="292608"/>
          </a:xfrm>
          <a:prstGeom prst="rect">
            <a:avLst/>
          </a:prstGeom>
          <a:noFill/>
          <a:ln/>
        </p:spPr>
        <p:txBody>
          <a:bodyPr wrap="square" lIns="0" tIns="0" rIns="0" bIns="0" rtlCol="0" anchor="ctr"/>
          <a:lstStyle/>
          <a:p>
            <a:pPr indent="0" marL="0">
              <a:buNone/>
            </a:pPr>
            <a:r>
              <a:rPr lang="en-US" sz="1200" b="1" dirty="0">
                <a:solidFill>
                  <a:srgbClr val="0D9488"/>
                </a:solidFill>
              </a:rPr>
              <a:t>Tarif</a:t>
            </a:r>
            <a:endParaRPr lang="en-US" sz="1200" dirty="0"/>
          </a:p>
        </p:txBody>
      </p:sp>
      <p:sp>
        <p:nvSpPr>
          <p:cNvPr id="22" name="Text 16"/>
          <p:cNvSpPr/>
          <p:nvPr/>
        </p:nvSpPr>
        <p:spPr>
          <a:xfrm>
            <a:off x="5486400" y="3227832"/>
            <a:ext cx="3291840" cy="292608"/>
          </a:xfrm>
          <a:prstGeom prst="rect">
            <a:avLst/>
          </a:prstGeom>
          <a:noFill/>
          <a:ln/>
        </p:spPr>
        <p:txBody>
          <a:bodyPr wrap="square" lIns="0" tIns="0" rIns="0" bIns="0" rtlCol="0" anchor="ctr"/>
          <a:lstStyle/>
          <a:p>
            <a:pPr indent="0" marL="0">
              <a:buNone/>
            </a:pPr>
            <a:r>
              <a:rPr lang="en-US" sz="1050" dirty="0">
                <a:solidFill>
                  <a:srgbClr val="134E4A"/>
                </a:solidFill>
              </a:rPr>
              <a:t>2 000 DA par séance</a:t>
            </a:r>
            <a:endParaRPr lang="en-US" sz="1050" dirty="0"/>
          </a:p>
        </p:txBody>
      </p:sp>
      <p:sp>
        <p:nvSpPr>
          <p:cNvPr id="23" name="Shape 17"/>
          <p:cNvSpPr/>
          <p:nvPr/>
        </p:nvSpPr>
        <p:spPr>
          <a:xfrm>
            <a:off x="457200" y="3794760"/>
            <a:ext cx="4114800" cy="868680"/>
          </a:xfrm>
          <a:prstGeom prst="rect">
            <a:avLst/>
          </a:prstGeom>
          <a:solidFill>
            <a:srgbClr val="FFFFFF"/>
          </a:solidFill>
          <a:ln/>
          <a:effectLst>
            <a:outerShdw sx="100000" sy="100000" kx="0" ky="0" algn="bl" rotWithShape="0" blurRad="101600" dist="38100" dir="8100000">
              <a:srgbClr val="000000">
                <a:alpha val="12000"/>
              </a:srgbClr>
            </a:outerShdw>
          </a:effectLst>
        </p:spPr>
      </p:sp>
      <p:pic>
        <p:nvPicPr>
          <p:cNvPr id="24" name="Image 4" descr="preencoded.png">    </p:cNvPr>
          <p:cNvPicPr>
            <a:picLocks noChangeAspect="1"/>
          </p:cNvPicPr>
          <p:nvPr/>
        </p:nvPicPr>
        <p:blipFill>
          <a:blip r:embed="rId5"/>
          <a:stretch>
            <a:fillRect/>
          </a:stretch>
        </p:blipFill>
        <p:spPr>
          <a:xfrm>
            <a:off x="594360" y="3995928"/>
            <a:ext cx="384048" cy="384048"/>
          </a:xfrm>
          <a:prstGeom prst="rect">
            <a:avLst/>
          </a:prstGeom>
        </p:spPr>
      </p:pic>
      <p:sp>
        <p:nvSpPr>
          <p:cNvPr id="25" name="Text 18"/>
          <p:cNvSpPr/>
          <p:nvPr/>
        </p:nvSpPr>
        <p:spPr>
          <a:xfrm>
            <a:off x="1097280" y="3886200"/>
            <a:ext cx="3291840" cy="292608"/>
          </a:xfrm>
          <a:prstGeom prst="rect">
            <a:avLst/>
          </a:prstGeom>
          <a:noFill/>
          <a:ln/>
        </p:spPr>
        <p:txBody>
          <a:bodyPr wrap="square" lIns="0" tIns="0" rIns="0" bIns="0" rtlCol="0" anchor="ctr"/>
          <a:lstStyle/>
          <a:p>
            <a:pPr indent="0" marL="0">
              <a:buNone/>
            </a:pPr>
            <a:r>
              <a:rPr lang="en-US" sz="1200" b="1" dirty="0">
                <a:solidFill>
                  <a:srgbClr val="0D9488"/>
                </a:solidFill>
              </a:rPr>
              <a:t>Réservation</a:t>
            </a:r>
            <a:endParaRPr lang="en-US" sz="1200" dirty="0"/>
          </a:p>
        </p:txBody>
      </p:sp>
      <p:sp>
        <p:nvSpPr>
          <p:cNvPr id="26" name="Text 19"/>
          <p:cNvSpPr/>
          <p:nvPr/>
        </p:nvSpPr>
        <p:spPr>
          <a:xfrm>
            <a:off x="1097280" y="4233672"/>
            <a:ext cx="3291840" cy="292608"/>
          </a:xfrm>
          <a:prstGeom prst="rect">
            <a:avLst/>
          </a:prstGeom>
          <a:noFill/>
          <a:ln/>
        </p:spPr>
        <p:txBody>
          <a:bodyPr wrap="square" lIns="0" tIns="0" rIns="0" bIns="0" rtlCol="0" anchor="ctr"/>
          <a:lstStyle/>
          <a:p>
            <a:pPr indent="0" marL="0">
              <a:buNone/>
            </a:pPr>
            <a:r>
              <a:rPr lang="en-US" sz="1050" dirty="0">
                <a:solidFill>
                  <a:srgbClr val="134E4A"/>
                </a:solidFill>
              </a:rPr>
              <a:t>Bouton « Book Now » direct depuis la fiche</a:t>
            </a:r>
            <a:endParaRPr lang="en-US" sz="1050" dirty="0"/>
          </a:p>
        </p:txBody>
      </p:sp>
      <p:sp>
        <p:nvSpPr>
          <p:cNvPr id="27" name="Shape 20"/>
          <p:cNvSpPr/>
          <p:nvPr/>
        </p:nvSpPr>
        <p:spPr>
          <a:xfrm>
            <a:off x="4846320" y="3794760"/>
            <a:ext cx="4114800" cy="868680"/>
          </a:xfrm>
          <a:prstGeom prst="rect">
            <a:avLst/>
          </a:prstGeom>
          <a:solidFill>
            <a:srgbClr val="FFFFFF"/>
          </a:solidFill>
          <a:ln/>
          <a:effectLst>
            <a:outerShdw sx="100000" sy="100000" kx="0" ky="0" algn="bl" rotWithShape="0" blurRad="101600" dist="38100" dir="8100000">
              <a:srgbClr val="000000">
                <a:alpha val="12000"/>
              </a:srgbClr>
            </a:outerShdw>
          </a:effectLst>
        </p:spPr>
      </p:sp>
      <p:pic>
        <p:nvPicPr>
          <p:cNvPr id="28" name="Image 5" descr="preencoded.png">    </p:cNvPr>
          <p:cNvPicPr>
            <a:picLocks noChangeAspect="1"/>
          </p:cNvPicPr>
          <p:nvPr/>
        </p:nvPicPr>
        <p:blipFill>
          <a:blip r:embed="rId6"/>
          <a:stretch>
            <a:fillRect/>
          </a:stretch>
        </p:blipFill>
        <p:spPr>
          <a:xfrm>
            <a:off x="4983480" y="3995928"/>
            <a:ext cx="384048" cy="384048"/>
          </a:xfrm>
          <a:prstGeom prst="rect">
            <a:avLst/>
          </a:prstGeom>
        </p:spPr>
      </p:pic>
      <p:sp>
        <p:nvSpPr>
          <p:cNvPr id="29" name="Text 21"/>
          <p:cNvSpPr/>
          <p:nvPr/>
        </p:nvSpPr>
        <p:spPr>
          <a:xfrm>
            <a:off x="5486400" y="3886200"/>
            <a:ext cx="3291840" cy="292608"/>
          </a:xfrm>
          <a:prstGeom prst="rect">
            <a:avLst/>
          </a:prstGeom>
          <a:noFill/>
          <a:ln/>
        </p:spPr>
        <p:txBody>
          <a:bodyPr wrap="square" lIns="0" tIns="0" rIns="0" bIns="0" rtlCol="0" anchor="ctr"/>
          <a:lstStyle/>
          <a:p>
            <a:pPr indent="0" marL="0">
              <a:buNone/>
            </a:pPr>
            <a:r>
              <a:rPr lang="en-US" sz="1200" b="1" dirty="0">
                <a:solidFill>
                  <a:srgbClr val="0D9488"/>
                </a:solidFill>
              </a:rPr>
              <a:t>Biographie</a:t>
            </a:r>
            <a:endParaRPr lang="en-US" sz="1200" dirty="0"/>
          </a:p>
        </p:txBody>
      </p:sp>
      <p:sp>
        <p:nvSpPr>
          <p:cNvPr id="30" name="Text 22"/>
          <p:cNvSpPr/>
          <p:nvPr/>
        </p:nvSpPr>
        <p:spPr>
          <a:xfrm>
            <a:off x="5486400" y="4233672"/>
            <a:ext cx="3291840" cy="292608"/>
          </a:xfrm>
          <a:prstGeom prst="rect">
            <a:avLst/>
          </a:prstGeom>
          <a:noFill/>
          <a:ln/>
        </p:spPr>
        <p:txBody>
          <a:bodyPr wrap="square" lIns="0" tIns="0" rIns="0" bIns="0" rtlCol="0" anchor="ctr"/>
          <a:lstStyle/>
          <a:p>
            <a:pPr indent="0" marL="0">
              <a:buNone/>
            </a:pPr>
            <a:r>
              <a:rPr lang="en-US" sz="1050" dirty="0">
                <a:solidFill>
                  <a:srgbClr val="134E4A"/>
                </a:solidFill>
              </a:rPr>
              <a:t>Spécialité, formations, certifications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DFA"/>
        </a:solidFill>
      </p:bgPr>
    </p:bg>
    <p:spTree>
      <p:nvGrpSpPr>
        <p:cNvPr id="1" name=""/>
        <p:cNvGrpSpPr/>
        <p:nvPr/>
      </p:nvGrpSpPr>
      <p:grpSpPr>
        <a:xfrm>
          <a:off x="0" y="0"/>
          <a:ext cx="0" cy="0"/>
          <a:chOff x="0" y="0"/>
          <a:chExt cx="0" cy="0"/>
        </a:xfrm>
      </p:grpSpPr>
      <p:sp>
        <p:nvSpPr>
          <p:cNvPr id="2" name="Shape 0"/>
          <p:cNvSpPr/>
          <p:nvPr/>
        </p:nvSpPr>
        <p:spPr>
          <a:xfrm>
            <a:off x="457200" y="274320"/>
            <a:ext cx="1645920" cy="274320"/>
          </a:xfrm>
          <a:prstGeom prst="rect">
            <a:avLst>
              <a:gd name="adj" fmla="val 13333"/>
            </a:avLst>
          </a:prstGeom>
          <a:solidFill>
            <a:srgbClr val="0D9488"/>
          </a:solidFill>
          <a:ln/>
        </p:spPr>
      </p:sp>
      <p:sp>
        <p:nvSpPr>
          <p:cNvPr id="3" name="Text 1"/>
          <p:cNvSpPr/>
          <p:nvPr/>
        </p:nvSpPr>
        <p:spPr>
          <a:xfrm>
            <a:off x="457200" y="274320"/>
            <a:ext cx="1645920" cy="274320"/>
          </a:xfrm>
          <a:prstGeom prst="rect">
            <a:avLst/>
          </a:prstGeom>
          <a:noFill/>
          <a:ln/>
        </p:spPr>
        <p:txBody>
          <a:bodyPr wrap="square" lIns="0" tIns="0" rIns="0" bIns="0" rtlCol="0" anchor="ctr"/>
          <a:lstStyle/>
          <a:p>
            <a:pPr algn="ctr" indent="0" marL="0">
              <a:buNone/>
            </a:pPr>
            <a:r>
              <a:rPr lang="en-US" sz="900" b="1" dirty="0">
                <a:solidFill>
                  <a:srgbClr val="FFFFFF"/>
                </a:solidFill>
              </a:rPr>
              <a:t>PATIENT</a:t>
            </a:r>
            <a:endParaRPr lang="en-US" sz="900" dirty="0"/>
          </a:p>
        </p:txBody>
      </p:sp>
      <p:sp>
        <p:nvSpPr>
          <p:cNvPr id="4" name="Text 2"/>
          <p:cNvSpPr/>
          <p:nvPr/>
        </p:nvSpPr>
        <p:spPr>
          <a:xfrm>
            <a:off x="457200" y="685800"/>
            <a:ext cx="8229600" cy="548640"/>
          </a:xfrm>
          <a:prstGeom prst="rect">
            <a:avLst/>
          </a:prstGeom>
          <a:noFill/>
          <a:ln/>
        </p:spPr>
        <p:txBody>
          <a:bodyPr wrap="square" lIns="0" tIns="0" rIns="0" bIns="0" rtlCol="0" anchor="ctr"/>
          <a:lstStyle/>
          <a:p>
            <a:pPr indent="0" marL="0">
              <a:buNone/>
            </a:pPr>
            <a:r>
              <a:rPr lang="en-US" sz="2600" b="1" dirty="0">
                <a:solidFill>
                  <a:srgbClr val="0D9488"/>
                </a:solidFill>
              </a:rPr>
              <a:t>Réservation en 3 Étapes</a:t>
            </a:r>
            <a:endParaRPr lang="en-US" sz="2600" dirty="0"/>
          </a:p>
        </p:txBody>
      </p:sp>
      <p:sp>
        <p:nvSpPr>
          <p:cNvPr id="5" name="Shape 3"/>
          <p:cNvSpPr/>
          <p:nvPr/>
        </p:nvSpPr>
        <p:spPr>
          <a:xfrm>
            <a:off x="0" y="685800"/>
            <a:ext cx="64008" cy="457200"/>
          </a:xfrm>
          <a:prstGeom prst="rect">
            <a:avLst/>
          </a:prstGeom>
          <a:solidFill>
            <a:srgbClr val="0D9488"/>
          </a:solidFill>
          <a:ln/>
        </p:spPr>
      </p:sp>
      <p:sp>
        <p:nvSpPr>
          <p:cNvPr id="6" name="Shape 4"/>
          <p:cNvSpPr/>
          <p:nvPr/>
        </p:nvSpPr>
        <p:spPr>
          <a:xfrm>
            <a:off x="1371600" y="1417320"/>
            <a:ext cx="502920" cy="502920"/>
          </a:xfrm>
          <a:prstGeom prst="oval">
            <a:avLst/>
          </a:prstGeom>
          <a:solidFill>
            <a:srgbClr val="0D9488"/>
          </a:solidFill>
          <a:ln/>
        </p:spPr>
      </p:sp>
      <p:sp>
        <p:nvSpPr>
          <p:cNvPr id="7" name="Text 5"/>
          <p:cNvSpPr/>
          <p:nvPr/>
        </p:nvSpPr>
        <p:spPr>
          <a:xfrm>
            <a:off x="1371600" y="14173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8" name="Shape 6"/>
          <p:cNvSpPr/>
          <p:nvPr/>
        </p:nvSpPr>
        <p:spPr>
          <a:xfrm>
            <a:off x="1892808" y="1664208"/>
            <a:ext cx="2029968" cy="0"/>
          </a:xfrm>
          <a:prstGeom prst="line">
            <a:avLst/>
          </a:prstGeom>
          <a:noFill/>
          <a:ln w="25400">
            <a:solidFill>
              <a:srgbClr val="0D9488"/>
            </a:solidFill>
            <a:prstDash val="solid"/>
          </a:ln>
        </p:spPr>
      </p:sp>
      <p:sp>
        <p:nvSpPr>
          <p:cNvPr id="9" name="Shape 7"/>
          <p:cNvSpPr/>
          <p:nvPr/>
        </p:nvSpPr>
        <p:spPr>
          <a:xfrm>
            <a:off x="3931920" y="1417320"/>
            <a:ext cx="502920" cy="502920"/>
          </a:xfrm>
          <a:prstGeom prst="oval">
            <a:avLst/>
          </a:prstGeom>
          <a:solidFill>
            <a:srgbClr val="0D9488"/>
          </a:solidFill>
          <a:ln/>
        </p:spPr>
      </p:sp>
      <p:sp>
        <p:nvSpPr>
          <p:cNvPr id="10" name="Text 8"/>
          <p:cNvSpPr/>
          <p:nvPr/>
        </p:nvSpPr>
        <p:spPr>
          <a:xfrm>
            <a:off x="3931920" y="14173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1" name="Shape 9"/>
          <p:cNvSpPr/>
          <p:nvPr/>
        </p:nvSpPr>
        <p:spPr>
          <a:xfrm>
            <a:off x="4453128" y="1664208"/>
            <a:ext cx="2029968" cy="0"/>
          </a:xfrm>
          <a:prstGeom prst="line">
            <a:avLst/>
          </a:prstGeom>
          <a:noFill/>
          <a:ln w="25400">
            <a:solidFill>
              <a:srgbClr val="0D9488"/>
            </a:solidFill>
            <a:prstDash val="solid"/>
          </a:ln>
        </p:spPr>
      </p:sp>
      <p:sp>
        <p:nvSpPr>
          <p:cNvPr id="12" name="Shape 10"/>
          <p:cNvSpPr/>
          <p:nvPr/>
        </p:nvSpPr>
        <p:spPr>
          <a:xfrm>
            <a:off x="6492240" y="1417320"/>
            <a:ext cx="502920" cy="502920"/>
          </a:xfrm>
          <a:prstGeom prst="oval">
            <a:avLst/>
          </a:prstGeom>
          <a:solidFill>
            <a:srgbClr val="0D9488"/>
          </a:solidFill>
          <a:ln/>
        </p:spPr>
      </p:sp>
      <p:sp>
        <p:nvSpPr>
          <p:cNvPr id="13" name="Text 11"/>
          <p:cNvSpPr/>
          <p:nvPr/>
        </p:nvSpPr>
        <p:spPr>
          <a:xfrm>
            <a:off x="6492240" y="14173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4" name="Shape 12"/>
          <p:cNvSpPr/>
          <p:nvPr/>
        </p:nvSpPr>
        <p:spPr>
          <a:xfrm>
            <a:off x="457200" y="2103120"/>
            <a:ext cx="2651760" cy="2697480"/>
          </a:xfrm>
          <a:prstGeom prst="rect">
            <a:avLst/>
          </a:prstGeom>
          <a:solidFill>
            <a:srgbClr val="FFFFFF"/>
          </a:solidFill>
          <a:ln/>
          <a:effectLst>
            <a:outerShdw sx="100000" sy="100000" kx="0" ky="0" algn="bl" rotWithShape="0" blurRad="101600" dist="38100" dir="8100000">
              <a:srgbClr val="000000">
                <a:alpha val="12000"/>
              </a:srgbClr>
            </a:outerShdw>
          </a:effectLst>
        </p:spPr>
      </p:sp>
      <p:pic>
        <p:nvPicPr>
          <p:cNvPr id="15" name="Image 0" descr="preencoded.png">    </p:cNvPr>
          <p:cNvPicPr>
            <a:picLocks noChangeAspect="1"/>
          </p:cNvPicPr>
          <p:nvPr/>
        </p:nvPicPr>
        <p:blipFill>
          <a:blip r:embed="rId1"/>
          <a:stretch>
            <a:fillRect/>
          </a:stretch>
        </p:blipFill>
        <p:spPr>
          <a:xfrm>
            <a:off x="1417320" y="2286000"/>
            <a:ext cx="731520" cy="731520"/>
          </a:xfrm>
          <a:prstGeom prst="rect">
            <a:avLst/>
          </a:prstGeom>
        </p:spPr>
      </p:pic>
      <p:sp>
        <p:nvSpPr>
          <p:cNvPr id="16" name="Text 13"/>
          <p:cNvSpPr/>
          <p:nvPr/>
        </p:nvSpPr>
        <p:spPr>
          <a:xfrm>
            <a:off x="594360" y="3154680"/>
            <a:ext cx="2377440" cy="384048"/>
          </a:xfrm>
          <a:prstGeom prst="rect">
            <a:avLst/>
          </a:prstGeom>
          <a:noFill/>
          <a:ln/>
        </p:spPr>
        <p:txBody>
          <a:bodyPr wrap="square" lIns="0" tIns="0" rIns="0" bIns="0" rtlCol="0" anchor="ctr"/>
          <a:lstStyle/>
          <a:p>
            <a:pPr algn="ctr" indent="0" marL="0">
              <a:buNone/>
            </a:pPr>
            <a:r>
              <a:rPr lang="en-US" sz="1300" b="1" dirty="0">
                <a:solidFill>
                  <a:srgbClr val="0D9488"/>
                </a:solidFill>
              </a:rPr>
              <a:t>Type de Visite</a:t>
            </a:r>
            <a:endParaRPr lang="en-US" sz="1300" dirty="0"/>
          </a:p>
        </p:txBody>
      </p:sp>
      <p:sp>
        <p:nvSpPr>
          <p:cNvPr id="17" name="Text 14"/>
          <p:cNvSpPr/>
          <p:nvPr/>
        </p:nvSpPr>
        <p:spPr>
          <a:xfrm>
            <a:off x="594360" y="3611880"/>
            <a:ext cx="2377440" cy="1005840"/>
          </a:xfrm>
          <a:prstGeom prst="rect">
            <a:avLst/>
          </a:prstGeom>
          <a:noFill/>
          <a:ln/>
        </p:spPr>
        <p:txBody>
          <a:bodyPr wrap="square" lIns="0" tIns="0" rIns="0" bIns="0" rtlCol="0" anchor="ctr"/>
          <a:lstStyle/>
          <a:p>
            <a:pPr algn="ctr" indent="0" marL="0">
              <a:buNone/>
            </a:pPr>
            <a:r>
              <a:rPr lang="en-US" sz="1050" dirty="0">
                <a:solidFill>
                  <a:srgbClr val="6B7280"/>
                </a:solidFill>
              </a:rPr>
              <a:t>Visite Physique en clinique</a:t>
            </a:r>
            <a:endParaRPr lang="en-US" sz="1050" dirty="0"/>
          </a:p>
          <a:p>
            <a:pPr algn="ctr" indent="0" marL="0">
              <a:buNone/>
            </a:pPr>
            <a:r>
              <a:rPr lang="en-US" sz="1050" dirty="0">
                <a:solidFill>
                  <a:srgbClr val="6B7280"/>
                </a:solidFill>
              </a:rPr>
              <a:t>ou Téléconsultation vidéo depuis chez soi</a:t>
            </a:r>
            <a:endParaRPr lang="en-US" sz="1050" dirty="0"/>
          </a:p>
        </p:txBody>
      </p:sp>
      <p:sp>
        <p:nvSpPr>
          <p:cNvPr id="18" name="Shape 15"/>
          <p:cNvSpPr/>
          <p:nvPr/>
        </p:nvSpPr>
        <p:spPr>
          <a:xfrm>
            <a:off x="3355848" y="2103120"/>
            <a:ext cx="2651760" cy="2697480"/>
          </a:xfrm>
          <a:prstGeom prst="rect">
            <a:avLst/>
          </a:prstGeom>
          <a:solidFill>
            <a:srgbClr val="FFFFFF"/>
          </a:solidFill>
          <a:ln/>
          <a:effectLst>
            <a:outerShdw sx="100000" sy="100000" kx="0" ky="0" algn="bl" rotWithShape="0" blurRad="101600" dist="38100" dir="8100000">
              <a:srgbClr val="000000">
                <a:alpha val="12000"/>
              </a:srgbClr>
            </a:outerShdw>
          </a:effectLst>
        </p:spPr>
      </p:sp>
      <p:pic>
        <p:nvPicPr>
          <p:cNvPr id="19" name="Image 1" descr="preencoded.png">    </p:cNvPr>
          <p:cNvPicPr>
            <a:picLocks noChangeAspect="1"/>
          </p:cNvPicPr>
          <p:nvPr/>
        </p:nvPicPr>
        <p:blipFill>
          <a:blip r:embed="rId2"/>
          <a:stretch>
            <a:fillRect/>
          </a:stretch>
        </p:blipFill>
        <p:spPr>
          <a:xfrm>
            <a:off x="4315968" y="2286000"/>
            <a:ext cx="731520" cy="731520"/>
          </a:xfrm>
          <a:prstGeom prst="rect">
            <a:avLst/>
          </a:prstGeom>
        </p:spPr>
      </p:pic>
      <p:sp>
        <p:nvSpPr>
          <p:cNvPr id="20" name="Text 16"/>
          <p:cNvSpPr/>
          <p:nvPr/>
        </p:nvSpPr>
        <p:spPr>
          <a:xfrm>
            <a:off x="3493008" y="3154680"/>
            <a:ext cx="2377440" cy="384048"/>
          </a:xfrm>
          <a:prstGeom prst="rect">
            <a:avLst/>
          </a:prstGeom>
          <a:noFill/>
          <a:ln/>
        </p:spPr>
        <p:txBody>
          <a:bodyPr wrap="square" lIns="0" tIns="0" rIns="0" bIns="0" rtlCol="0" anchor="ctr"/>
          <a:lstStyle/>
          <a:p>
            <a:pPr algn="ctr" indent="0" marL="0">
              <a:buNone/>
            </a:pPr>
            <a:r>
              <a:rPr lang="en-US" sz="1300" b="1" dirty="0">
                <a:solidFill>
                  <a:srgbClr val="0D9488"/>
                </a:solidFill>
              </a:rPr>
              <a:t>Date &amp; Créneau</a:t>
            </a:r>
            <a:endParaRPr lang="en-US" sz="1300" dirty="0"/>
          </a:p>
        </p:txBody>
      </p:sp>
      <p:sp>
        <p:nvSpPr>
          <p:cNvPr id="21" name="Text 17"/>
          <p:cNvSpPr/>
          <p:nvPr/>
        </p:nvSpPr>
        <p:spPr>
          <a:xfrm>
            <a:off x="3493008" y="3611880"/>
            <a:ext cx="2377440" cy="1005840"/>
          </a:xfrm>
          <a:prstGeom prst="rect">
            <a:avLst/>
          </a:prstGeom>
          <a:noFill/>
          <a:ln/>
        </p:spPr>
        <p:txBody>
          <a:bodyPr wrap="square" lIns="0" tIns="0" rIns="0" bIns="0" rtlCol="0" anchor="ctr"/>
          <a:lstStyle/>
          <a:p>
            <a:pPr algn="ctr" indent="0" marL="0">
              <a:buNone/>
            </a:pPr>
            <a:r>
              <a:rPr lang="en-US" sz="1050" dirty="0">
                <a:solidFill>
                  <a:srgbClr val="6B7280"/>
                </a:solidFill>
              </a:rPr>
              <a:t>Calendrier horizontal + créneaux matin/après-midi (créneaux pris grisés automatiquement)</a:t>
            </a:r>
            <a:endParaRPr lang="en-US" sz="1050" dirty="0"/>
          </a:p>
        </p:txBody>
      </p:sp>
      <p:sp>
        <p:nvSpPr>
          <p:cNvPr id="22" name="Shape 18"/>
          <p:cNvSpPr/>
          <p:nvPr/>
        </p:nvSpPr>
        <p:spPr>
          <a:xfrm>
            <a:off x="6254496" y="2103120"/>
            <a:ext cx="2651760" cy="2697480"/>
          </a:xfrm>
          <a:prstGeom prst="rect">
            <a:avLst/>
          </a:prstGeom>
          <a:solidFill>
            <a:srgbClr val="FFFFFF"/>
          </a:solidFill>
          <a:ln/>
          <a:effectLst>
            <a:outerShdw sx="100000" sy="100000" kx="0" ky="0" algn="bl" rotWithShape="0" blurRad="101600" dist="38100" dir="8100000">
              <a:srgbClr val="000000">
                <a:alpha val="12000"/>
              </a:srgbClr>
            </a:outerShdw>
          </a:effectLst>
        </p:spPr>
      </p:sp>
      <p:pic>
        <p:nvPicPr>
          <p:cNvPr id="23" name="Image 2" descr="preencoded.png">    </p:cNvPr>
          <p:cNvPicPr>
            <a:picLocks noChangeAspect="1"/>
          </p:cNvPicPr>
          <p:nvPr/>
        </p:nvPicPr>
        <p:blipFill>
          <a:blip r:embed="rId3"/>
          <a:stretch>
            <a:fillRect/>
          </a:stretch>
        </p:blipFill>
        <p:spPr>
          <a:xfrm>
            <a:off x="7214616" y="2286000"/>
            <a:ext cx="731520" cy="731520"/>
          </a:xfrm>
          <a:prstGeom prst="rect">
            <a:avLst/>
          </a:prstGeom>
        </p:spPr>
      </p:pic>
      <p:sp>
        <p:nvSpPr>
          <p:cNvPr id="24" name="Text 19"/>
          <p:cNvSpPr/>
          <p:nvPr/>
        </p:nvSpPr>
        <p:spPr>
          <a:xfrm>
            <a:off x="6391656" y="3154680"/>
            <a:ext cx="2377440" cy="384048"/>
          </a:xfrm>
          <a:prstGeom prst="rect">
            <a:avLst/>
          </a:prstGeom>
          <a:noFill/>
          <a:ln/>
        </p:spPr>
        <p:txBody>
          <a:bodyPr wrap="square" lIns="0" tIns="0" rIns="0" bIns="0" rtlCol="0" anchor="ctr"/>
          <a:lstStyle/>
          <a:p>
            <a:pPr algn="ctr" indent="0" marL="0">
              <a:buNone/>
            </a:pPr>
            <a:r>
              <a:rPr lang="en-US" sz="1300" b="1" dirty="0">
                <a:solidFill>
                  <a:srgbClr val="0D9488"/>
                </a:solidFill>
              </a:rPr>
              <a:t>Paiement</a:t>
            </a:r>
            <a:endParaRPr lang="en-US" sz="1300" dirty="0"/>
          </a:p>
        </p:txBody>
      </p:sp>
      <p:sp>
        <p:nvSpPr>
          <p:cNvPr id="25" name="Text 20"/>
          <p:cNvSpPr/>
          <p:nvPr/>
        </p:nvSpPr>
        <p:spPr>
          <a:xfrm>
            <a:off x="6391656" y="3611880"/>
            <a:ext cx="2377440" cy="1005840"/>
          </a:xfrm>
          <a:prstGeom prst="rect">
            <a:avLst/>
          </a:prstGeom>
          <a:noFill/>
          <a:ln/>
        </p:spPr>
        <p:txBody>
          <a:bodyPr wrap="square" lIns="0" tIns="0" rIns="0" bIns="0" rtlCol="0" anchor="ctr"/>
          <a:lstStyle/>
          <a:p>
            <a:pPr algn="ctr" indent="0" marL="0">
              <a:buNone/>
            </a:pPr>
            <a:r>
              <a:rPr lang="en-US" sz="1050" dirty="0">
                <a:solidFill>
                  <a:srgbClr val="6B7280"/>
                </a:solidFill>
              </a:rPr>
              <a:t>Récapitulatif complet + paiement sécurisé par carte bancaire · Confirmation instantanée par SMS</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DFA"/>
        </a:solidFill>
      </p:bgPr>
    </p:bg>
    <p:spTree>
      <p:nvGrpSpPr>
        <p:cNvPr id="1" name=""/>
        <p:cNvGrpSpPr/>
        <p:nvPr/>
      </p:nvGrpSpPr>
      <p:grpSpPr>
        <a:xfrm>
          <a:off x="0" y="0"/>
          <a:ext cx="0" cy="0"/>
          <a:chOff x="0" y="0"/>
          <a:chExt cx="0" cy="0"/>
        </a:xfrm>
      </p:grpSpPr>
      <p:sp>
        <p:nvSpPr>
          <p:cNvPr id="2" name="Shape 0"/>
          <p:cNvSpPr/>
          <p:nvPr/>
        </p:nvSpPr>
        <p:spPr>
          <a:xfrm>
            <a:off x="457200" y="274320"/>
            <a:ext cx="1645920" cy="274320"/>
          </a:xfrm>
          <a:prstGeom prst="rect">
            <a:avLst>
              <a:gd name="adj" fmla="val 13333"/>
            </a:avLst>
          </a:prstGeom>
          <a:solidFill>
            <a:srgbClr val="0D9488"/>
          </a:solidFill>
          <a:ln/>
        </p:spPr>
      </p:sp>
      <p:sp>
        <p:nvSpPr>
          <p:cNvPr id="3" name="Text 1"/>
          <p:cNvSpPr/>
          <p:nvPr/>
        </p:nvSpPr>
        <p:spPr>
          <a:xfrm>
            <a:off x="457200" y="274320"/>
            <a:ext cx="1645920" cy="274320"/>
          </a:xfrm>
          <a:prstGeom prst="rect">
            <a:avLst/>
          </a:prstGeom>
          <a:noFill/>
          <a:ln/>
        </p:spPr>
        <p:txBody>
          <a:bodyPr wrap="square" lIns="0" tIns="0" rIns="0" bIns="0" rtlCol="0" anchor="ctr"/>
          <a:lstStyle/>
          <a:p>
            <a:pPr algn="ctr" indent="0" marL="0">
              <a:buNone/>
            </a:pPr>
            <a:r>
              <a:rPr lang="en-US" sz="900" b="1" dirty="0">
                <a:solidFill>
                  <a:srgbClr val="FFFFFF"/>
                </a:solidFill>
              </a:rPr>
              <a:t>PATIENT</a:t>
            </a:r>
            <a:endParaRPr lang="en-US" sz="900" dirty="0"/>
          </a:p>
        </p:txBody>
      </p:sp>
      <p:sp>
        <p:nvSpPr>
          <p:cNvPr id="4" name="Text 2"/>
          <p:cNvSpPr/>
          <p:nvPr/>
        </p:nvSpPr>
        <p:spPr>
          <a:xfrm>
            <a:off x="457200" y="685800"/>
            <a:ext cx="8229600" cy="548640"/>
          </a:xfrm>
          <a:prstGeom prst="rect">
            <a:avLst/>
          </a:prstGeom>
          <a:noFill/>
          <a:ln/>
        </p:spPr>
        <p:txBody>
          <a:bodyPr wrap="square" lIns="0" tIns="0" rIns="0" bIns="0" rtlCol="0" anchor="ctr"/>
          <a:lstStyle/>
          <a:p>
            <a:pPr indent="0" marL="0">
              <a:buNone/>
            </a:pPr>
            <a:r>
              <a:rPr lang="en-US" sz="2400" b="1" dirty="0">
                <a:solidFill>
                  <a:srgbClr val="0D9488"/>
                </a:solidFill>
              </a:rPr>
              <a:t>Messagerie, Alertes &amp; Dossier Médical</a:t>
            </a:r>
            <a:endParaRPr lang="en-US" sz="2400" dirty="0"/>
          </a:p>
        </p:txBody>
      </p:sp>
      <p:sp>
        <p:nvSpPr>
          <p:cNvPr id="5" name="Shape 3"/>
          <p:cNvSpPr/>
          <p:nvPr/>
        </p:nvSpPr>
        <p:spPr>
          <a:xfrm>
            <a:off x="0" y="685800"/>
            <a:ext cx="64008" cy="457200"/>
          </a:xfrm>
          <a:prstGeom prst="rect">
            <a:avLst/>
          </a:prstGeom>
          <a:solidFill>
            <a:srgbClr val="0D9488"/>
          </a:solidFill>
          <a:ln/>
        </p:spPr>
      </p:sp>
      <p:sp>
        <p:nvSpPr>
          <p:cNvPr id="6" name="Shape 4"/>
          <p:cNvSpPr/>
          <p:nvPr/>
        </p:nvSpPr>
        <p:spPr>
          <a:xfrm>
            <a:off x="457200" y="1417320"/>
            <a:ext cx="2651760" cy="3383280"/>
          </a:xfrm>
          <a:prstGeom prst="rect">
            <a:avLst/>
          </a:prstGeom>
          <a:solidFill>
            <a:srgbClr val="FFFFFF"/>
          </a:solidFill>
          <a:ln/>
          <a:effectLst>
            <a:outerShdw sx="100000" sy="100000" kx="0" ky="0" algn="bl" rotWithShape="0" blurRad="101600" dist="38100" dir="8100000">
              <a:srgbClr val="000000">
                <a:alpha val="12000"/>
              </a:srgbClr>
            </a:outerShdw>
          </a:effectLst>
        </p:spPr>
      </p:sp>
      <p:pic>
        <p:nvPicPr>
          <p:cNvPr id="7" name="Image 0" descr="preencoded.png">    </p:cNvPr>
          <p:cNvPicPr>
            <a:picLocks noChangeAspect="1"/>
          </p:cNvPicPr>
          <p:nvPr/>
        </p:nvPicPr>
        <p:blipFill>
          <a:blip r:embed="rId1"/>
          <a:stretch>
            <a:fillRect/>
          </a:stretch>
        </p:blipFill>
        <p:spPr>
          <a:xfrm>
            <a:off x="1371600" y="1600200"/>
            <a:ext cx="777240" cy="777240"/>
          </a:xfrm>
          <a:prstGeom prst="rect">
            <a:avLst/>
          </a:prstGeom>
        </p:spPr>
      </p:pic>
      <p:sp>
        <p:nvSpPr>
          <p:cNvPr id="8" name="Text 5"/>
          <p:cNvSpPr/>
          <p:nvPr/>
        </p:nvSpPr>
        <p:spPr>
          <a:xfrm>
            <a:off x="594360" y="2514600"/>
            <a:ext cx="2377440" cy="457200"/>
          </a:xfrm>
          <a:prstGeom prst="rect">
            <a:avLst/>
          </a:prstGeom>
          <a:noFill/>
          <a:ln/>
        </p:spPr>
        <p:txBody>
          <a:bodyPr wrap="square" lIns="0" tIns="0" rIns="0" bIns="0" rtlCol="0" anchor="ctr"/>
          <a:lstStyle/>
          <a:p>
            <a:pPr algn="ctr" indent="0" marL="0">
              <a:buNone/>
            </a:pPr>
            <a:r>
              <a:rPr lang="en-US" sz="1250" b="1" dirty="0">
                <a:solidFill>
                  <a:srgbClr val="0D9488"/>
                </a:solidFill>
              </a:rPr>
              <a:t>Messagerie</a:t>
            </a:r>
            <a:endParaRPr lang="en-US" sz="1250" dirty="0"/>
          </a:p>
        </p:txBody>
      </p:sp>
      <p:sp>
        <p:nvSpPr>
          <p:cNvPr id="9" name="Text 6"/>
          <p:cNvSpPr/>
          <p:nvPr/>
        </p:nvSpPr>
        <p:spPr>
          <a:xfrm>
            <a:off x="594360" y="3063240"/>
            <a:ext cx="2377440" cy="1463040"/>
          </a:xfrm>
          <a:prstGeom prst="rect">
            <a:avLst/>
          </a:prstGeom>
          <a:noFill/>
          <a:ln/>
        </p:spPr>
        <p:txBody>
          <a:bodyPr wrap="square" lIns="0" tIns="0" rIns="0" bIns="0" rtlCol="0" anchor="ctr"/>
          <a:lstStyle/>
          <a:p>
            <a:pPr algn="ctr" indent="0" marL="0">
              <a:buNone/>
            </a:pPr>
            <a:r>
              <a:rPr lang="en-US" sz="1050" dirty="0">
                <a:solidFill>
                  <a:srgbClr val="6B7280"/>
                </a:solidFill>
              </a:rPr>
              <a:t>Communication directe avec le médecin après consultation. Historique complet des échanges.</a:t>
            </a:r>
            <a:endParaRPr lang="en-US" sz="1050" dirty="0"/>
          </a:p>
        </p:txBody>
      </p:sp>
      <p:sp>
        <p:nvSpPr>
          <p:cNvPr id="10" name="Shape 7"/>
          <p:cNvSpPr/>
          <p:nvPr/>
        </p:nvSpPr>
        <p:spPr>
          <a:xfrm>
            <a:off x="3355848" y="1417320"/>
            <a:ext cx="2651760" cy="3383280"/>
          </a:xfrm>
          <a:prstGeom prst="rect">
            <a:avLst/>
          </a:prstGeom>
          <a:solidFill>
            <a:srgbClr val="FFFFFF"/>
          </a:solidFill>
          <a:ln/>
          <a:effectLst>
            <a:outerShdw sx="100000" sy="100000" kx="0" ky="0" algn="bl" rotWithShape="0" blurRad="101600" dist="38100" dir="8100000">
              <a:srgbClr val="000000">
                <a:alpha val="12000"/>
              </a:srgbClr>
            </a:outerShdw>
          </a:effectLst>
        </p:spPr>
      </p:sp>
      <p:pic>
        <p:nvPicPr>
          <p:cNvPr id="11" name="Image 1" descr="preencoded.png">    </p:cNvPr>
          <p:cNvPicPr>
            <a:picLocks noChangeAspect="1"/>
          </p:cNvPicPr>
          <p:nvPr/>
        </p:nvPicPr>
        <p:blipFill>
          <a:blip r:embed="rId2"/>
          <a:stretch>
            <a:fillRect/>
          </a:stretch>
        </p:blipFill>
        <p:spPr>
          <a:xfrm>
            <a:off x="4270248" y="1600200"/>
            <a:ext cx="777240" cy="777240"/>
          </a:xfrm>
          <a:prstGeom prst="rect">
            <a:avLst/>
          </a:prstGeom>
        </p:spPr>
      </p:pic>
      <p:sp>
        <p:nvSpPr>
          <p:cNvPr id="12" name="Text 8"/>
          <p:cNvSpPr/>
          <p:nvPr/>
        </p:nvSpPr>
        <p:spPr>
          <a:xfrm>
            <a:off x="3493008" y="2514600"/>
            <a:ext cx="2377440" cy="457200"/>
          </a:xfrm>
          <a:prstGeom prst="rect">
            <a:avLst/>
          </a:prstGeom>
          <a:noFill/>
          <a:ln/>
        </p:spPr>
        <p:txBody>
          <a:bodyPr wrap="square" lIns="0" tIns="0" rIns="0" bIns="0" rtlCol="0" anchor="ctr"/>
          <a:lstStyle/>
          <a:p>
            <a:pPr algn="ctr" indent="0" marL="0">
              <a:buNone/>
            </a:pPr>
            <a:r>
              <a:rPr lang="en-US" sz="1250" b="1" dirty="0">
                <a:solidFill>
                  <a:srgbClr val="0D9488"/>
                </a:solidFill>
              </a:rPr>
              <a:t>Alertes &amp; Rappels</a:t>
            </a:r>
            <a:endParaRPr lang="en-US" sz="1250" dirty="0"/>
          </a:p>
        </p:txBody>
      </p:sp>
      <p:sp>
        <p:nvSpPr>
          <p:cNvPr id="13" name="Text 9"/>
          <p:cNvSpPr/>
          <p:nvPr/>
        </p:nvSpPr>
        <p:spPr>
          <a:xfrm>
            <a:off x="3493008" y="3063240"/>
            <a:ext cx="2377440" cy="1463040"/>
          </a:xfrm>
          <a:prstGeom prst="rect">
            <a:avLst/>
          </a:prstGeom>
          <a:noFill/>
          <a:ln/>
        </p:spPr>
        <p:txBody>
          <a:bodyPr wrap="square" lIns="0" tIns="0" rIns="0" bIns="0" rtlCol="0" anchor="ctr"/>
          <a:lstStyle/>
          <a:p>
            <a:pPr algn="ctr" indent="0" marL="0">
              <a:buNone/>
            </a:pPr>
            <a:r>
              <a:rPr lang="en-US" sz="1050" dirty="0">
                <a:solidFill>
                  <a:srgbClr val="6B7280"/>
                </a:solidFill>
              </a:rPr>
              <a:t>Rappels de rendez-vous automatiques et conseils santé personnalisés.</a:t>
            </a:r>
            <a:endParaRPr lang="en-US" sz="1050" dirty="0"/>
          </a:p>
        </p:txBody>
      </p:sp>
      <p:sp>
        <p:nvSpPr>
          <p:cNvPr id="14" name="Shape 10"/>
          <p:cNvSpPr/>
          <p:nvPr/>
        </p:nvSpPr>
        <p:spPr>
          <a:xfrm>
            <a:off x="6254496" y="1417320"/>
            <a:ext cx="2651760" cy="3383280"/>
          </a:xfrm>
          <a:prstGeom prst="rect">
            <a:avLst/>
          </a:prstGeom>
          <a:solidFill>
            <a:srgbClr val="FFFFFF"/>
          </a:solidFill>
          <a:ln/>
          <a:effectLst>
            <a:outerShdw sx="100000" sy="100000" kx="0" ky="0" algn="bl" rotWithShape="0" blurRad="101600" dist="38100" dir="8100000">
              <a:srgbClr val="000000">
                <a:alpha val="12000"/>
              </a:srgbClr>
            </a:outerShdw>
          </a:effectLst>
        </p:spPr>
      </p:sp>
      <p:pic>
        <p:nvPicPr>
          <p:cNvPr id="15" name="Image 2" descr="preencoded.png">    </p:cNvPr>
          <p:cNvPicPr>
            <a:picLocks noChangeAspect="1"/>
          </p:cNvPicPr>
          <p:nvPr/>
        </p:nvPicPr>
        <p:blipFill>
          <a:blip r:embed="rId3"/>
          <a:stretch>
            <a:fillRect/>
          </a:stretch>
        </p:blipFill>
        <p:spPr>
          <a:xfrm>
            <a:off x="7168896" y="1600200"/>
            <a:ext cx="777240" cy="777240"/>
          </a:xfrm>
          <a:prstGeom prst="rect">
            <a:avLst/>
          </a:prstGeom>
        </p:spPr>
      </p:pic>
      <p:sp>
        <p:nvSpPr>
          <p:cNvPr id="16" name="Text 11"/>
          <p:cNvSpPr/>
          <p:nvPr/>
        </p:nvSpPr>
        <p:spPr>
          <a:xfrm>
            <a:off x="6391656" y="2514600"/>
            <a:ext cx="2377440" cy="457200"/>
          </a:xfrm>
          <a:prstGeom prst="rect">
            <a:avLst/>
          </a:prstGeom>
          <a:noFill/>
          <a:ln/>
        </p:spPr>
        <p:txBody>
          <a:bodyPr wrap="square" lIns="0" tIns="0" rIns="0" bIns="0" rtlCol="0" anchor="ctr"/>
          <a:lstStyle/>
          <a:p>
            <a:pPr algn="ctr" indent="0" marL="0">
              <a:buNone/>
            </a:pPr>
            <a:r>
              <a:rPr lang="en-US" sz="1250" b="1" dirty="0">
                <a:solidFill>
                  <a:srgbClr val="0D9488"/>
                </a:solidFill>
              </a:rPr>
              <a:t>Dossier Médical (EHR)</a:t>
            </a:r>
            <a:endParaRPr lang="en-US" sz="1250" dirty="0"/>
          </a:p>
        </p:txBody>
      </p:sp>
      <p:sp>
        <p:nvSpPr>
          <p:cNvPr id="17" name="Text 12"/>
          <p:cNvSpPr/>
          <p:nvPr/>
        </p:nvSpPr>
        <p:spPr>
          <a:xfrm>
            <a:off x="6391656" y="3063240"/>
            <a:ext cx="2377440" cy="1463040"/>
          </a:xfrm>
          <a:prstGeom prst="rect">
            <a:avLst/>
          </a:prstGeom>
          <a:noFill/>
          <a:ln/>
        </p:spPr>
        <p:txBody>
          <a:bodyPr wrap="square" lIns="0" tIns="0" rIns="0" bIns="0" rtlCol="0" anchor="ctr"/>
          <a:lstStyle/>
          <a:p>
            <a:pPr algn="ctr" indent="0" marL="0">
              <a:buNone/>
            </a:pPr>
            <a:r>
              <a:rPr lang="en-US" sz="1050" dirty="0">
                <a:solidFill>
                  <a:srgbClr val="6B7280"/>
                </a:solidFill>
              </a:rPr>
              <a:t>Accès sécurisé aux consultations, diagnostics, ordonnances et résultats d'analyses.</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DFA"/>
        </a:solidFill>
      </p:bgPr>
    </p:bg>
    <p:spTree>
      <p:nvGrpSpPr>
        <p:cNvPr id="1" name=""/>
        <p:cNvGrpSpPr/>
        <p:nvPr/>
      </p:nvGrpSpPr>
      <p:grpSpPr>
        <a:xfrm>
          <a:off x="0" y="0"/>
          <a:ext cx="0" cy="0"/>
          <a:chOff x="0" y="0"/>
          <a:chExt cx="0" cy="0"/>
        </a:xfrm>
      </p:grpSpPr>
      <p:sp>
        <p:nvSpPr>
          <p:cNvPr id="2" name="Shape 0"/>
          <p:cNvSpPr/>
          <p:nvPr/>
        </p:nvSpPr>
        <p:spPr>
          <a:xfrm>
            <a:off x="457200" y="274320"/>
            <a:ext cx="1645920" cy="274320"/>
          </a:xfrm>
          <a:prstGeom prst="rect">
            <a:avLst>
              <a:gd name="adj" fmla="val 13333"/>
            </a:avLst>
          </a:prstGeom>
          <a:solidFill>
            <a:srgbClr val="0D9488"/>
          </a:solidFill>
          <a:ln/>
        </p:spPr>
      </p:sp>
      <p:sp>
        <p:nvSpPr>
          <p:cNvPr id="3" name="Text 1"/>
          <p:cNvSpPr/>
          <p:nvPr/>
        </p:nvSpPr>
        <p:spPr>
          <a:xfrm>
            <a:off x="457200" y="274320"/>
            <a:ext cx="1645920" cy="274320"/>
          </a:xfrm>
          <a:prstGeom prst="rect">
            <a:avLst/>
          </a:prstGeom>
          <a:noFill/>
          <a:ln/>
        </p:spPr>
        <p:txBody>
          <a:bodyPr wrap="square" lIns="0" tIns="0" rIns="0" bIns="0" rtlCol="0" anchor="ctr"/>
          <a:lstStyle/>
          <a:p>
            <a:pPr algn="ctr" indent="0" marL="0">
              <a:buNone/>
            </a:pPr>
            <a:r>
              <a:rPr lang="en-US" sz="900" b="1" dirty="0">
                <a:solidFill>
                  <a:srgbClr val="FFFFFF"/>
                </a:solidFill>
              </a:rPr>
              <a:t>MÉDECIN</a:t>
            </a:r>
            <a:endParaRPr lang="en-US" sz="900" dirty="0"/>
          </a:p>
        </p:txBody>
      </p:sp>
      <p:sp>
        <p:nvSpPr>
          <p:cNvPr id="4" name="Text 2"/>
          <p:cNvSpPr/>
          <p:nvPr/>
        </p:nvSpPr>
        <p:spPr>
          <a:xfrm>
            <a:off x="457200" y="685800"/>
            <a:ext cx="8229600" cy="548640"/>
          </a:xfrm>
          <a:prstGeom prst="rect">
            <a:avLst/>
          </a:prstGeom>
          <a:noFill/>
          <a:ln/>
        </p:spPr>
        <p:txBody>
          <a:bodyPr wrap="square" lIns="0" tIns="0" rIns="0" bIns="0" rtlCol="0" anchor="ctr"/>
          <a:lstStyle/>
          <a:p>
            <a:pPr indent="0" marL="0">
              <a:buNone/>
            </a:pPr>
            <a:r>
              <a:rPr lang="en-US" sz="2800" b="1" dirty="0">
                <a:solidFill>
                  <a:srgbClr val="0D9488"/>
                </a:solidFill>
              </a:rPr>
              <a:t>Inscription du Médecin</a:t>
            </a:r>
            <a:endParaRPr lang="en-US" sz="2800" dirty="0"/>
          </a:p>
        </p:txBody>
      </p:sp>
      <p:sp>
        <p:nvSpPr>
          <p:cNvPr id="5" name="Shape 3"/>
          <p:cNvSpPr/>
          <p:nvPr/>
        </p:nvSpPr>
        <p:spPr>
          <a:xfrm>
            <a:off x="0" y="685800"/>
            <a:ext cx="64008" cy="457200"/>
          </a:xfrm>
          <a:prstGeom prst="rect">
            <a:avLst/>
          </a:prstGeom>
          <a:solidFill>
            <a:srgbClr val="0D9488"/>
          </a:solidFill>
          <a:ln/>
        </p:spPr>
      </p:sp>
      <p:sp>
        <p:nvSpPr>
          <p:cNvPr id="6" name="Text 4"/>
          <p:cNvSpPr/>
          <p:nvPr/>
        </p:nvSpPr>
        <p:spPr>
          <a:xfrm>
            <a:off x="457200" y="1371600"/>
            <a:ext cx="8229600" cy="320040"/>
          </a:xfrm>
          <a:prstGeom prst="rect">
            <a:avLst/>
          </a:prstGeom>
          <a:noFill/>
          <a:ln/>
        </p:spPr>
        <p:txBody>
          <a:bodyPr wrap="square" lIns="0" tIns="0" rIns="0" bIns="0" rtlCol="0" anchor="ctr"/>
          <a:lstStyle/>
          <a:p>
            <a:pPr indent="0" marL="0">
              <a:buNone/>
            </a:pPr>
            <a:r>
              <a:rPr lang="en-US" sz="1300" dirty="0">
                <a:solidFill>
                  <a:srgbClr val="134E4A"/>
                </a:solidFill>
              </a:rPr>
              <a:t>L'inscription se fait en 2 étapes claires :</a:t>
            </a:r>
            <a:endParaRPr lang="en-US" sz="1300" dirty="0"/>
          </a:p>
        </p:txBody>
      </p:sp>
      <p:sp>
        <p:nvSpPr>
          <p:cNvPr id="7" name="Shape 5"/>
          <p:cNvSpPr/>
          <p:nvPr/>
        </p:nvSpPr>
        <p:spPr>
          <a:xfrm>
            <a:off x="457200" y="1828800"/>
            <a:ext cx="4023360" cy="29260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8" name="Shape 6"/>
          <p:cNvSpPr/>
          <p:nvPr/>
        </p:nvSpPr>
        <p:spPr>
          <a:xfrm>
            <a:off x="640080" y="1920240"/>
            <a:ext cx="457200" cy="457200"/>
          </a:xfrm>
          <a:prstGeom prst="oval">
            <a:avLst/>
          </a:prstGeom>
          <a:solidFill>
            <a:srgbClr val="0D9488"/>
          </a:solidFill>
          <a:ln/>
        </p:spPr>
      </p:sp>
      <p:sp>
        <p:nvSpPr>
          <p:cNvPr id="9" name="Text 7"/>
          <p:cNvSpPr/>
          <p:nvPr/>
        </p:nvSpPr>
        <p:spPr>
          <a:xfrm>
            <a:off x="640080" y="1920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10" name="Text 8"/>
          <p:cNvSpPr/>
          <p:nvPr/>
        </p:nvSpPr>
        <p:spPr>
          <a:xfrm>
            <a:off x="1188720" y="1938528"/>
            <a:ext cx="3108960" cy="365760"/>
          </a:xfrm>
          <a:prstGeom prst="rect">
            <a:avLst/>
          </a:prstGeom>
          <a:noFill/>
          <a:ln/>
        </p:spPr>
        <p:txBody>
          <a:bodyPr wrap="square" lIns="0" tIns="0" rIns="0" bIns="0" rtlCol="0" anchor="ctr"/>
          <a:lstStyle/>
          <a:p>
            <a:pPr indent="0" marL="0">
              <a:buNone/>
            </a:pPr>
            <a:r>
              <a:rPr lang="en-US" sz="1400" b="1" dirty="0">
                <a:solidFill>
                  <a:srgbClr val="0D9488"/>
                </a:solidFill>
              </a:rPr>
              <a:t>Informations Personnelles</a:t>
            </a:r>
            <a:endParaRPr lang="en-US" sz="1400" dirty="0"/>
          </a:p>
        </p:txBody>
      </p:sp>
      <p:sp>
        <p:nvSpPr>
          <p:cNvPr id="11" name="Shape 9"/>
          <p:cNvSpPr/>
          <p:nvPr/>
        </p:nvSpPr>
        <p:spPr>
          <a:xfrm>
            <a:off x="640080" y="2542032"/>
            <a:ext cx="91440" cy="91440"/>
          </a:xfrm>
          <a:prstGeom prst="oval">
            <a:avLst/>
          </a:prstGeom>
          <a:solidFill>
            <a:srgbClr val="0D9488"/>
          </a:solidFill>
          <a:ln/>
        </p:spPr>
      </p:sp>
      <p:sp>
        <p:nvSpPr>
          <p:cNvPr id="12" name="Text 10"/>
          <p:cNvSpPr/>
          <p:nvPr/>
        </p:nvSpPr>
        <p:spPr>
          <a:xfrm>
            <a:off x="804672" y="2468880"/>
            <a:ext cx="3493008" cy="292608"/>
          </a:xfrm>
          <a:prstGeom prst="rect">
            <a:avLst/>
          </a:prstGeom>
          <a:noFill/>
          <a:ln/>
        </p:spPr>
        <p:txBody>
          <a:bodyPr wrap="square" lIns="0" tIns="0" rIns="0" bIns="0" rtlCol="0" anchor="ctr"/>
          <a:lstStyle/>
          <a:p>
            <a:pPr indent="0" marL="0">
              <a:buNone/>
            </a:pPr>
            <a:r>
              <a:rPr lang="en-US" sz="1200" dirty="0">
                <a:solidFill>
                  <a:srgbClr val="134E4A"/>
                </a:solidFill>
              </a:rPr>
              <a:t>Nom complet</a:t>
            </a:r>
            <a:endParaRPr lang="en-US" sz="1200" dirty="0"/>
          </a:p>
        </p:txBody>
      </p:sp>
      <p:sp>
        <p:nvSpPr>
          <p:cNvPr id="13" name="Shape 11"/>
          <p:cNvSpPr/>
          <p:nvPr/>
        </p:nvSpPr>
        <p:spPr>
          <a:xfrm>
            <a:off x="640080" y="2889504"/>
            <a:ext cx="91440" cy="91440"/>
          </a:xfrm>
          <a:prstGeom prst="oval">
            <a:avLst/>
          </a:prstGeom>
          <a:solidFill>
            <a:srgbClr val="0D9488"/>
          </a:solidFill>
          <a:ln/>
        </p:spPr>
      </p:sp>
      <p:sp>
        <p:nvSpPr>
          <p:cNvPr id="14" name="Text 12"/>
          <p:cNvSpPr/>
          <p:nvPr/>
        </p:nvSpPr>
        <p:spPr>
          <a:xfrm>
            <a:off x="804672" y="2816352"/>
            <a:ext cx="3493008" cy="292608"/>
          </a:xfrm>
          <a:prstGeom prst="rect">
            <a:avLst/>
          </a:prstGeom>
          <a:noFill/>
          <a:ln/>
        </p:spPr>
        <p:txBody>
          <a:bodyPr wrap="square" lIns="0" tIns="0" rIns="0" bIns="0" rtlCol="0" anchor="ctr"/>
          <a:lstStyle/>
          <a:p>
            <a:pPr indent="0" marL="0">
              <a:buNone/>
            </a:pPr>
            <a:r>
              <a:rPr lang="en-US" sz="1200" dirty="0">
                <a:solidFill>
                  <a:srgbClr val="134E4A"/>
                </a:solidFill>
              </a:rPr>
              <a:t>Numéro de téléphone (+213)</a:t>
            </a:r>
            <a:endParaRPr lang="en-US" sz="1200" dirty="0"/>
          </a:p>
        </p:txBody>
      </p:sp>
      <p:sp>
        <p:nvSpPr>
          <p:cNvPr id="15" name="Shape 13"/>
          <p:cNvSpPr/>
          <p:nvPr/>
        </p:nvSpPr>
        <p:spPr>
          <a:xfrm>
            <a:off x="640080" y="3236976"/>
            <a:ext cx="91440" cy="91440"/>
          </a:xfrm>
          <a:prstGeom prst="oval">
            <a:avLst/>
          </a:prstGeom>
          <a:solidFill>
            <a:srgbClr val="0D9488"/>
          </a:solidFill>
          <a:ln/>
        </p:spPr>
      </p:sp>
      <p:sp>
        <p:nvSpPr>
          <p:cNvPr id="16" name="Text 14"/>
          <p:cNvSpPr/>
          <p:nvPr/>
        </p:nvSpPr>
        <p:spPr>
          <a:xfrm>
            <a:off x="804672" y="3163824"/>
            <a:ext cx="3493008" cy="292608"/>
          </a:xfrm>
          <a:prstGeom prst="rect">
            <a:avLst/>
          </a:prstGeom>
          <a:noFill/>
          <a:ln/>
        </p:spPr>
        <p:txBody>
          <a:bodyPr wrap="square" lIns="0" tIns="0" rIns="0" bIns="0" rtlCol="0" anchor="ctr"/>
          <a:lstStyle/>
          <a:p>
            <a:pPr indent="0" marL="0">
              <a:buNone/>
            </a:pPr>
            <a:r>
              <a:rPr lang="en-US" sz="1200" dirty="0">
                <a:solidFill>
                  <a:srgbClr val="134E4A"/>
                </a:solidFill>
              </a:rPr>
              <a:t>Adresse e-mail professionnelle</a:t>
            </a:r>
            <a:endParaRPr lang="en-US" sz="1200" dirty="0"/>
          </a:p>
        </p:txBody>
      </p:sp>
      <p:sp>
        <p:nvSpPr>
          <p:cNvPr id="17" name="Shape 15"/>
          <p:cNvSpPr/>
          <p:nvPr/>
        </p:nvSpPr>
        <p:spPr>
          <a:xfrm>
            <a:off x="640080" y="3584448"/>
            <a:ext cx="91440" cy="91440"/>
          </a:xfrm>
          <a:prstGeom prst="oval">
            <a:avLst/>
          </a:prstGeom>
          <a:solidFill>
            <a:srgbClr val="0D9488"/>
          </a:solidFill>
          <a:ln/>
        </p:spPr>
      </p:sp>
      <p:sp>
        <p:nvSpPr>
          <p:cNvPr id="18" name="Text 16"/>
          <p:cNvSpPr/>
          <p:nvPr/>
        </p:nvSpPr>
        <p:spPr>
          <a:xfrm>
            <a:off x="804672" y="3511296"/>
            <a:ext cx="3493008" cy="292608"/>
          </a:xfrm>
          <a:prstGeom prst="rect">
            <a:avLst/>
          </a:prstGeom>
          <a:noFill/>
          <a:ln/>
        </p:spPr>
        <p:txBody>
          <a:bodyPr wrap="square" lIns="0" tIns="0" rIns="0" bIns="0" rtlCol="0" anchor="ctr"/>
          <a:lstStyle/>
          <a:p>
            <a:pPr indent="0" marL="0">
              <a:buNone/>
            </a:pPr>
            <a:r>
              <a:rPr lang="en-US" sz="1200" dirty="0">
                <a:solidFill>
                  <a:srgbClr val="134E4A"/>
                </a:solidFill>
              </a:rPr>
              <a:t>Spécialisation médicale</a:t>
            </a:r>
            <a:endParaRPr lang="en-US" sz="1200" dirty="0"/>
          </a:p>
        </p:txBody>
      </p:sp>
      <p:sp>
        <p:nvSpPr>
          <p:cNvPr id="19" name="Shape 17"/>
          <p:cNvSpPr/>
          <p:nvPr/>
        </p:nvSpPr>
        <p:spPr>
          <a:xfrm>
            <a:off x="640080" y="3931920"/>
            <a:ext cx="91440" cy="91440"/>
          </a:xfrm>
          <a:prstGeom prst="oval">
            <a:avLst/>
          </a:prstGeom>
          <a:solidFill>
            <a:srgbClr val="0D9488"/>
          </a:solidFill>
          <a:ln/>
        </p:spPr>
      </p:sp>
      <p:sp>
        <p:nvSpPr>
          <p:cNvPr id="20" name="Text 18"/>
          <p:cNvSpPr/>
          <p:nvPr/>
        </p:nvSpPr>
        <p:spPr>
          <a:xfrm>
            <a:off x="804672" y="3858768"/>
            <a:ext cx="3493008" cy="292608"/>
          </a:xfrm>
          <a:prstGeom prst="rect">
            <a:avLst/>
          </a:prstGeom>
          <a:noFill/>
          <a:ln/>
        </p:spPr>
        <p:txBody>
          <a:bodyPr wrap="square" lIns="0" tIns="0" rIns="0" bIns="0" rtlCol="0" anchor="ctr"/>
          <a:lstStyle/>
          <a:p>
            <a:pPr indent="0" marL="0">
              <a:buNone/>
            </a:pPr>
            <a:r>
              <a:rPr lang="en-US" sz="1200" dirty="0">
                <a:solidFill>
                  <a:srgbClr val="134E4A"/>
                </a:solidFill>
              </a:rPr>
              <a:t>Numéro de licence</a:t>
            </a:r>
            <a:endParaRPr lang="en-US" sz="1200" dirty="0"/>
          </a:p>
        </p:txBody>
      </p:sp>
      <p:sp>
        <p:nvSpPr>
          <p:cNvPr id="21" name="Shape 19"/>
          <p:cNvSpPr/>
          <p:nvPr/>
        </p:nvSpPr>
        <p:spPr>
          <a:xfrm>
            <a:off x="640080" y="4279392"/>
            <a:ext cx="91440" cy="91440"/>
          </a:xfrm>
          <a:prstGeom prst="oval">
            <a:avLst/>
          </a:prstGeom>
          <a:solidFill>
            <a:srgbClr val="0D9488"/>
          </a:solidFill>
          <a:ln/>
        </p:spPr>
      </p:sp>
      <p:sp>
        <p:nvSpPr>
          <p:cNvPr id="22" name="Text 20"/>
          <p:cNvSpPr/>
          <p:nvPr/>
        </p:nvSpPr>
        <p:spPr>
          <a:xfrm>
            <a:off x="804672" y="4206240"/>
            <a:ext cx="3493008" cy="292608"/>
          </a:xfrm>
          <a:prstGeom prst="rect">
            <a:avLst/>
          </a:prstGeom>
          <a:noFill/>
          <a:ln/>
        </p:spPr>
        <p:txBody>
          <a:bodyPr wrap="square" lIns="0" tIns="0" rIns="0" bIns="0" rtlCol="0" anchor="ctr"/>
          <a:lstStyle/>
          <a:p>
            <a:pPr indent="0" marL="0">
              <a:buNone/>
            </a:pPr>
            <a:r>
              <a:rPr lang="en-US" sz="1200" dirty="0">
                <a:solidFill>
                  <a:srgbClr val="134E4A"/>
                </a:solidFill>
              </a:rPr>
              <a:t>Mot de passe</a:t>
            </a:r>
            <a:endParaRPr lang="en-US" sz="1200" dirty="0"/>
          </a:p>
        </p:txBody>
      </p:sp>
      <p:sp>
        <p:nvSpPr>
          <p:cNvPr id="23" name="Shape 21"/>
          <p:cNvSpPr/>
          <p:nvPr/>
        </p:nvSpPr>
        <p:spPr>
          <a:xfrm>
            <a:off x="4663440" y="1828800"/>
            <a:ext cx="4023360" cy="29260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4" name="Shape 22"/>
          <p:cNvSpPr/>
          <p:nvPr/>
        </p:nvSpPr>
        <p:spPr>
          <a:xfrm>
            <a:off x="4846320" y="1920240"/>
            <a:ext cx="457200" cy="457200"/>
          </a:xfrm>
          <a:prstGeom prst="oval">
            <a:avLst/>
          </a:prstGeom>
          <a:solidFill>
            <a:srgbClr val="0D9488"/>
          </a:solidFill>
          <a:ln/>
        </p:spPr>
      </p:sp>
      <p:sp>
        <p:nvSpPr>
          <p:cNvPr id="25" name="Text 23"/>
          <p:cNvSpPr/>
          <p:nvPr/>
        </p:nvSpPr>
        <p:spPr>
          <a:xfrm>
            <a:off x="4846320" y="1920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26" name="Text 24"/>
          <p:cNvSpPr/>
          <p:nvPr/>
        </p:nvSpPr>
        <p:spPr>
          <a:xfrm>
            <a:off x="5394960" y="1938528"/>
            <a:ext cx="3108960" cy="365760"/>
          </a:xfrm>
          <a:prstGeom prst="rect">
            <a:avLst/>
          </a:prstGeom>
          <a:noFill/>
          <a:ln/>
        </p:spPr>
        <p:txBody>
          <a:bodyPr wrap="square" lIns="0" tIns="0" rIns="0" bIns="0" rtlCol="0" anchor="ctr"/>
          <a:lstStyle/>
          <a:p>
            <a:pPr indent="0" marL="0">
              <a:buNone/>
            </a:pPr>
            <a:r>
              <a:rPr lang="en-US" sz="1400" b="1" dirty="0">
                <a:solidFill>
                  <a:srgbClr val="0D9488"/>
                </a:solidFill>
              </a:rPr>
              <a:t>Localisation du Cabinet</a:t>
            </a:r>
            <a:endParaRPr lang="en-US" sz="1400" dirty="0"/>
          </a:p>
        </p:txBody>
      </p:sp>
      <p:pic>
        <p:nvPicPr>
          <p:cNvPr id="27" name="Image 0" descr="preencoded.png">    </p:cNvPr>
          <p:cNvPicPr>
            <a:picLocks noChangeAspect="1"/>
          </p:cNvPicPr>
          <p:nvPr/>
        </p:nvPicPr>
        <p:blipFill>
          <a:blip r:embed="rId1"/>
          <a:stretch>
            <a:fillRect/>
          </a:stretch>
        </p:blipFill>
        <p:spPr>
          <a:xfrm>
            <a:off x="5943600" y="2514600"/>
            <a:ext cx="1097280" cy="1097280"/>
          </a:xfrm>
          <a:prstGeom prst="rect">
            <a:avLst/>
          </a:prstGeom>
        </p:spPr>
      </p:pic>
      <p:sp>
        <p:nvSpPr>
          <p:cNvPr id="28" name="Text 25"/>
          <p:cNvSpPr/>
          <p:nvPr/>
        </p:nvSpPr>
        <p:spPr>
          <a:xfrm>
            <a:off x="4754880" y="3749040"/>
            <a:ext cx="3749040" cy="868680"/>
          </a:xfrm>
          <a:prstGeom prst="rect">
            <a:avLst/>
          </a:prstGeom>
          <a:noFill/>
          <a:ln/>
        </p:spPr>
        <p:txBody>
          <a:bodyPr wrap="square" lIns="0" tIns="0" rIns="0" bIns="0" rtlCol="0" anchor="ctr"/>
          <a:lstStyle/>
          <a:p>
            <a:pPr indent="0" marL="0">
              <a:buNone/>
            </a:pPr>
            <a:r>
              <a:rPr lang="en-US" sz="1100" dirty="0">
                <a:solidFill>
                  <a:srgbClr val="6B7280"/>
                </a:solidFill>
              </a:rPr>
              <a:t>Positionnement sur carte interactive ou saisie manuelle de l'adresse pour que les patients localisent facilement le cabinet.</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DFA"/>
        </a:solidFill>
      </p:bgPr>
    </p:bg>
    <p:spTree>
      <p:nvGrpSpPr>
        <p:cNvPr id="1" name=""/>
        <p:cNvGrpSpPr/>
        <p:nvPr/>
      </p:nvGrpSpPr>
      <p:grpSpPr>
        <a:xfrm>
          <a:off x="0" y="0"/>
          <a:ext cx="0" cy="0"/>
          <a:chOff x="0" y="0"/>
          <a:chExt cx="0" cy="0"/>
        </a:xfrm>
      </p:grpSpPr>
      <p:sp>
        <p:nvSpPr>
          <p:cNvPr id="2" name="Shape 0"/>
          <p:cNvSpPr/>
          <p:nvPr/>
        </p:nvSpPr>
        <p:spPr>
          <a:xfrm>
            <a:off x="457200" y="274320"/>
            <a:ext cx="1645920" cy="274320"/>
          </a:xfrm>
          <a:prstGeom prst="rect">
            <a:avLst>
              <a:gd name="adj" fmla="val 13333"/>
            </a:avLst>
          </a:prstGeom>
          <a:solidFill>
            <a:srgbClr val="0D9488"/>
          </a:solidFill>
          <a:ln/>
        </p:spPr>
      </p:sp>
      <p:sp>
        <p:nvSpPr>
          <p:cNvPr id="3" name="Text 1"/>
          <p:cNvSpPr/>
          <p:nvPr/>
        </p:nvSpPr>
        <p:spPr>
          <a:xfrm>
            <a:off x="457200" y="274320"/>
            <a:ext cx="1645920" cy="274320"/>
          </a:xfrm>
          <a:prstGeom prst="rect">
            <a:avLst/>
          </a:prstGeom>
          <a:noFill/>
          <a:ln/>
        </p:spPr>
        <p:txBody>
          <a:bodyPr wrap="square" lIns="0" tIns="0" rIns="0" bIns="0" rtlCol="0" anchor="ctr"/>
          <a:lstStyle/>
          <a:p>
            <a:pPr algn="ctr" indent="0" marL="0">
              <a:buNone/>
            </a:pPr>
            <a:r>
              <a:rPr lang="en-US" sz="900" b="1" dirty="0">
                <a:solidFill>
                  <a:srgbClr val="FFFFFF"/>
                </a:solidFill>
              </a:rPr>
              <a:t>MÉDECIN</a:t>
            </a:r>
            <a:endParaRPr lang="en-US" sz="900" dirty="0"/>
          </a:p>
        </p:txBody>
      </p:sp>
      <p:sp>
        <p:nvSpPr>
          <p:cNvPr id="4" name="Text 2"/>
          <p:cNvSpPr/>
          <p:nvPr/>
        </p:nvSpPr>
        <p:spPr>
          <a:xfrm>
            <a:off x="457200" y="685800"/>
            <a:ext cx="8229600" cy="548640"/>
          </a:xfrm>
          <a:prstGeom prst="rect">
            <a:avLst/>
          </a:prstGeom>
          <a:noFill/>
          <a:ln/>
        </p:spPr>
        <p:txBody>
          <a:bodyPr wrap="square" lIns="0" tIns="0" rIns="0" bIns="0" rtlCol="0" anchor="ctr"/>
          <a:lstStyle/>
          <a:p>
            <a:pPr indent="0" marL="0">
              <a:buNone/>
            </a:pPr>
            <a:r>
              <a:rPr lang="en-US" sz="2800" b="1" dirty="0">
                <a:solidFill>
                  <a:srgbClr val="0D9488"/>
                </a:solidFill>
              </a:rPr>
              <a:t>Dashboard Médecin</a:t>
            </a:r>
            <a:endParaRPr lang="en-US" sz="2800" dirty="0"/>
          </a:p>
        </p:txBody>
      </p:sp>
      <p:sp>
        <p:nvSpPr>
          <p:cNvPr id="5" name="Shape 3"/>
          <p:cNvSpPr/>
          <p:nvPr/>
        </p:nvSpPr>
        <p:spPr>
          <a:xfrm>
            <a:off x="0" y="685800"/>
            <a:ext cx="64008" cy="457200"/>
          </a:xfrm>
          <a:prstGeom prst="rect">
            <a:avLst/>
          </a:prstGeom>
          <a:solidFill>
            <a:srgbClr val="0D9488"/>
          </a:solidFill>
          <a:ln/>
        </p:spPr>
      </p:sp>
      <p:sp>
        <p:nvSpPr>
          <p:cNvPr id="6" name="Shape 4"/>
          <p:cNvSpPr/>
          <p:nvPr/>
        </p:nvSpPr>
        <p:spPr>
          <a:xfrm>
            <a:off x="457200" y="1417320"/>
            <a:ext cx="2651760" cy="1280160"/>
          </a:xfrm>
          <a:prstGeom prst="rect">
            <a:avLst/>
          </a:prstGeom>
          <a:solidFill>
            <a:srgbClr val="FFFFFF"/>
          </a:solidFill>
          <a:ln/>
          <a:effectLst>
            <a:outerShdw sx="100000" sy="100000" kx="0" ky="0" algn="bl" rotWithShape="0" blurRad="101600" dist="38100" dir="8100000">
              <a:srgbClr val="000000">
                <a:alpha val="12000"/>
              </a:srgbClr>
            </a:outerShdw>
          </a:effectLst>
        </p:spPr>
      </p:sp>
      <p:pic>
        <p:nvPicPr>
          <p:cNvPr id="7" name="Image 0" descr="preencoded.png">    </p:cNvPr>
          <p:cNvPicPr>
            <a:picLocks noChangeAspect="1"/>
          </p:cNvPicPr>
          <p:nvPr/>
        </p:nvPicPr>
        <p:blipFill>
          <a:blip r:embed="rId1"/>
          <a:stretch>
            <a:fillRect/>
          </a:stretch>
        </p:blipFill>
        <p:spPr>
          <a:xfrm>
            <a:off x="594360" y="1828800"/>
            <a:ext cx="365760" cy="365760"/>
          </a:xfrm>
          <a:prstGeom prst="rect">
            <a:avLst/>
          </a:prstGeom>
        </p:spPr>
      </p:pic>
      <p:sp>
        <p:nvSpPr>
          <p:cNvPr id="8" name="Text 5"/>
          <p:cNvSpPr/>
          <p:nvPr/>
        </p:nvSpPr>
        <p:spPr>
          <a:xfrm>
            <a:off x="1005840" y="1600200"/>
            <a:ext cx="2011680" cy="502920"/>
          </a:xfrm>
          <a:prstGeom prst="rect">
            <a:avLst/>
          </a:prstGeom>
          <a:noFill/>
          <a:ln/>
        </p:spPr>
        <p:txBody>
          <a:bodyPr wrap="square" lIns="0" tIns="0" rIns="0" bIns="0" rtlCol="0" anchor="ctr"/>
          <a:lstStyle/>
          <a:p>
            <a:pPr algn="l" indent="0" marL="0">
              <a:buNone/>
            </a:pPr>
            <a:r>
              <a:rPr lang="en-US" sz="3000" b="1" dirty="0">
                <a:solidFill>
                  <a:srgbClr val="0D9488"/>
                </a:solidFill>
              </a:rPr>
              <a:t>12</a:t>
            </a:r>
            <a:endParaRPr lang="en-US" sz="3000" dirty="0"/>
          </a:p>
        </p:txBody>
      </p:sp>
      <p:sp>
        <p:nvSpPr>
          <p:cNvPr id="9" name="Text 6"/>
          <p:cNvSpPr/>
          <p:nvPr/>
        </p:nvSpPr>
        <p:spPr>
          <a:xfrm>
            <a:off x="1005840" y="2103120"/>
            <a:ext cx="2011680" cy="365760"/>
          </a:xfrm>
          <a:prstGeom prst="rect">
            <a:avLst/>
          </a:prstGeom>
          <a:noFill/>
          <a:ln/>
        </p:spPr>
        <p:txBody>
          <a:bodyPr wrap="square" lIns="0" tIns="0" rIns="0" bIns="0" rtlCol="0" anchor="ctr"/>
          <a:lstStyle/>
          <a:p>
            <a:pPr algn="l" indent="0" marL="0">
              <a:buNone/>
            </a:pPr>
            <a:r>
              <a:rPr lang="en-US" sz="1100" dirty="0">
                <a:solidFill>
                  <a:srgbClr val="6B7280"/>
                </a:solidFill>
              </a:rPr>
              <a:t>Patients aujourd'hui</a:t>
            </a:r>
            <a:endParaRPr lang="en-US" sz="1100" dirty="0"/>
          </a:p>
        </p:txBody>
      </p:sp>
      <p:sp>
        <p:nvSpPr>
          <p:cNvPr id="10" name="Shape 7"/>
          <p:cNvSpPr/>
          <p:nvPr/>
        </p:nvSpPr>
        <p:spPr>
          <a:xfrm>
            <a:off x="3355848" y="1417320"/>
            <a:ext cx="2651760" cy="1280160"/>
          </a:xfrm>
          <a:prstGeom prst="rect">
            <a:avLst/>
          </a:prstGeom>
          <a:solidFill>
            <a:srgbClr val="FFFFFF"/>
          </a:solidFill>
          <a:ln/>
          <a:effectLst>
            <a:outerShdw sx="100000" sy="100000" kx="0" ky="0" algn="bl" rotWithShape="0" blurRad="101600" dist="38100" dir="8100000">
              <a:srgbClr val="000000">
                <a:alpha val="12000"/>
              </a:srgbClr>
            </a:outerShdw>
          </a:effectLst>
        </p:spPr>
      </p:sp>
      <p:pic>
        <p:nvPicPr>
          <p:cNvPr id="11" name="Image 1" descr="preencoded.png">    </p:cNvPr>
          <p:cNvPicPr>
            <a:picLocks noChangeAspect="1"/>
          </p:cNvPicPr>
          <p:nvPr/>
        </p:nvPicPr>
        <p:blipFill>
          <a:blip r:embed="rId2"/>
          <a:stretch>
            <a:fillRect/>
          </a:stretch>
        </p:blipFill>
        <p:spPr>
          <a:xfrm>
            <a:off x="3493008" y="1828800"/>
            <a:ext cx="365760" cy="365760"/>
          </a:xfrm>
          <a:prstGeom prst="rect">
            <a:avLst/>
          </a:prstGeom>
        </p:spPr>
      </p:pic>
      <p:sp>
        <p:nvSpPr>
          <p:cNvPr id="12" name="Text 8"/>
          <p:cNvSpPr/>
          <p:nvPr/>
        </p:nvSpPr>
        <p:spPr>
          <a:xfrm>
            <a:off x="3904488" y="1600200"/>
            <a:ext cx="2011680" cy="502920"/>
          </a:xfrm>
          <a:prstGeom prst="rect">
            <a:avLst/>
          </a:prstGeom>
          <a:noFill/>
          <a:ln/>
        </p:spPr>
        <p:txBody>
          <a:bodyPr wrap="square" lIns="0" tIns="0" rIns="0" bIns="0" rtlCol="0" anchor="ctr"/>
          <a:lstStyle/>
          <a:p>
            <a:pPr algn="l" indent="0" marL="0">
              <a:buNone/>
            </a:pPr>
            <a:r>
              <a:rPr lang="en-US" sz="3000" b="1" dirty="0">
                <a:solidFill>
                  <a:srgbClr val="0D9488"/>
                </a:solidFill>
              </a:rPr>
              <a:t>4</a:t>
            </a:r>
            <a:endParaRPr lang="en-US" sz="3000" dirty="0"/>
          </a:p>
        </p:txBody>
      </p:sp>
      <p:sp>
        <p:nvSpPr>
          <p:cNvPr id="13" name="Text 9"/>
          <p:cNvSpPr/>
          <p:nvPr/>
        </p:nvSpPr>
        <p:spPr>
          <a:xfrm>
            <a:off x="3904488" y="2103120"/>
            <a:ext cx="2011680" cy="365760"/>
          </a:xfrm>
          <a:prstGeom prst="rect">
            <a:avLst/>
          </a:prstGeom>
          <a:noFill/>
          <a:ln/>
        </p:spPr>
        <p:txBody>
          <a:bodyPr wrap="square" lIns="0" tIns="0" rIns="0" bIns="0" rtlCol="0" anchor="ctr"/>
          <a:lstStyle/>
          <a:p>
            <a:pPr algn="l" indent="0" marL="0">
              <a:buNone/>
            </a:pPr>
            <a:r>
              <a:rPr lang="en-US" sz="1100" dirty="0">
                <a:solidFill>
                  <a:srgbClr val="6B7280"/>
                </a:solidFill>
              </a:rPr>
              <a:t>File d'attente</a:t>
            </a:r>
            <a:endParaRPr lang="en-US" sz="1100" dirty="0"/>
          </a:p>
        </p:txBody>
      </p:sp>
      <p:sp>
        <p:nvSpPr>
          <p:cNvPr id="14" name="Shape 10"/>
          <p:cNvSpPr/>
          <p:nvPr/>
        </p:nvSpPr>
        <p:spPr>
          <a:xfrm>
            <a:off x="6254496" y="1417320"/>
            <a:ext cx="2651760" cy="1280160"/>
          </a:xfrm>
          <a:prstGeom prst="rect">
            <a:avLst/>
          </a:prstGeom>
          <a:solidFill>
            <a:srgbClr val="FFFFFF"/>
          </a:solidFill>
          <a:ln/>
          <a:effectLst>
            <a:outerShdw sx="100000" sy="100000" kx="0" ky="0" algn="bl" rotWithShape="0" blurRad="101600" dist="38100" dir="8100000">
              <a:srgbClr val="000000">
                <a:alpha val="12000"/>
              </a:srgbClr>
            </a:outerShdw>
          </a:effectLst>
        </p:spPr>
      </p:sp>
      <p:pic>
        <p:nvPicPr>
          <p:cNvPr id="15" name="Image 2" descr="preencoded.png">    </p:cNvPr>
          <p:cNvPicPr>
            <a:picLocks noChangeAspect="1"/>
          </p:cNvPicPr>
          <p:nvPr/>
        </p:nvPicPr>
        <p:blipFill>
          <a:blip r:embed="rId3"/>
          <a:stretch>
            <a:fillRect/>
          </a:stretch>
        </p:blipFill>
        <p:spPr>
          <a:xfrm>
            <a:off x="6391656" y="1828800"/>
            <a:ext cx="365760" cy="365760"/>
          </a:xfrm>
          <a:prstGeom prst="rect">
            <a:avLst/>
          </a:prstGeom>
        </p:spPr>
      </p:pic>
      <p:sp>
        <p:nvSpPr>
          <p:cNvPr id="16" name="Text 11"/>
          <p:cNvSpPr/>
          <p:nvPr/>
        </p:nvSpPr>
        <p:spPr>
          <a:xfrm>
            <a:off x="6803136" y="1600200"/>
            <a:ext cx="2011680" cy="502920"/>
          </a:xfrm>
          <a:prstGeom prst="rect">
            <a:avLst/>
          </a:prstGeom>
          <a:noFill/>
          <a:ln/>
        </p:spPr>
        <p:txBody>
          <a:bodyPr wrap="square" lIns="0" tIns="0" rIns="0" bIns="0" rtlCol="0" anchor="ctr"/>
          <a:lstStyle/>
          <a:p>
            <a:pPr algn="l" indent="0" marL="0">
              <a:buNone/>
            </a:pPr>
            <a:r>
              <a:rPr lang="en-US" sz="3000" b="1" dirty="0">
                <a:solidFill>
                  <a:srgbClr val="0D9488"/>
                </a:solidFill>
              </a:rPr>
              <a:t>18m</a:t>
            </a:r>
            <a:endParaRPr lang="en-US" sz="3000" dirty="0"/>
          </a:p>
        </p:txBody>
      </p:sp>
      <p:sp>
        <p:nvSpPr>
          <p:cNvPr id="17" name="Text 12"/>
          <p:cNvSpPr/>
          <p:nvPr/>
        </p:nvSpPr>
        <p:spPr>
          <a:xfrm>
            <a:off x="6803136" y="2103120"/>
            <a:ext cx="2011680" cy="365760"/>
          </a:xfrm>
          <a:prstGeom prst="rect">
            <a:avLst/>
          </a:prstGeom>
          <a:noFill/>
          <a:ln/>
        </p:spPr>
        <p:txBody>
          <a:bodyPr wrap="square" lIns="0" tIns="0" rIns="0" bIns="0" rtlCol="0" anchor="ctr"/>
          <a:lstStyle/>
          <a:p>
            <a:pPr algn="l" indent="0" marL="0">
              <a:buNone/>
            </a:pPr>
            <a:r>
              <a:rPr lang="en-US" sz="1100" dirty="0">
                <a:solidFill>
                  <a:srgbClr val="6B7280"/>
                </a:solidFill>
              </a:rPr>
              <a:t>Temps moyen</a:t>
            </a:r>
            <a:endParaRPr lang="en-US" sz="1100" dirty="0"/>
          </a:p>
        </p:txBody>
      </p:sp>
      <p:sp>
        <p:nvSpPr>
          <p:cNvPr id="18" name="Shape 13"/>
          <p:cNvSpPr/>
          <p:nvPr/>
        </p:nvSpPr>
        <p:spPr>
          <a:xfrm>
            <a:off x="457200" y="2880360"/>
            <a:ext cx="8229600" cy="19202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9" name="Text 14"/>
          <p:cNvSpPr/>
          <p:nvPr/>
        </p:nvSpPr>
        <p:spPr>
          <a:xfrm>
            <a:off x="640080" y="2971800"/>
            <a:ext cx="3657600" cy="320040"/>
          </a:xfrm>
          <a:prstGeom prst="rect">
            <a:avLst/>
          </a:prstGeom>
          <a:noFill/>
          <a:ln/>
        </p:spPr>
        <p:txBody>
          <a:bodyPr wrap="square" lIns="0" tIns="0" rIns="0" bIns="0" rtlCol="0" anchor="ctr"/>
          <a:lstStyle/>
          <a:p>
            <a:pPr indent="0" marL="0">
              <a:buNone/>
            </a:pPr>
            <a:r>
              <a:rPr lang="en-US" sz="1200" b="1" dirty="0">
                <a:solidFill>
                  <a:srgbClr val="0D9488"/>
                </a:solidFill>
              </a:rPr>
              <a:t>Rendez-vous du jour :</a:t>
            </a:r>
            <a:endParaRPr lang="en-US" sz="1200" dirty="0"/>
          </a:p>
        </p:txBody>
      </p:sp>
      <p:sp>
        <p:nvSpPr>
          <p:cNvPr id="20" name="Shape 15"/>
          <p:cNvSpPr/>
          <p:nvPr/>
        </p:nvSpPr>
        <p:spPr>
          <a:xfrm>
            <a:off x="640080" y="3429000"/>
            <a:ext cx="274320" cy="274320"/>
          </a:xfrm>
          <a:prstGeom prst="oval">
            <a:avLst/>
          </a:prstGeom>
          <a:solidFill>
            <a:srgbClr val="CCFBF1"/>
          </a:solidFill>
          <a:ln/>
        </p:spPr>
      </p:sp>
      <p:sp>
        <p:nvSpPr>
          <p:cNvPr id="21" name="Text 16"/>
          <p:cNvSpPr/>
          <p:nvPr/>
        </p:nvSpPr>
        <p:spPr>
          <a:xfrm>
            <a:off x="1005840" y="3383280"/>
            <a:ext cx="3200400" cy="320040"/>
          </a:xfrm>
          <a:prstGeom prst="rect">
            <a:avLst/>
          </a:prstGeom>
          <a:noFill/>
          <a:ln/>
        </p:spPr>
        <p:txBody>
          <a:bodyPr wrap="square" lIns="0" tIns="0" rIns="0" bIns="0" rtlCol="0" anchor="ctr"/>
          <a:lstStyle/>
          <a:p>
            <a:pPr indent="0" marL="0">
              <a:buNone/>
            </a:pPr>
            <a:r>
              <a:rPr lang="en-US" sz="1150" dirty="0">
                <a:solidFill>
                  <a:srgbClr val="134E4A"/>
                </a:solidFill>
              </a:rPr>
              <a:t>Michael Orise</a:t>
            </a:r>
            <a:endParaRPr lang="en-US" sz="1150" dirty="0"/>
          </a:p>
        </p:txBody>
      </p:sp>
      <p:sp>
        <p:nvSpPr>
          <p:cNvPr id="22" name="Text 17"/>
          <p:cNvSpPr/>
          <p:nvPr/>
        </p:nvSpPr>
        <p:spPr>
          <a:xfrm>
            <a:off x="4114800" y="3383280"/>
            <a:ext cx="2743200" cy="320040"/>
          </a:xfrm>
          <a:prstGeom prst="rect">
            <a:avLst/>
          </a:prstGeom>
          <a:noFill/>
          <a:ln/>
        </p:spPr>
        <p:txBody>
          <a:bodyPr wrap="square" lIns="0" tIns="0" rIns="0" bIns="0" rtlCol="0" anchor="ctr"/>
          <a:lstStyle/>
          <a:p>
            <a:pPr indent="0" marL="0">
              <a:buNone/>
            </a:pPr>
            <a:r>
              <a:rPr lang="en-US" sz="1100" dirty="0">
                <a:solidFill>
                  <a:srgbClr val="6B7280"/>
                </a:solidFill>
              </a:rPr>
              <a:t>09:00 · Physique</a:t>
            </a:r>
            <a:endParaRPr lang="en-US" sz="1100" dirty="0"/>
          </a:p>
        </p:txBody>
      </p:sp>
      <p:sp>
        <p:nvSpPr>
          <p:cNvPr id="23" name="Shape 18"/>
          <p:cNvSpPr/>
          <p:nvPr/>
        </p:nvSpPr>
        <p:spPr>
          <a:xfrm>
            <a:off x="6949440" y="3419856"/>
            <a:ext cx="1371600" cy="237744"/>
          </a:xfrm>
          <a:prstGeom prst="rect">
            <a:avLst/>
          </a:prstGeom>
          <a:solidFill>
            <a:srgbClr val="0D9488"/>
          </a:solidFill>
          <a:ln/>
        </p:spPr>
      </p:sp>
      <p:sp>
        <p:nvSpPr>
          <p:cNvPr id="24" name="Text 19"/>
          <p:cNvSpPr/>
          <p:nvPr/>
        </p:nvSpPr>
        <p:spPr>
          <a:xfrm>
            <a:off x="6949440" y="3419856"/>
            <a:ext cx="1371600" cy="237744"/>
          </a:xfrm>
          <a:prstGeom prst="rect">
            <a:avLst/>
          </a:prstGeom>
          <a:noFill/>
          <a:ln/>
        </p:spPr>
        <p:txBody>
          <a:bodyPr wrap="square" lIns="0" tIns="0" rIns="0" bIns="0" rtlCol="0" anchor="ctr"/>
          <a:lstStyle/>
          <a:p>
            <a:pPr algn="ctr" indent="0" marL="0">
              <a:buNone/>
            </a:pPr>
            <a:r>
              <a:rPr lang="en-US" sz="900" dirty="0">
                <a:solidFill>
                  <a:srgbClr val="FFFFFF"/>
                </a:solidFill>
              </a:rPr>
              <a:t>Checked-in</a:t>
            </a:r>
            <a:endParaRPr lang="en-US" sz="900" dirty="0"/>
          </a:p>
        </p:txBody>
      </p:sp>
      <p:sp>
        <p:nvSpPr>
          <p:cNvPr id="25" name="Shape 20"/>
          <p:cNvSpPr/>
          <p:nvPr/>
        </p:nvSpPr>
        <p:spPr>
          <a:xfrm>
            <a:off x="640080" y="3840480"/>
            <a:ext cx="274320" cy="274320"/>
          </a:xfrm>
          <a:prstGeom prst="oval">
            <a:avLst/>
          </a:prstGeom>
          <a:solidFill>
            <a:srgbClr val="CCFBF1"/>
          </a:solidFill>
          <a:ln/>
        </p:spPr>
      </p:sp>
      <p:sp>
        <p:nvSpPr>
          <p:cNvPr id="26" name="Text 21"/>
          <p:cNvSpPr/>
          <p:nvPr/>
        </p:nvSpPr>
        <p:spPr>
          <a:xfrm>
            <a:off x="1005840" y="3794760"/>
            <a:ext cx="3200400" cy="320040"/>
          </a:xfrm>
          <a:prstGeom prst="rect">
            <a:avLst/>
          </a:prstGeom>
          <a:noFill/>
          <a:ln/>
        </p:spPr>
        <p:txBody>
          <a:bodyPr wrap="square" lIns="0" tIns="0" rIns="0" bIns="0" rtlCol="0" anchor="ctr"/>
          <a:lstStyle/>
          <a:p>
            <a:pPr indent="0" marL="0">
              <a:buNone/>
            </a:pPr>
            <a:r>
              <a:rPr lang="en-US" sz="1150" dirty="0">
                <a:solidFill>
                  <a:srgbClr val="134E4A"/>
                </a:solidFill>
              </a:rPr>
              <a:t>Mohammed Said</a:t>
            </a:r>
            <a:endParaRPr lang="en-US" sz="1150" dirty="0"/>
          </a:p>
        </p:txBody>
      </p:sp>
      <p:sp>
        <p:nvSpPr>
          <p:cNvPr id="27" name="Text 22"/>
          <p:cNvSpPr/>
          <p:nvPr/>
        </p:nvSpPr>
        <p:spPr>
          <a:xfrm>
            <a:off x="4114800" y="3794760"/>
            <a:ext cx="2743200" cy="320040"/>
          </a:xfrm>
          <a:prstGeom prst="rect">
            <a:avLst/>
          </a:prstGeom>
          <a:noFill/>
          <a:ln/>
        </p:spPr>
        <p:txBody>
          <a:bodyPr wrap="square" lIns="0" tIns="0" rIns="0" bIns="0" rtlCol="0" anchor="ctr"/>
          <a:lstStyle/>
          <a:p>
            <a:pPr indent="0" marL="0">
              <a:buNone/>
            </a:pPr>
            <a:r>
              <a:rPr lang="en-US" sz="1100" dirty="0">
                <a:solidFill>
                  <a:srgbClr val="6B7280"/>
                </a:solidFill>
              </a:rPr>
              <a:t>10:30 · Physique</a:t>
            </a:r>
            <a:endParaRPr lang="en-US" sz="1100" dirty="0"/>
          </a:p>
        </p:txBody>
      </p:sp>
      <p:sp>
        <p:nvSpPr>
          <p:cNvPr id="28" name="Shape 23"/>
          <p:cNvSpPr/>
          <p:nvPr/>
        </p:nvSpPr>
        <p:spPr>
          <a:xfrm>
            <a:off x="6949440" y="3831336"/>
            <a:ext cx="1371600" cy="237744"/>
          </a:xfrm>
          <a:prstGeom prst="rect">
            <a:avLst/>
          </a:prstGeom>
          <a:solidFill>
            <a:srgbClr val="F59E0B"/>
          </a:solidFill>
          <a:ln/>
        </p:spPr>
      </p:sp>
      <p:sp>
        <p:nvSpPr>
          <p:cNvPr id="29" name="Text 24"/>
          <p:cNvSpPr/>
          <p:nvPr/>
        </p:nvSpPr>
        <p:spPr>
          <a:xfrm>
            <a:off x="6949440" y="3831336"/>
            <a:ext cx="1371600" cy="237744"/>
          </a:xfrm>
          <a:prstGeom prst="rect">
            <a:avLst/>
          </a:prstGeom>
          <a:noFill/>
          <a:ln/>
        </p:spPr>
        <p:txBody>
          <a:bodyPr wrap="square" lIns="0" tIns="0" rIns="0" bIns="0" rtlCol="0" anchor="ctr"/>
          <a:lstStyle/>
          <a:p>
            <a:pPr algn="ctr" indent="0" marL="0">
              <a:buNone/>
            </a:pPr>
            <a:r>
              <a:rPr lang="en-US" sz="900" dirty="0">
                <a:solidFill>
                  <a:srgbClr val="FFFFFF"/>
                </a:solidFill>
              </a:rPr>
              <a:t>Waiting</a:t>
            </a:r>
            <a:endParaRPr lang="en-US" sz="900" dirty="0"/>
          </a:p>
        </p:txBody>
      </p:sp>
      <p:sp>
        <p:nvSpPr>
          <p:cNvPr id="30" name="Shape 25"/>
          <p:cNvSpPr/>
          <p:nvPr/>
        </p:nvSpPr>
        <p:spPr>
          <a:xfrm>
            <a:off x="640080" y="4251960"/>
            <a:ext cx="274320" cy="274320"/>
          </a:xfrm>
          <a:prstGeom prst="oval">
            <a:avLst/>
          </a:prstGeom>
          <a:solidFill>
            <a:srgbClr val="CCFBF1"/>
          </a:solidFill>
          <a:ln/>
        </p:spPr>
      </p:sp>
      <p:sp>
        <p:nvSpPr>
          <p:cNvPr id="31" name="Text 26"/>
          <p:cNvSpPr/>
          <p:nvPr/>
        </p:nvSpPr>
        <p:spPr>
          <a:xfrm>
            <a:off x="1005840" y="4206240"/>
            <a:ext cx="3200400" cy="320040"/>
          </a:xfrm>
          <a:prstGeom prst="rect">
            <a:avLst/>
          </a:prstGeom>
          <a:noFill/>
          <a:ln/>
        </p:spPr>
        <p:txBody>
          <a:bodyPr wrap="square" lIns="0" tIns="0" rIns="0" bIns="0" rtlCol="0" anchor="ctr"/>
          <a:lstStyle/>
          <a:p>
            <a:pPr indent="0" marL="0">
              <a:buNone/>
            </a:pPr>
            <a:r>
              <a:rPr lang="en-US" sz="1150" dirty="0">
                <a:solidFill>
                  <a:srgbClr val="134E4A"/>
                </a:solidFill>
              </a:rPr>
              <a:t>Adel Mexi</a:t>
            </a:r>
            <a:endParaRPr lang="en-US" sz="1150" dirty="0"/>
          </a:p>
        </p:txBody>
      </p:sp>
      <p:sp>
        <p:nvSpPr>
          <p:cNvPr id="32" name="Text 27"/>
          <p:cNvSpPr/>
          <p:nvPr/>
        </p:nvSpPr>
        <p:spPr>
          <a:xfrm>
            <a:off x="4114800" y="4206240"/>
            <a:ext cx="2743200" cy="320040"/>
          </a:xfrm>
          <a:prstGeom prst="rect">
            <a:avLst/>
          </a:prstGeom>
          <a:noFill/>
          <a:ln/>
        </p:spPr>
        <p:txBody>
          <a:bodyPr wrap="square" lIns="0" tIns="0" rIns="0" bIns="0" rtlCol="0" anchor="ctr"/>
          <a:lstStyle/>
          <a:p>
            <a:pPr indent="0" marL="0">
              <a:buNone/>
            </a:pPr>
            <a:r>
              <a:rPr lang="en-US" sz="1100" dirty="0">
                <a:solidFill>
                  <a:srgbClr val="6B7280"/>
                </a:solidFill>
              </a:rPr>
              <a:t>11:00 · Teleconsult</a:t>
            </a:r>
            <a:endParaRPr lang="en-US" sz="1100" dirty="0"/>
          </a:p>
        </p:txBody>
      </p:sp>
      <p:sp>
        <p:nvSpPr>
          <p:cNvPr id="33" name="Shape 28"/>
          <p:cNvSpPr/>
          <p:nvPr/>
        </p:nvSpPr>
        <p:spPr>
          <a:xfrm>
            <a:off x="6949440" y="4242816"/>
            <a:ext cx="1371600" cy="237744"/>
          </a:xfrm>
          <a:prstGeom prst="rect">
            <a:avLst/>
          </a:prstGeom>
          <a:solidFill>
            <a:srgbClr val="6B7280"/>
          </a:solidFill>
          <a:ln/>
        </p:spPr>
      </p:sp>
      <p:sp>
        <p:nvSpPr>
          <p:cNvPr id="34" name="Text 29"/>
          <p:cNvSpPr/>
          <p:nvPr/>
        </p:nvSpPr>
        <p:spPr>
          <a:xfrm>
            <a:off x="6949440" y="4242816"/>
            <a:ext cx="1371600" cy="237744"/>
          </a:xfrm>
          <a:prstGeom prst="rect">
            <a:avLst/>
          </a:prstGeom>
          <a:noFill/>
          <a:ln/>
        </p:spPr>
        <p:txBody>
          <a:bodyPr wrap="square" lIns="0" tIns="0" rIns="0" bIns="0" rtlCol="0" anchor="ctr"/>
          <a:lstStyle/>
          <a:p>
            <a:pPr algn="ctr" indent="0" marL="0">
              <a:buNone/>
            </a:pPr>
            <a:r>
              <a:rPr lang="en-US" sz="900" dirty="0">
                <a:solidFill>
                  <a:srgbClr val="FFFFFF"/>
                </a:solidFill>
              </a:rPr>
              <a:t>Upcoming</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DFA"/>
        </a:solidFill>
      </p:bgPr>
    </p:bg>
    <p:spTree>
      <p:nvGrpSpPr>
        <p:cNvPr id="1" name=""/>
        <p:cNvGrpSpPr/>
        <p:nvPr/>
      </p:nvGrpSpPr>
      <p:grpSpPr>
        <a:xfrm>
          <a:off x="0" y="0"/>
          <a:ext cx="0" cy="0"/>
          <a:chOff x="0" y="0"/>
          <a:chExt cx="0" cy="0"/>
        </a:xfrm>
      </p:grpSpPr>
      <p:sp>
        <p:nvSpPr>
          <p:cNvPr id="2" name="Shape 0"/>
          <p:cNvSpPr/>
          <p:nvPr/>
        </p:nvSpPr>
        <p:spPr>
          <a:xfrm>
            <a:off x="457200" y="274320"/>
            <a:ext cx="1645920" cy="274320"/>
          </a:xfrm>
          <a:prstGeom prst="rect">
            <a:avLst>
              <a:gd name="adj" fmla="val 13333"/>
            </a:avLst>
          </a:prstGeom>
          <a:solidFill>
            <a:srgbClr val="0D9488"/>
          </a:solidFill>
          <a:ln/>
        </p:spPr>
      </p:sp>
      <p:sp>
        <p:nvSpPr>
          <p:cNvPr id="3" name="Text 1"/>
          <p:cNvSpPr/>
          <p:nvPr/>
        </p:nvSpPr>
        <p:spPr>
          <a:xfrm>
            <a:off x="457200" y="274320"/>
            <a:ext cx="1645920" cy="274320"/>
          </a:xfrm>
          <a:prstGeom prst="rect">
            <a:avLst/>
          </a:prstGeom>
          <a:noFill/>
          <a:ln/>
        </p:spPr>
        <p:txBody>
          <a:bodyPr wrap="square" lIns="0" tIns="0" rIns="0" bIns="0" rtlCol="0" anchor="ctr"/>
          <a:lstStyle/>
          <a:p>
            <a:pPr algn="ctr" indent="0" marL="0">
              <a:buNone/>
            </a:pPr>
            <a:r>
              <a:rPr lang="en-US" sz="900" b="1" dirty="0">
                <a:solidFill>
                  <a:srgbClr val="FFFFFF"/>
                </a:solidFill>
              </a:rPr>
              <a:t>MÉDECIN</a:t>
            </a:r>
            <a:endParaRPr lang="en-US" sz="900" dirty="0"/>
          </a:p>
        </p:txBody>
      </p:sp>
      <p:sp>
        <p:nvSpPr>
          <p:cNvPr id="4" name="Text 2"/>
          <p:cNvSpPr/>
          <p:nvPr/>
        </p:nvSpPr>
        <p:spPr>
          <a:xfrm>
            <a:off x="457200" y="685800"/>
            <a:ext cx="8229600" cy="548640"/>
          </a:xfrm>
          <a:prstGeom prst="rect">
            <a:avLst/>
          </a:prstGeom>
          <a:noFill/>
          <a:ln/>
        </p:spPr>
        <p:txBody>
          <a:bodyPr wrap="square" lIns="0" tIns="0" rIns="0" bIns="0" rtlCol="0" anchor="ctr"/>
          <a:lstStyle/>
          <a:p>
            <a:pPr indent="0" marL="0">
              <a:buNone/>
            </a:pPr>
            <a:r>
              <a:rPr lang="en-US" sz="2800" b="1" dirty="0">
                <a:solidFill>
                  <a:srgbClr val="0D9488"/>
                </a:solidFill>
              </a:rPr>
              <a:t>Schedule Manager</a:t>
            </a:r>
            <a:endParaRPr lang="en-US" sz="2800" dirty="0"/>
          </a:p>
        </p:txBody>
      </p:sp>
      <p:sp>
        <p:nvSpPr>
          <p:cNvPr id="5" name="Shape 3"/>
          <p:cNvSpPr/>
          <p:nvPr/>
        </p:nvSpPr>
        <p:spPr>
          <a:xfrm>
            <a:off x="0" y="685800"/>
            <a:ext cx="64008" cy="457200"/>
          </a:xfrm>
          <a:prstGeom prst="rect">
            <a:avLst/>
          </a:prstGeom>
          <a:solidFill>
            <a:srgbClr val="0D9488"/>
          </a:solidFill>
          <a:ln/>
        </p:spPr>
      </p:sp>
      <p:sp>
        <p:nvSpPr>
          <p:cNvPr id="6" name="Text 4"/>
          <p:cNvSpPr/>
          <p:nvPr/>
        </p:nvSpPr>
        <p:spPr>
          <a:xfrm>
            <a:off x="457200" y="1371600"/>
            <a:ext cx="8229600" cy="320040"/>
          </a:xfrm>
          <a:prstGeom prst="rect">
            <a:avLst/>
          </a:prstGeom>
          <a:noFill/>
          <a:ln/>
        </p:spPr>
        <p:txBody>
          <a:bodyPr wrap="square" lIns="0" tIns="0" rIns="0" bIns="0" rtlCol="0" anchor="ctr"/>
          <a:lstStyle/>
          <a:p>
            <a:pPr indent="0" marL="0">
              <a:buNone/>
            </a:pPr>
            <a:r>
              <a:rPr lang="en-US" sz="1300" dirty="0">
                <a:solidFill>
                  <a:srgbClr val="134E4A"/>
                </a:solidFill>
              </a:rPr>
              <a:t>Le médecin configure l'ensemble de ses paramètres de disponibilité :</a:t>
            </a:r>
            <a:endParaRPr lang="en-US" sz="1300" dirty="0"/>
          </a:p>
        </p:txBody>
      </p:sp>
      <p:sp>
        <p:nvSpPr>
          <p:cNvPr id="7" name="Shape 5"/>
          <p:cNvSpPr/>
          <p:nvPr/>
        </p:nvSpPr>
        <p:spPr>
          <a:xfrm>
            <a:off x="457200" y="1828800"/>
            <a:ext cx="4023360" cy="18288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8" name="Text 6"/>
          <p:cNvSpPr/>
          <p:nvPr/>
        </p:nvSpPr>
        <p:spPr>
          <a:xfrm>
            <a:off x="640080" y="1920240"/>
            <a:ext cx="3657600" cy="365760"/>
          </a:xfrm>
          <a:prstGeom prst="rect">
            <a:avLst/>
          </a:prstGeom>
          <a:noFill/>
          <a:ln/>
        </p:spPr>
        <p:txBody>
          <a:bodyPr wrap="square" lIns="0" tIns="0" rIns="0" bIns="0" rtlCol="0" anchor="ctr"/>
          <a:lstStyle/>
          <a:p>
            <a:pPr indent="0" marL="0">
              <a:buNone/>
            </a:pPr>
            <a:r>
              <a:rPr lang="en-US" sz="1300" b="1" dirty="0">
                <a:solidFill>
                  <a:srgbClr val="0D9488"/>
                </a:solidFill>
              </a:rPr>
              <a:t>💳 Honoraires de Consultation</a:t>
            </a:r>
            <a:endParaRPr lang="en-US" sz="1300" dirty="0"/>
          </a:p>
        </p:txBody>
      </p:sp>
      <p:sp>
        <p:nvSpPr>
          <p:cNvPr id="9" name="Text 7"/>
          <p:cNvSpPr/>
          <p:nvPr/>
        </p:nvSpPr>
        <p:spPr>
          <a:xfrm>
            <a:off x="640080" y="2423160"/>
            <a:ext cx="1828800" cy="274320"/>
          </a:xfrm>
          <a:prstGeom prst="rect">
            <a:avLst/>
          </a:prstGeom>
          <a:noFill/>
          <a:ln/>
        </p:spPr>
        <p:txBody>
          <a:bodyPr wrap="square" lIns="0" tIns="0" rIns="0" bIns="0" rtlCol="0" anchor="ctr"/>
          <a:lstStyle/>
          <a:p>
            <a:pPr indent="0" marL="0">
              <a:buNone/>
            </a:pPr>
            <a:r>
              <a:rPr lang="en-US" sz="1200" dirty="0">
                <a:solidFill>
                  <a:srgbClr val="134E4A"/>
                </a:solidFill>
              </a:rPr>
              <a:t>Visite physique :</a:t>
            </a:r>
            <a:endParaRPr lang="en-US" sz="1200" dirty="0"/>
          </a:p>
        </p:txBody>
      </p:sp>
      <p:sp>
        <p:nvSpPr>
          <p:cNvPr id="10" name="Shape 8"/>
          <p:cNvSpPr/>
          <p:nvPr/>
        </p:nvSpPr>
        <p:spPr>
          <a:xfrm>
            <a:off x="2560320" y="2377440"/>
            <a:ext cx="1645920" cy="320040"/>
          </a:xfrm>
          <a:prstGeom prst="rect">
            <a:avLst/>
          </a:prstGeom>
          <a:solidFill>
            <a:srgbClr val="CCFBF1"/>
          </a:solidFill>
          <a:ln/>
        </p:spPr>
      </p:sp>
      <p:sp>
        <p:nvSpPr>
          <p:cNvPr id="11" name="Text 9"/>
          <p:cNvSpPr/>
          <p:nvPr/>
        </p:nvSpPr>
        <p:spPr>
          <a:xfrm>
            <a:off x="2560320" y="2377440"/>
            <a:ext cx="1645920" cy="320040"/>
          </a:xfrm>
          <a:prstGeom prst="rect">
            <a:avLst/>
          </a:prstGeom>
          <a:noFill/>
          <a:ln/>
        </p:spPr>
        <p:txBody>
          <a:bodyPr wrap="square" lIns="0" tIns="0" rIns="0" bIns="0" rtlCol="0" anchor="ctr"/>
          <a:lstStyle/>
          <a:p>
            <a:pPr algn="ctr" indent="0" marL="0">
              <a:buNone/>
            </a:pPr>
            <a:r>
              <a:rPr lang="en-US" sz="1200" b="1" dirty="0">
                <a:solidFill>
                  <a:srgbClr val="0D9488"/>
                </a:solidFill>
              </a:rPr>
              <a:t>2 000 DA</a:t>
            </a:r>
            <a:endParaRPr lang="en-US" sz="1200" dirty="0"/>
          </a:p>
        </p:txBody>
      </p:sp>
      <p:sp>
        <p:nvSpPr>
          <p:cNvPr id="12" name="Text 10"/>
          <p:cNvSpPr/>
          <p:nvPr/>
        </p:nvSpPr>
        <p:spPr>
          <a:xfrm>
            <a:off x="640080" y="2834640"/>
            <a:ext cx="1828800" cy="274320"/>
          </a:xfrm>
          <a:prstGeom prst="rect">
            <a:avLst/>
          </a:prstGeom>
          <a:noFill/>
          <a:ln/>
        </p:spPr>
        <p:txBody>
          <a:bodyPr wrap="square" lIns="0" tIns="0" rIns="0" bIns="0" rtlCol="0" anchor="ctr"/>
          <a:lstStyle/>
          <a:p>
            <a:pPr indent="0" marL="0">
              <a:buNone/>
            </a:pPr>
            <a:r>
              <a:rPr lang="en-US" sz="1200" dirty="0">
                <a:solidFill>
                  <a:srgbClr val="134E4A"/>
                </a:solidFill>
              </a:rPr>
              <a:t>Téléconsultation :</a:t>
            </a:r>
            <a:endParaRPr lang="en-US" sz="1200" dirty="0"/>
          </a:p>
        </p:txBody>
      </p:sp>
      <p:sp>
        <p:nvSpPr>
          <p:cNvPr id="13" name="Shape 11"/>
          <p:cNvSpPr/>
          <p:nvPr/>
        </p:nvSpPr>
        <p:spPr>
          <a:xfrm>
            <a:off x="2560320" y="2788920"/>
            <a:ext cx="1645920" cy="320040"/>
          </a:xfrm>
          <a:prstGeom prst="rect">
            <a:avLst/>
          </a:prstGeom>
          <a:solidFill>
            <a:srgbClr val="CCFBF1"/>
          </a:solidFill>
          <a:ln/>
        </p:spPr>
      </p:sp>
      <p:sp>
        <p:nvSpPr>
          <p:cNvPr id="14" name="Text 12"/>
          <p:cNvSpPr/>
          <p:nvPr/>
        </p:nvSpPr>
        <p:spPr>
          <a:xfrm>
            <a:off x="2560320" y="2788920"/>
            <a:ext cx="1645920" cy="320040"/>
          </a:xfrm>
          <a:prstGeom prst="rect">
            <a:avLst/>
          </a:prstGeom>
          <a:noFill/>
          <a:ln/>
        </p:spPr>
        <p:txBody>
          <a:bodyPr wrap="square" lIns="0" tIns="0" rIns="0" bIns="0" rtlCol="0" anchor="ctr"/>
          <a:lstStyle/>
          <a:p>
            <a:pPr algn="ctr" indent="0" marL="0">
              <a:buNone/>
            </a:pPr>
            <a:r>
              <a:rPr lang="en-US" sz="1200" b="1" dirty="0">
                <a:solidFill>
                  <a:srgbClr val="0D9488"/>
                </a:solidFill>
              </a:rPr>
              <a:t>2 000 DA</a:t>
            </a:r>
            <a:endParaRPr lang="en-US" sz="1200" dirty="0"/>
          </a:p>
        </p:txBody>
      </p:sp>
      <p:sp>
        <p:nvSpPr>
          <p:cNvPr id="15" name="Shape 13"/>
          <p:cNvSpPr/>
          <p:nvPr/>
        </p:nvSpPr>
        <p:spPr>
          <a:xfrm>
            <a:off x="4663440" y="1828800"/>
            <a:ext cx="4023360" cy="29260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6" name="Text 14"/>
          <p:cNvSpPr/>
          <p:nvPr/>
        </p:nvSpPr>
        <p:spPr>
          <a:xfrm>
            <a:off x="4846320" y="1920240"/>
            <a:ext cx="3657600" cy="365760"/>
          </a:xfrm>
          <a:prstGeom prst="rect">
            <a:avLst/>
          </a:prstGeom>
          <a:noFill/>
          <a:ln/>
        </p:spPr>
        <p:txBody>
          <a:bodyPr wrap="square" lIns="0" tIns="0" rIns="0" bIns="0" rtlCol="0" anchor="ctr"/>
          <a:lstStyle/>
          <a:p>
            <a:pPr indent="0" marL="0">
              <a:buNone/>
            </a:pPr>
            <a:r>
              <a:rPr lang="en-US" sz="1300" b="1" dirty="0">
                <a:solidFill>
                  <a:srgbClr val="0D9488"/>
                </a:solidFill>
              </a:rPr>
              <a:t>🗓 Jours de Travail</a:t>
            </a:r>
            <a:endParaRPr lang="en-US" sz="1300" dirty="0"/>
          </a:p>
        </p:txBody>
      </p:sp>
      <p:sp>
        <p:nvSpPr>
          <p:cNvPr id="17" name="Text 15"/>
          <p:cNvSpPr/>
          <p:nvPr/>
        </p:nvSpPr>
        <p:spPr>
          <a:xfrm>
            <a:off x="4846320" y="2423160"/>
            <a:ext cx="2286000" cy="274320"/>
          </a:xfrm>
          <a:prstGeom prst="rect">
            <a:avLst/>
          </a:prstGeom>
          <a:noFill/>
          <a:ln/>
        </p:spPr>
        <p:txBody>
          <a:bodyPr wrap="square" lIns="0" tIns="0" rIns="0" bIns="0" rtlCol="0" anchor="ctr"/>
          <a:lstStyle/>
          <a:p>
            <a:pPr indent="0" marL="0">
              <a:buNone/>
            </a:pPr>
            <a:r>
              <a:rPr lang="en-US" sz="1050" dirty="0">
                <a:solidFill>
                  <a:srgbClr val="134E4A"/>
                </a:solidFill>
              </a:rPr>
              <a:t>Dimanche</a:t>
            </a:r>
            <a:endParaRPr lang="en-US" sz="1050" dirty="0"/>
          </a:p>
        </p:txBody>
      </p:sp>
      <p:sp>
        <p:nvSpPr>
          <p:cNvPr id="18" name="Shape 16"/>
          <p:cNvSpPr/>
          <p:nvPr/>
        </p:nvSpPr>
        <p:spPr>
          <a:xfrm>
            <a:off x="7406640" y="2459736"/>
            <a:ext cx="502920" cy="201168"/>
          </a:xfrm>
          <a:prstGeom prst="rect">
            <a:avLst/>
          </a:prstGeom>
          <a:solidFill>
            <a:srgbClr val="E5E7EB"/>
          </a:solidFill>
          <a:ln/>
        </p:spPr>
      </p:sp>
      <p:sp>
        <p:nvSpPr>
          <p:cNvPr id="19" name="Text 17"/>
          <p:cNvSpPr/>
          <p:nvPr/>
        </p:nvSpPr>
        <p:spPr>
          <a:xfrm>
            <a:off x="7406640" y="2459736"/>
            <a:ext cx="502920" cy="201168"/>
          </a:xfrm>
          <a:prstGeom prst="rect">
            <a:avLst/>
          </a:prstGeom>
          <a:noFill/>
          <a:ln/>
        </p:spPr>
        <p:txBody>
          <a:bodyPr wrap="square" lIns="0" tIns="0" rIns="0" bIns="0" rtlCol="0" anchor="ctr"/>
          <a:lstStyle/>
          <a:p>
            <a:pPr algn="ctr" indent="0" marL="0">
              <a:buNone/>
            </a:pPr>
            <a:r>
              <a:rPr lang="en-US" sz="800" dirty="0">
                <a:solidFill>
                  <a:srgbClr val="6B7280"/>
                </a:solidFill>
              </a:rPr>
              <a:t>OFF</a:t>
            </a:r>
            <a:endParaRPr lang="en-US" sz="800" dirty="0"/>
          </a:p>
        </p:txBody>
      </p:sp>
      <p:sp>
        <p:nvSpPr>
          <p:cNvPr id="20" name="Text 18"/>
          <p:cNvSpPr/>
          <p:nvPr/>
        </p:nvSpPr>
        <p:spPr>
          <a:xfrm>
            <a:off x="4846320" y="2743200"/>
            <a:ext cx="2286000" cy="274320"/>
          </a:xfrm>
          <a:prstGeom prst="rect">
            <a:avLst/>
          </a:prstGeom>
          <a:noFill/>
          <a:ln/>
        </p:spPr>
        <p:txBody>
          <a:bodyPr wrap="square" lIns="0" tIns="0" rIns="0" bIns="0" rtlCol="0" anchor="ctr"/>
          <a:lstStyle/>
          <a:p>
            <a:pPr indent="0" marL="0">
              <a:buNone/>
            </a:pPr>
            <a:r>
              <a:rPr lang="en-US" sz="1050" dirty="0">
                <a:solidFill>
                  <a:srgbClr val="134E4A"/>
                </a:solidFill>
              </a:rPr>
              <a:t>Lundi</a:t>
            </a:r>
            <a:endParaRPr lang="en-US" sz="1050" dirty="0"/>
          </a:p>
        </p:txBody>
      </p:sp>
      <p:sp>
        <p:nvSpPr>
          <p:cNvPr id="21" name="Shape 19"/>
          <p:cNvSpPr/>
          <p:nvPr/>
        </p:nvSpPr>
        <p:spPr>
          <a:xfrm>
            <a:off x="7406640" y="2779776"/>
            <a:ext cx="502920" cy="201168"/>
          </a:xfrm>
          <a:prstGeom prst="rect">
            <a:avLst/>
          </a:prstGeom>
          <a:solidFill>
            <a:srgbClr val="0D9488"/>
          </a:solidFill>
          <a:ln/>
        </p:spPr>
      </p:sp>
      <p:sp>
        <p:nvSpPr>
          <p:cNvPr id="22" name="Text 20"/>
          <p:cNvSpPr/>
          <p:nvPr/>
        </p:nvSpPr>
        <p:spPr>
          <a:xfrm>
            <a:off x="7406640" y="2779776"/>
            <a:ext cx="502920" cy="201168"/>
          </a:xfrm>
          <a:prstGeom prst="rect">
            <a:avLst/>
          </a:prstGeom>
          <a:noFill/>
          <a:ln/>
        </p:spPr>
        <p:txBody>
          <a:bodyPr wrap="square" lIns="0" tIns="0" rIns="0" bIns="0" rtlCol="0" anchor="ctr"/>
          <a:lstStyle/>
          <a:p>
            <a:pPr algn="ctr" indent="0" marL="0">
              <a:buNone/>
            </a:pPr>
            <a:r>
              <a:rPr lang="en-US" sz="800" dirty="0">
                <a:solidFill>
                  <a:srgbClr val="FFFFFF"/>
                </a:solidFill>
              </a:rPr>
              <a:t>ON</a:t>
            </a:r>
            <a:endParaRPr lang="en-US" sz="800" dirty="0"/>
          </a:p>
        </p:txBody>
      </p:sp>
      <p:sp>
        <p:nvSpPr>
          <p:cNvPr id="23" name="Text 21"/>
          <p:cNvSpPr/>
          <p:nvPr/>
        </p:nvSpPr>
        <p:spPr>
          <a:xfrm>
            <a:off x="4846320" y="3063240"/>
            <a:ext cx="2286000" cy="274320"/>
          </a:xfrm>
          <a:prstGeom prst="rect">
            <a:avLst/>
          </a:prstGeom>
          <a:noFill/>
          <a:ln/>
        </p:spPr>
        <p:txBody>
          <a:bodyPr wrap="square" lIns="0" tIns="0" rIns="0" bIns="0" rtlCol="0" anchor="ctr"/>
          <a:lstStyle/>
          <a:p>
            <a:pPr indent="0" marL="0">
              <a:buNone/>
            </a:pPr>
            <a:r>
              <a:rPr lang="en-US" sz="1050" dirty="0">
                <a:solidFill>
                  <a:srgbClr val="134E4A"/>
                </a:solidFill>
              </a:rPr>
              <a:t>Mardi</a:t>
            </a:r>
            <a:endParaRPr lang="en-US" sz="1050" dirty="0"/>
          </a:p>
        </p:txBody>
      </p:sp>
      <p:sp>
        <p:nvSpPr>
          <p:cNvPr id="24" name="Shape 22"/>
          <p:cNvSpPr/>
          <p:nvPr/>
        </p:nvSpPr>
        <p:spPr>
          <a:xfrm>
            <a:off x="7406640" y="3099816"/>
            <a:ext cx="502920" cy="201168"/>
          </a:xfrm>
          <a:prstGeom prst="rect">
            <a:avLst/>
          </a:prstGeom>
          <a:solidFill>
            <a:srgbClr val="0D9488"/>
          </a:solidFill>
          <a:ln/>
        </p:spPr>
      </p:sp>
      <p:sp>
        <p:nvSpPr>
          <p:cNvPr id="25" name="Text 23"/>
          <p:cNvSpPr/>
          <p:nvPr/>
        </p:nvSpPr>
        <p:spPr>
          <a:xfrm>
            <a:off x="7406640" y="3099816"/>
            <a:ext cx="502920" cy="201168"/>
          </a:xfrm>
          <a:prstGeom prst="rect">
            <a:avLst/>
          </a:prstGeom>
          <a:noFill/>
          <a:ln/>
        </p:spPr>
        <p:txBody>
          <a:bodyPr wrap="square" lIns="0" tIns="0" rIns="0" bIns="0" rtlCol="0" anchor="ctr"/>
          <a:lstStyle/>
          <a:p>
            <a:pPr algn="ctr" indent="0" marL="0">
              <a:buNone/>
            </a:pPr>
            <a:r>
              <a:rPr lang="en-US" sz="800" dirty="0">
                <a:solidFill>
                  <a:srgbClr val="FFFFFF"/>
                </a:solidFill>
              </a:rPr>
              <a:t>ON</a:t>
            </a:r>
            <a:endParaRPr lang="en-US" sz="800" dirty="0"/>
          </a:p>
        </p:txBody>
      </p:sp>
      <p:sp>
        <p:nvSpPr>
          <p:cNvPr id="26" name="Text 24"/>
          <p:cNvSpPr/>
          <p:nvPr/>
        </p:nvSpPr>
        <p:spPr>
          <a:xfrm>
            <a:off x="4846320" y="3383280"/>
            <a:ext cx="2286000" cy="274320"/>
          </a:xfrm>
          <a:prstGeom prst="rect">
            <a:avLst/>
          </a:prstGeom>
          <a:noFill/>
          <a:ln/>
        </p:spPr>
        <p:txBody>
          <a:bodyPr wrap="square" lIns="0" tIns="0" rIns="0" bIns="0" rtlCol="0" anchor="ctr"/>
          <a:lstStyle/>
          <a:p>
            <a:pPr indent="0" marL="0">
              <a:buNone/>
            </a:pPr>
            <a:r>
              <a:rPr lang="en-US" sz="1050" dirty="0">
                <a:solidFill>
                  <a:srgbClr val="134E4A"/>
                </a:solidFill>
              </a:rPr>
              <a:t>Mercredi</a:t>
            </a:r>
            <a:endParaRPr lang="en-US" sz="1050" dirty="0"/>
          </a:p>
        </p:txBody>
      </p:sp>
      <p:sp>
        <p:nvSpPr>
          <p:cNvPr id="27" name="Shape 25"/>
          <p:cNvSpPr/>
          <p:nvPr/>
        </p:nvSpPr>
        <p:spPr>
          <a:xfrm>
            <a:off x="7406640" y="3419856"/>
            <a:ext cx="502920" cy="201168"/>
          </a:xfrm>
          <a:prstGeom prst="rect">
            <a:avLst/>
          </a:prstGeom>
          <a:solidFill>
            <a:srgbClr val="0D9488"/>
          </a:solidFill>
          <a:ln/>
        </p:spPr>
      </p:sp>
      <p:sp>
        <p:nvSpPr>
          <p:cNvPr id="28" name="Text 26"/>
          <p:cNvSpPr/>
          <p:nvPr/>
        </p:nvSpPr>
        <p:spPr>
          <a:xfrm>
            <a:off x="7406640" y="3419856"/>
            <a:ext cx="502920" cy="201168"/>
          </a:xfrm>
          <a:prstGeom prst="rect">
            <a:avLst/>
          </a:prstGeom>
          <a:noFill/>
          <a:ln/>
        </p:spPr>
        <p:txBody>
          <a:bodyPr wrap="square" lIns="0" tIns="0" rIns="0" bIns="0" rtlCol="0" anchor="ctr"/>
          <a:lstStyle/>
          <a:p>
            <a:pPr algn="ctr" indent="0" marL="0">
              <a:buNone/>
            </a:pPr>
            <a:r>
              <a:rPr lang="en-US" sz="800" dirty="0">
                <a:solidFill>
                  <a:srgbClr val="FFFFFF"/>
                </a:solidFill>
              </a:rPr>
              <a:t>ON</a:t>
            </a:r>
            <a:endParaRPr lang="en-US" sz="800" dirty="0"/>
          </a:p>
        </p:txBody>
      </p:sp>
      <p:sp>
        <p:nvSpPr>
          <p:cNvPr id="29" name="Text 27"/>
          <p:cNvSpPr/>
          <p:nvPr/>
        </p:nvSpPr>
        <p:spPr>
          <a:xfrm>
            <a:off x="4846320" y="3703320"/>
            <a:ext cx="2286000" cy="274320"/>
          </a:xfrm>
          <a:prstGeom prst="rect">
            <a:avLst/>
          </a:prstGeom>
          <a:noFill/>
          <a:ln/>
        </p:spPr>
        <p:txBody>
          <a:bodyPr wrap="square" lIns="0" tIns="0" rIns="0" bIns="0" rtlCol="0" anchor="ctr"/>
          <a:lstStyle/>
          <a:p>
            <a:pPr indent="0" marL="0">
              <a:buNone/>
            </a:pPr>
            <a:r>
              <a:rPr lang="en-US" sz="1050" dirty="0">
                <a:solidFill>
                  <a:srgbClr val="134E4A"/>
                </a:solidFill>
              </a:rPr>
              <a:t>Jeudi</a:t>
            </a:r>
            <a:endParaRPr lang="en-US" sz="1050" dirty="0"/>
          </a:p>
        </p:txBody>
      </p:sp>
      <p:sp>
        <p:nvSpPr>
          <p:cNvPr id="30" name="Shape 28"/>
          <p:cNvSpPr/>
          <p:nvPr/>
        </p:nvSpPr>
        <p:spPr>
          <a:xfrm>
            <a:off x="7406640" y="3739896"/>
            <a:ext cx="502920" cy="201168"/>
          </a:xfrm>
          <a:prstGeom prst="rect">
            <a:avLst/>
          </a:prstGeom>
          <a:solidFill>
            <a:srgbClr val="0D9488"/>
          </a:solidFill>
          <a:ln/>
        </p:spPr>
      </p:sp>
      <p:sp>
        <p:nvSpPr>
          <p:cNvPr id="31" name="Text 29"/>
          <p:cNvSpPr/>
          <p:nvPr/>
        </p:nvSpPr>
        <p:spPr>
          <a:xfrm>
            <a:off x="7406640" y="3739896"/>
            <a:ext cx="502920" cy="201168"/>
          </a:xfrm>
          <a:prstGeom prst="rect">
            <a:avLst/>
          </a:prstGeom>
          <a:noFill/>
          <a:ln/>
        </p:spPr>
        <p:txBody>
          <a:bodyPr wrap="square" lIns="0" tIns="0" rIns="0" bIns="0" rtlCol="0" anchor="ctr"/>
          <a:lstStyle/>
          <a:p>
            <a:pPr algn="ctr" indent="0" marL="0">
              <a:buNone/>
            </a:pPr>
            <a:r>
              <a:rPr lang="en-US" sz="800" dirty="0">
                <a:solidFill>
                  <a:srgbClr val="FFFFFF"/>
                </a:solidFill>
              </a:rPr>
              <a:t>ON</a:t>
            </a:r>
            <a:endParaRPr lang="en-US" sz="800" dirty="0"/>
          </a:p>
        </p:txBody>
      </p:sp>
      <p:sp>
        <p:nvSpPr>
          <p:cNvPr id="32" name="Text 30"/>
          <p:cNvSpPr/>
          <p:nvPr/>
        </p:nvSpPr>
        <p:spPr>
          <a:xfrm>
            <a:off x="4846320" y="4023360"/>
            <a:ext cx="2286000" cy="274320"/>
          </a:xfrm>
          <a:prstGeom prst="rect">
            <a:avLst/>
          </a:prstGeom>
          <a:noFill/>
          <a:ln/>
        </p:spPr>
        <p:txBody>
          <a:bodyPr wrap="square" lIns="0" tIns="0" rIns="0" bIns="0" rtlCol="0" anchor="ctr"/>
          <a:lstStyle/>
          <a:p>
            <a:pPr indent="0" marL="0">
              <a:buNone/>
            </a:pPr>
            <a:r>
              <a:rPr lang="en-US" sz="1050" dirty="0">
                <a:solidFill>
                  <a:srgbClr val="134E4A"/>
                </a:solidFill>
              </a:rPr>
              <a:t>Vendredi</a:t>
            </a:r>
            <a:endParaRPr lang="en-US" sz="1050" dirty="0"/>
          </a:p>
        </p:txBody>
      </p:sp>
      <p:sp>
        <p:nvSpPr>
          <p:cNvPr id="33" name="Shape 31"/>
          <p:cNvSpPr/>
          <p:nvPr/>
        </p:nvSpPr>
        <p:spPr>
          <a:xfrm>
            <a:off x="7406640" y="4059936"/>
            <a:ext cx="502920" cy="201168"/>
          </a:xfrm>
          <a:prstGeom prst="rect">
            <a:avLst/>
          </a:prstGeom>
          <a:solidFill>
            <a:srgbClr val="E5E7EB"/>
          </a:solidFill>
          <a:ln/>
        </p:spPr>
      </p:sp>
      <p:sp>
        <p:nvSpPr>
          <p:cNvPr id="34" name="Text 32"/>
          <p:cNvSpPr/>
          <p:nvPr/>
        </p:nvSpPr>
        <p:spPr>
          <a:xfrm>
            <a:off x="7406640" y="4059936"/>
            <a:ext cx="502920" cy="201168"/>
          </a:xfrm>
          <a:prstGeom prst="rect">
            <a:avLst/>
          </a:prstGeom>
          <a:noFill/>
          <a:ln/>
        </p:spPr>
        <p:txBody>
          <a:bodyPr wrap="square" lIns="0" tIns="0" rIns="0" bIns="0" rtlCol="0" anchor="ctr"/>
          <a:lstStyle/>
          <a:p>
            <a:pPr algn="ctr" indent="0" marL="0">
              <a:buNone/>
            </a:pPr>
            <a:r>
              <a:rPr lang="en-US" sz="800" dirty="0">
                <a:solidFill>
                  <a:srgbClr val="6B7280"/>
                </a:solidFill>
              </a:rPr>
              <a:t>OFF</a:t>
            </a:r>
            <a:endParaRPr lang="en-US" sz="800" dirty="0"/>
          </a:p>
        </p:txBody>
      </p:sp>
      <p:sp>
        <p:nvSpPr>
          <p:cNvPr id="35" name="Text 33"/>
          <p:cNvSpPr/>
          <p:nvPr/>
        </p:nvSpPr>
        <p:spPr>
          <a:xfrm>
            <a:off x="4846320" y="4343400"/>
            <a:ext cx="2286000" cy="274320"/>
          </a:xfrm>
          <a:prstGeom prst="rect">
            <a:avLst/>
          </a:prstGeom>
          <a:noFill/>
          <a:ln/>
        </p:spPr>
        <p:txBody>
          <a:bodyPr wrap="square" lIns="0" tIns="0" rIns="0" bIns="0" rtlCol="0" anchor="ctr"/>
          <a:lstStyle/>
          <a:p>
            <a:pPr indent="0" marL="0">
              <a:buNone/>
            </a:pPr>
            <a:r>
              <a:rPr lang="en-US" sz="1050" dirty="0">
                <a:solidFill>
                  <a:srgbClr val="134E4A"/>
                </a:solidFill>
              </a:rPr>
              <a:t>Samedi</a:t>
            </a:r>
            <a:endParaRPr lang="en-US" sz="1050" dirty="0"/>
          </a:p>
        </p:txBody>
      </p:sp>
      <p:sp>
        <p:nvSpPr>
          <p:cNvPr id="36" name="Shape 34"/>
          <p:cNvSpPr/>
          <p:nvPr/>
        </p:nvSpPr>
        <p:spPr>
          <a:xfrm>
            <a:off x="7406640" y="4379976"/>
            <a:ext cx="502920" cy="201168"/>
          </a:xfrm>
          <a:prstGeom prst="rect">
            <a:avLst/>
          </a:prstGeom>
          <a:solidFill>
            <a:srgbClr val="E5E7EB"/>
          </a:solidFill>
          <a:ln/>
        </p:spPr>
      </p:sp>
      <p:sp>
        <p:nvSpPr>
          <p:cNvPr id="37" name="Text 35"/>
          <p:cNvSpPr/>
          <p:nvPr/>
        </p:nvSpPr>
        <p:spPr>
          <a:xfrm>
            <a:off x="7406640" y="4379976"/>
            <a:ext cx="502920" cy="201168"/>
          </a:xfrm>
          <a:prstGeom prst="rect">
            <a:avLst/>
          </a:prstGeom>
          <a:noFill/>
          <a:ln/>
        </p:spPr>
        <p:txBody>
          <a:bodyPr wrap="square" lIns="0" tIns="0" rIns="0" bIns="0" rtlCol="0" anchor="ctr"/>
          <a:lstStyle/>
          <a:p>
            <a:pPr algn="ctr" indent="0" marL="0">
              <a:buNone/>
            </a:pPr>
            <a:r>
              <a:rPr lang="en-US" sz="800" dirty="0">
                <a:solidFill>
                  <a:srgbClr val="6B7280"/>
                </a:solidFill>
              </a:rPr>
              <a:t>OFF</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FDFA"/>
        </a:solidFill>
      </p:bgPr>
    </p:bg>
    <p:spTree>
      <p:nvGrpSpPr>
        <p:cNvPr id="1" name=""/>
        <p:cNvGrpSpPr/>
        <p:nvPr/>
      </p:nvGrpSpPr>
      <p:grpSpPr>
        <a:xfrm>
          <a:off x="0" y="0"/>
          <a:ext cx="0" cy="0"/>
          <a:chOff x="0" y="0"/>
          <a:chExt cx="0" cy="0"/>
        </a:xfrm>
      </p:grpSpPr>
      <p:sp>
        <p:nvSpPr>
          <p:cNvPr id="2" name="Shape 0"/>
          <p:cNvSpPr/>
          <p:nvPr/>
        </p:nvSpPr>
        <p:spPr>
          <a:xfrm>
            <a:off x="457200" y="274320"/>
            <a:ext cx="1645920" cy="274320"/>
          </a:xfrm>
          <a:prstGeom prst="rect">
            <a:avLst>
              <a:gd name="adj" fmla="val 13333"/>
            </a:avLst>
          </a:prstGeom>
          <a:solidFill>
            <a:srgbClr val="0D9488"/>
          </a:solidFill>
          <a:ln/>
        </p:spPr>
      </p:sp>
      <p:sp>
        <p:nvSpPr>
          <p:cNvPr id="3" name="Text 1"/>
          <p:cNvSpPr/>
          <p:nvPr/>
        </p:nvSpPr>
        <p:spPr>
          <a:xfrm>
            <a:off x="457200" y="274320"/>
            <a:ext cx="1645920" cy="274320"/>
          </a:xfrm>
          <a:prstGeom prst="rect">
            <a:avLst/>
          </a:prstGeom>
          <a:noFill/>
          <a:ln/>
        </p:spPr>
        <p:txBody>
          <a:bodyPr wrap="square" lIns="0" tIns="0" rIns="0" bIns="0" rtlCol="0" anchor="ctr"/>
          <a:lstStyle/>
          <a:p>
            <a:pPr algn="ctr" indent="0" marL="0">
              <a:buNone/>
            </a:pPr>
            <a:r>
              <a:rPr lang="en-US" sz="900" b="1" dirty="0">
                <a:solidFill>
                  <a:srgbClr val="FFFFFF"/>
                </a:solidFill>
              </a:rPr>
              <a:t>MÉDECIN</a:t>
            </a:r>
            <a:endParaRPr lang="en-US" sz="900" dirty="0"/>
          </a:p>
        </p:txBody>
      </p:sp>
      <p:sp>
        <p:nvSpPr>
          <p:cNvPr id="4" name="Text 2"/>
          <p:cNvSpPr/>
          <p:nvPr/>
        </p:nvSpPr>
        <p:spPr>
          <a:xfrm>
            <a:off x="457200" y="685800"/>
            <a:ext cx="8229600" cy="548640"/>
          </a:xfrm>
          <a:prstGeom prst="rect">
            <a:avLst/>
          </a:prstGeom>
          <a:noFill/>
          <a:ln/>
        </p:spPr>
        <p:txBody>
          <a:bodyPr wrap="square" lIns="0" tIns="0" rIns="0" bIns="0" rtlCol="0" anchor="ctr"/>
          <a:lstStyle/>
          <a:p>
            <a:pPr indent="0" marL="0">
              <a:buNone/>
            </a:pPr>
            <a:r>
              <a:rPr lang="en-US" sz="2600" b="1" dirty="0">
                <a:solidFill>
                  <a:srgbClr val="0D9488"/>
                </a:solidFill>
              </a:rPr>
              <a:t>Avis Patients &amp; Dossiers Médicaux</a:t>
            </a:r>
            <a:endParaRPr lang="en-US" sz="2600" dirty="0"/>
          </a:p>
        </p:txBody>
      </p:sp>
      <p:sp>
        <p:nvSpPr>
          <p:cNvPr id="5" name="Shape 3"/>
          <p:cNvSpPr/>
          <p:nvPr/>
        </p:nvSpPr>
        <p:spPr>
          <a:xfrm>
            <a:off x="0" y="685800"/>
            <a:ext cx="64008" cy="457200"/>
          </a:xfrm>
          <a:prstGeom prst="rect">
            <a:avLst/>
          </a:prstGeom>
          <a:solidFill>
            <a:srgbClr val="0D9488"/>
          </a:solidFill>
          <a:ln/>
        </p:spPr>
      </p:sp>
      <p:sp>
        <p:nvSpPr>
          <p:cNvPr id="6" name="Shape 4"/>
          <p:cNvSpPr/>
          <p:nvPr/>
        </p:nvSpPr>
        <p:spPr>
          <a:xfrm>
            <a:off x="457200" y="1417320"/>
            <a:ext cx="4023360" cy="33832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7" name="Text 5"/>
          <p:cNvSpPr/>
          <p:nvPr/>
        </p:nvSpPr>
        <p:spPr>
          <a:xfrm>
            <a:off x="640080" y="1554480"/>
            <a:ext cx="3657600" cy="365760"/>
          </a:xfrm>
          <a:prstGeom prst="rect">
            <a:avLst/>
          </a:prstGeom>
          <a:noFill/>
          <a:ln/>
        </p:spPr>
        <p:txBody>
          <a:bodyPr wrap="square" lIns="0" tIns="0" rIns="0" bIns="0" rtlCol="0" anchor="ctr"/>
          <a:lstStyle/>
          <a:p>
            <a:pPr indent="0" marL="0">
              <a:buNone/>
            </a:pPr>
            <a:r>
              <a:rPr lang="en-US" sz="1400" b="1" dirty="0">
                <a:solidFill>
                  <a:srgbClr val="0D9488"/>
                </a:solidFill>
              </a:rPr>
              <a:t>⭐ Avis &amp; Notations</a:t>
            </a:r>
            <a:endParaRPr lang="en-US" sz="1400" dirty="0"/>
          </a:p>
        </p:txBody>
      </p:sp>
      <p:sp>
        <p:nvSpPr>
          <p:cNvPr id="8" name="Text 6"/>
          <p:cNvSpPr/>
          <p:nvPr/>
        </p:nvSpPr>
        <p:spPr>
          <a:xfrm>
            <a:off x="731520" y="2011680"/>
            <a:ext cx="1097280" cy="731520"/>
          </a:xfrm>
          <a:prstGeom prst="rect">
            <a:avLst/>
          </a:prstGeom>
          <a:noFill/>
          <a:ln/>
        </p:spPr>
        <p:txBody>
          <a:bodyPr wrap="square" lIns="0" tIns="0" rIns="0" bIns="0" rtlCol="0" anchor="ctr"/>
          <a:lstStyle/>
          <a:p>
            <a:pPr indent="0" marL="0">
              <a:buNone/>
            </a:pPr>
            <a:r>
              <a:rPr lang="en-US" sz="4800" b="1" dirty="0">
                <a:solidFill>
                  <a:srgbClr val="0D9488"/>
                </a:solidFill>
              </a:rPr>
              <a:t>4.9</a:t>
            </a:r>
            <a:endParaRPr lang="en-US" sz="4800" dirty="0"/>
          </a:p>
        </p:txBody>
      </p:sp>
      <p:sp>
        <p:nvSpPr>
          <p:cNvPr id="9" name="Text 7"/>
          <p:cNvSpPr/>
          <p:nvPr/>
        </p:nvSpPr>
        <p:spPr>
          <a:xfrm>
            <a:off x="731520" y="2743200"/>
            <a:ext cx="1828800" cy="274320"/>
          </a:xfrm>
          <a:prstGeom prst="rect">
            <a:avLst/>
          </a:prstGeom>
          <a:noFill/>
          <a:ln/>
        </p:spPr>
        <p:txBody>
          <a:bodyPr wrap="square" lIns="0" tIns="0" rIns="0" bIns="0" rtlCol="0" anchor="ctr"/>
          <a:lstStyle/>
          <a:p>
            <a:pPr indent="0" marL="0">
              <a:buNone/>
            </a:pPr>
            <a:r>
              <a:rPr lang="en-US" sz="1100" dirty="0">
                <a:solidFill>
                  <a:srgbClr val="6B7280"/>
                </a:solidFill>
              </a:rPr>
              <a:t>312 avis</a:t>
            </a:r>
            <a:endParaRPr lang="en-US" sz="1100" dirty="0"/>
          </a:p>
        </p:txBody>
      </p:sp>
      <p:sp>
        <p:nvSpPr>
          <p:cNvPr id="10" name="Text 8"/>
          <p:cNvSpPr/>
          <p:nvPr/>
        </p:nvSpPr>
        <p:spPr>
          <a:xfrm>
            <a:off x="640080" y="3154680"/>
            <a:ext cx="2286000" cy="274320"/>
          </a:xfrm>
          <a:prstGeom prst="rect">
            <a:avLst/>
          </a:prstGeom>
          <a:noFill/>
          <a:ln/>
        </p:spPr>
        <p:txBody>
          <a:bodyPr wrap="square" lIns="0" tIns="0" rIns="0" bIns="0" rtlCol="0" anchor="ctr"/>
          <a:lstStyle/>
          <a:p>
            <a:pPr indent="0" marL="0">
              <a:buNone/>
            </a:pPr>
            <a:r>
              <a:rPr lang="en-US" sz="1050" dirty="0">
                <a:solidFill>
                  <a:srgbClr val="134E4A"/>
                </a:solidFill>
              </a:rPr>
              <a:t>Temps d'attente</a:t>
            </a:r>
            <a:endParaRPr lang="en-US" sz="1050" dirty="0"/>
          </a:p>
        </p:txBody>
      </p:sp>
      <p:sp>
        <p:nvSpPr>
          <p:cNvPr id="11" name="Shape 9"/>
          <p:cNvSpPr/>
          <p:nvPr/>
        </p:nvSpPr>
        <p:spPr>
          <a:xfrm>
            <a:off x="2743200" y="3200400"/>
            <a:ext cx="1179576" cy="164592"/>
          </a:xfrm>
          <a:prstGeom prst="rect">
            <a:avLst/>
          </a:prstGeom>
          <a:solidFill>
            <a:srgbClr val="0D9488"/>
          </a:solidFill>
          <a:ln/>
        </p:spPr>
      </p:sp>
      <p:sp>
        <p:nvSpPr>
          <p:cNvPr id="12" name="Text 10"/>
          <p:cNvSpPr/>
          <p:nvPr/>
        </p:nvSpPr>
        <p:spPr>
          <a:xfrm>
            <a:off x="3383280" y="3154680"/>
            <a:ext cx="731520" cy="274320"/>
          </a:xfrm>
          <a:prstGeom prst="rect">
            <a:avLst/>
          </a:prstGeom>
          <a:noFill/>
          <a:ln/>
        </p:spPr>
        <p:txBody>
          <a:bodyPr wrap="square" lIns="0" tIns="0" rIns="0" bIns="0" rtlCol="0" anchor="ctr"/>
          <a:lstStyle/>
          <a:p>
            <a:pPr indent="0" marL="0">
              <a:buNone/>
            </a:pPr>
            <a:r>
              <a:rPr lang="en-US" sz="1050" b="1" dirty="0">
                <a:solidFill>
                  <a:srgbClr val="0D9488"/>
                </a:solidFill>
              </a:rPr>
              <a:t>4.3</a:t>
            </a:r>
            <a:endParaRPr lang="en-US" sz="1050" dirty="0"/>
          </a:p>
        </p:txBody>
      </p:sp>
      <p:sp>
        <p:nvSpPr>
          <p:cNvPr id="13" name="Text 11"/>
          <p:cNvSpPr/>
          <p:nvPr/>
        </p:nvSpPr>
        <p:spPr>
          <a:xfrm>
            <a:off x="640080" y="3502152"/>
            <a:ext cx="2286000" cy="274320"/>
          </a:xfrm>
          <a:prstGeom prst="rect">
            <a:avLst/>
          </a:prstGeom>
          <a:noFill/>
          <a:ln/>
        </p:spPr>
        <p:txBody>
          <a:bodyPr wrap="square" lIns="0" tIns="0" rIns="0" bIns="0" rtlCol="0" anchor="ctr"/>
          <a:lstStyle/>
          <a:p>
            <a:pPr indent="0" marL="0">
              <a:buNone/>
            </a:pPr>
            <a:r>
              <a:rPr lang="en-US" sz="1050" dirty="0">
                <a:solidFill>
                  <a:srgbClr val="134E4A"/>
                </a:solidFill>
              </a:rPr>
              <a:t>Hygiène</a:t>
            </a:r>
            <a:endParaRPr lang="en-US" sz="1050" dirty="0"/>
          </a:p>
        </p:txBody>
      </p:sp>
      <p:sp>
        <p:nvSpPr>
          <p:cNvPr id="14" name="Shape 12"/>
          <p:cNvSpPr/>
          <p:nvPr/>
        </p:nvSpPr>
        <p:spPr>
          <a:xfrm>
            <a:off x="2743200" y="3547872"/>
            <a:ext cx="1371600" cy="164592"/>
          </a:xfrm>
          <a:prstGeom prst="rect">
            <a:avLst/>
          </a:prstGeom>
          <a:solidFill>
            <a:srgbClr val="0D9488"/>
          </a:solidFill>
          <a:ln/>
        </p:spPr>
      </p:sp>
      <p:sp>
        <p:nvSpPr>
          <p:cNvPr id="15" name="Text 13"/>
          <p:cNvSpPr/>
          <p:nvPr/>
        </p:nvSpPr>
        <p:spPr>
          <a:xfrm>
            <a:off x="3383280" y="3502152"/>
            <a:ext cx="731520" cy="274320"/>
          </a:xfrm>
          <a:prstGeom prst="rect">
            <a:avLst/>
          </a:prstGeom>
          <a:noFill/>
          <a:ln/>
        </p:spPr>
        <p:txBody>
          <a:bodyPr wrap="square" lIns="0" tIns="0" rIns="0" bIns="0" rtlCol="0" anchor="ctr"/>
          <a:lstStyle/>
          <a:p>
            <a:pPr indent="0" marL="0">
              <a:buNone/>
            </a:pPr>
            <a:r>
              <a:rPr lang="en-US" sz="1050" b="1" dirty="0">
                <a:solidFill>
                  <a:srgbClr val="0D9488"/>
                </a:solidFill>
              </a:rPr>
              <a:t>5.0</a:t>
            </a:r>
            <a:endParaRPr lang="en-US" sz="1050" dirty="0"/>
          </a:p>
        </p:txBody>
      </p:sp>
      <p:sp>
        <p:nvSpPr>
          <p:cNvPr id="16" name="Text 14"/>
          <p:cNvSpPr/>
          <p:nvPr/>
        </p:nvSpPr>
        <p:spPr>
          <a:xfrm>
            <a:off x="640080" y="3849624"/>
            <a:ext cx="2286000" cy="274320"/>
          </a:xfrm>
          <a:prstGeom prst="rect">
            <a:avLst/>
          </a:prstGeom>
          <a:noFill/>
          <a:ln/>
        </p:spPr>
        <p:txBody>
          <a:bodyPr wrap="square" lIns="0" tIns="0" rIns="0" bIns="0" rtlCol="0" anchor="ctr"/>
          <a:lstStyle/>
          <a:p>
            <a:pPr indent="0" marL="0">
              <a:buNone/>
            </a:pPr>
            <a:r>
              <a:rPr lang="en-US" sz="1050" dirty="0">
                <a:solidFill>
                  <a:srgbClr val="134E4A"/>
                </a:solidFill>
              </a:rPr>
              <a:t>Attention</a:t>
            </a:r>
            <a:endParaRPr lang="en-US" sz="1050" dirty="0"/>
          </a:p>
        </p:txBody>
      </p:sp>
      <p:sp>
        <p:nvSpPr>
          <p:cNvPr id="17" name="Shape 15"/>
          <p:cNvSpPr/>
          <p:nvPr/>
        </p:nvSpPr>
        <p:spPr>
          <a:xfrm>
            <a:off x="2743200" y="3895344"/>
            <a:ext cx="1371600" cy="164592"/>
          </a:xfrm>
          <a:prstGeom prst="rect">
            <a:avLst/>
          </a:prstGeom>
          <a:solidFill>
            <a:srgbClr val="0D9488"/>
          </a:solidFill>
          <a:ln/>
        </p:spPr>
      </p:sp>
      <p:sp>
        <p:nvSpPr>
          <p:cNvPr id="18" name="Text 16"/>
          <p:cNvSpPr/>
          <p:nvPr/>
        </p:nvSpPr>
        <p:spPr>
          <a:xfrm>
            <a:off x="3383280" y="3849624"/>
            <a:ext cx="731520" cy="274320"/>
          </a:xfrm>
          <a:prstGeom prst="rect">
            <a:avLst/>
          </a:prstGeom>
          <a:noFill/>
          <a:ln/>
        </p:spPr>
        <p:txBody>
          <a:bodyPr wrap="square" lIns="0" tIns="0" rIns="0" bIns="0" rtlCol="0" anchor="ctr"/>
          <a:lstStyle/>
          <a:p>
            <a:pPr indent="0" marL="0">
              <a:buNone/>
            </a:pPr>
            <a:r>
              <a:rPr lang="en-US" sz="1050" b="1" dirty="0">
                <a:solidFill>
                  <a:srgbClr val="0D9488"/>
                </a:solidFill>
              </a:rPr>
              <a:t>5.0</a:t>
            </a:r>
            <a:endParaRPr lang="en-US" sz="1050" dirty="0"/>
          </a:p>
        </p:txBody>
      </p:sp>
      <p:sp>
        <p:nvSpPr>
          <p:cNvPr id="19" name="Shape 17"/>
          <p:cNvSpPr/>
          <p:nvPr/>
        </p:nvSpPr>
        <p:spPr>
          <a:xfrm>
            <a:off x="4663440" y="1417320"/>
            <a:ext cx="4023360" cy="33832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0" name="Text 18"/>
          <p:cNvSpPr/>
          <p:nvPr/>
        </p:nvSpPr>
        <p:spPr>
          <a:xfrm>
            <a:off x="4846320" y="1554480"/>
            <a:ext cx="3657600" cy="365760"/>
          </a:xfrm>
          <a:prstGeom prst="rect">
            <a:avLst/>
          </a:prstGeom>
          <a:noFill/>
          <a:ln/>
        </p:spPr>
        <p:txBody>
          <a:bodyPr wrap="square" lIns="0" tIns="0" rIns="0" bIns="0" rtlCol="0" anchor="ctr"/>
          <a:lstStyle/>
          <a:p>
            <a:pPr indent="0" marL="0">
              <a:buNone/>
            </a:pPr>
            <a:r>
              <a:rPr lang="en-US" sz="1300" b="1" dirty="0">
                <a:solidFill>
                  <a:srgbClr val="0D9488"/>
                </a:solidFill>
              </a:rPr>
              <a:t>📋 Dossiers Médicaux (EHR)</a:t>
            </a:r>
            <a:endParaRPr lang="en-US" sz="1300" dirty="0"/>
          </a:p>
        </p:txBody>
      </p:sp>
      <p:sp>
        <p:nvSpPr>
          <p:cNvPr id="21" name="Shape 19"/>
          <p:cNvSpPr/>
          <p:nvPr/>
        </p:nvSpPr>
        <p:spPr>
          <a:xfrm>
            <a:off x="4754880" y="2176272"/>
            <a:ext cx="91440" cy="91440"/>
          </a:xfrm>
          <a:prstGeom prst="oval">
            <a:avLst/>
          </a:prstGeom>
          <a:solidFill>
            <a:srgbClr val="0D9488"/>
          </a:solidFill>
          <a:ln/>
        </p:spPr>
      </p:sp>
      <p:sp>
        <p:nvSpPr>
          <p:cNvPr id="22" name="Text 20"/>
          <p:cNvSpPr/>
          <p:nvPr/>
        </p:nvSpPr>
        <p:spPr>
          <a:xfrm>
            <a:off x="4919472" y="2103120"/>
            <a:ext cx="3675888" cy="292608"/>
          </a:xfrm>
          <a:prstGeom prst="rect">
            <a:avLst/>
          </a:prstGeom>
          <a:noFill/>
          <a:ln/>
        </p:spPr>
        <p:txBody>
          <a:bodyPr wrap="square" lIns="0" tIns="0" rIns="0" bIns="0" rtlCol="0" anchor="ctr"/>
          <a:lstStyle/>
          <a:p>
            <a:pPr indent="0" marL="0">
              <a:buNone/>
            </a:pPr>
            <a:r>
              <a:rPr lang="en-US" sz="1200" dirty="0">
                <a:solidFill>
                  <a:srgbClr val="134E4A"/>
                </a:solidFill>
              </a:rPr>
              <a:t>MedicalRecord (dossier maître)</a:t>
            </a:r>
            <a:endParaRPr lang="en-US" sz="1200" dirty="0"/>
          </a:p>
        </p:txBody>
      </p:sp>
      <p:sp>
        <p:nvSpPr>
          <p:cNvPr id="23" name="Shape 21"/>
          <p:cNvSpPr/>
          <p:nvPr/>
        </p:nvSpPr>
        <p:spPr>
          <a:xfrm>
            <a:off x="4754880" y="2651760"/>
            <a:ext cx="91440" cy="91440"/>
          </a:xfrm>
          <a:prstGeom prst="oval">
            <a:avLst/>
          </a:prstGeom>
          <a:solidFill>
            <a:srgbClr val="0D9488"/>
          </a:solidFill>
          <a:ln/>
        </p:spPr>
      </p:sp>
      <p:sp>
        <p:nvSpPr>
          <p:cNvPr id="24" name="Text 22"/>
          <p:cNvSpPr/>
          <p:nvPr/>
        </p:nvSpPr>
        <p:spPr>
          <a:xfrm>
            <a:off x="4919472" y="2578608"/>
            <a:ext cx="3675888" cy="292608"/>
          </a:xfrm>
          <a:prstGeom prst="rect">
            <a:avLst/>
          </a:prstGeom>
          <a:noFill/>
          <a:ln/>
        </p:spPr>
        <p:txBody>
          <a:bodyPr wrap="square" lIns="0" tIns="0" rIns="0" bIns="0" rtlCol="0" anchor="ctr"/>
          <a:lstStyle/>
          <a:p>
            <a:pPr indent="0" marL="0">
              <a:buNone/>
            </a:pPr>
            <a:r>
              <a:rPr lang="en-US" sz="1200" dirty="0">
                <a:solidFill>
                  <a:srgbClr val="134E4A"/>
                </a:solidFill>
              </a:rPr>
              <a:t>Consultation (rencontre clinique)</a:t>
            </a:r>
            <a:endParaRPr lang="en-US" sz="1200" dirty="0"/>
          </a:p>
        </p:txBody>
      </p:sp>
      <p:sp>
        <p:nvSpPr>
          <p:cNvPr id="25" name="Shape 23"/>
          <p:cNvSpPr/>
          <p:nvPr/>
        </p:nvSpPr>
        <p:spPr>
          <a:xfrm>
            <a:off x="4754880" y="3127248"/>
            <a:ext cx="91440" cy="91440"/>
          </a:xfrm>
          <a:prstGeom prst="oval">
            <a:avLst/>
          </a:prstGeom>
          <a:solidFill>
            <a:srgbClr val="0D9488"/>
          </a:solidFill>
          <a:ln/>
        </p:spPr>
      </p:sp>
      <p:sp>
        <p:nvSpPr>
          <p:cNvPr id="26" name="Text 24"/>
          <p:cNvSpPr/>
          <p:nvPr/>
        </p:nvSpPr>
        <p:spPr>
          <a:xfrm>
            <a:off x="4919472" y="3054096"/>
            <a:ext cx="3675888" cy="292608"/>
          </a:xfrm>
          <a:prstGeom prst="rect">
            <a:avLst/>
          </a:prstGeom>
          <a:noFill/>
          <a:ln/>
        </p:spPr>
        <p:txBody>
          <a:bodyPr wrap="square" lIns="0" tIns="0" rIns="0" bIns="0" rtlCol="0" anchor="ctr"/>
          <a:lstStyle/>
          <a:p>
            <a:pPr indent="0" marL="0">
              <a:buNone/>
            </a:pPr>
            <a:r>
              <a:rPr lang="en-US" sz="1200" dirty="0">
                <a:solidFill>
                  <a:srgbClr val="134E4A"/>
                </a:solidFill>
              </a:rPr>
              <a:t>Diagnosis (diagnostic)</a:t>
            </a:r>
            <a:endParaRPr lang="en-US" sz="1200" dirty="0"/>
          </a:p>
        </p:txBody>
      </p:sp>
      <p:sp>
        <p:nvSpPr>
          <p:cNvPr id="27" name="Shape 25"/>
          <p:cNvSpPr/>
          <p:nvPr/>
        </p:nvSpPr>
        <p:spPr>
          <a:xfrm>
            <a:off x="4754880" y="3602736"/>
            <a:ext cx="91440" cy="91440"/>
          </a:xfrm>
          <a:prstGeom prst="oval">
            <a:avLst/>
          </a:prstGeom>
          <a:solidFill>
            <a:srgbClr val="0D9488"/>
          </a:solidFill>
          <a:ln/>
        </p:spPr>
      </p:sp>
      <p:sp>
        <p:nvSpPr>
          <p:cNvPr id="28" name="Text 26"/>
          <p:cNvSpPr/>
          <p:nvPr/>
        </p:nvSpPr>
        <p:spPr>
          <a:xfrm>
            <a:off x="4919472" y="3529584"/>
            <a:ext cx="3675888" cy="292608"/>
          </a:xfrm>
          <a:prstGeom prst="rect">
            <a:avLst/>
          </a:prstGeom>
          <a:noFill/>
          <a:ln/>
        </p:spPr>
        <p:txBody>
          <a:bodyPr wrap="square" lIns="0" tIns="0" rIns="0" bIns="0" rtlCol="0" anchor="ctr"/>
          <a:lstStyle/>
          <a:p>
            <a:pPr indent="0" marL="0">
              <a:buNone/>
            </a:pPr>
            <a:r>
              <a:rPr lang="en-US" sz="1200" dirty="0">
                <a:solidFill>
                  <a:srgbClr val="134E4A"/>
                </a:solidFill>
              </a:rPr>
              <a:t>Prescription (ordonnances)</a:t>
            </a:r>
            <a:endParaRPr lang="en-US" sz="1200" dirty="0"/>
          </a:p>
        </p:txBody>
      </p:sp>
      <p:sp>
        <p:nvSpPr>
          <p:cNvPr id="29" name="Shape 27"/>
          <p:cNvSpPr/>
          <p:nvPr/>
        </p:nvSpPr>
        <p:spPr>
          <a:xfrm>
            <a:off x="4754880" y="4078224"/>
            <a:ext cx="91440" cy="91440"/>
          </a:xfrm>
          <a:prstGeom prst="oval">
            <a:avLst/>
          </a:prstGeom>
          <a:solidFill>
            <a:srgbClr val="0D9488"/>
          </a:solidFill>
          <a:ln/>
        </p:spPr>
      </p:sp>
      <p:sp>
        <p:nvSpPr>
          <p:cNvPr id="30" name="Text 28"/>
          <p:cNvSpPr/>
          <p:nvPr/>
        </p:nvSpPr>
        <p:spPr>
          <a:xfrm>
            <a:off x="4919472" y="4005072"/>
            <a:ext cx="3675888" cy="292608"/>
          </a:xfrm>
          <a:prstGeom prst="rect">
            <a:avLst/>
          </a:prstGeom>
          <a:noFill/>
          <a:ln/>
        </p:spPr>
        <p:txBody>
          <a:bodyPr wrap="square" lIns="0" tIns="0" rIns="0" bIns="0" rtlCol="0" anchor="ctr"/>
          <a:lstStyle/>
          <a:p>
            <a:pPr indent="0" marL="0">
              <a:buNone/>
            </a:pPr>
            <a:r>
              <a:rPr lang="en-US" sz="1200" dirty="0">
                <a:solidFill>
                  <a:srgbClr val="134E4A"/>
                </a:solidFill>
              </a:rPr>
              <a:t>Attachment (résultats d'analyses)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FDFA"/>
        </a:solidFill>
      </p:bgPr>
    </p:bg>
    <p:spTree>
      <p:nvGrpSpPr>
        <p:cNvPr id="1" name=""/>
        <p:cNvGrpSpPr/>
        <p:nvPr/>
      </p:nvGrpSpPr>
      <p:grpSpPr>
        <a:xfrm>
          <a:off x="0" y="0"/>
          <a:ext cx="0" cy="0"/>
          <a:chOff x="0" y="0"/>
          <a:chExt cx="0" cy="0"/>
        </a:xfrm>
      </p:grpSpPr>
      <p:sp>
        <p:nvSpPr>
          <p:cNvPr id="2" name="Shape 0"/>
          <p:cNvSpPr/>
          <p:nvPr/>
        </p:nvSpPr>
        <p:spPr>
          <a:xfrm>
            <a:off x="457200" y="274320"/>
            <a:ext cx="1645920" cy="274320"/>
          </a:xfrm>
          <a:prstGeom prst="rect">
            <a:avLst>
              <a:gd name="adj" fmla="val 13333"/>
            </a:avLst>
          </a:prstGeom>
          <a:solidFill>
            <a:srgbClr val="0D9488"/>
          </a:solidFill>
          <a:ln/>
        </p:spPr>
      </p:sp>
      <p:sp>
        <p:nvSpPr>
          <p:cNvPr id="3" name="Text 1"/>
          <p:cNvSpPr/>
          <p:nvPr/>
        </p:nvSpPr>
        <p:spPr>
          <a:xfrm>
            <a:off x="457200" y="274320"/>
            <a:ext cx="1645920" cy="274320"/>
          </a:xfrm>
          <a:prstGeom prst="rect">
            <a:avLst/>
          </a:prstGeom>
          <a:noFill/>
          <a:ln/>
        </p:spPr>
        <p:txBody>
          <a:bodyPr wrap="square" lIns="0" tIns="0" rIns="0" bIns="0" rtlCol="0" anchor="ctr"/>
          <a:lstStyle/>
          <a:p>
            <a:pPr algn="ctr" indent="0" marL="0">
              <a:buNone/>
            </a:pPr>
            <a:r>
              <a:rPr lang="en-US" sz="900" b="1" dirty="0">
                <a:solidFill>
                  <a:srgbClr val="FFFFFF"/>
                </a:solidFill>
              </a:rPr>
              <a:t>SÉCURITÉ</a:t>
            </a:r>
            <a:endParaRPr lang="en-US" sz="900" dirty="0"/>
          </a:p>
        </p:txBody>
      </p:sp>
      <p:sp>
        <p:nvSpPr>
          <p:cNvPr id="4" name="Text 2"/>
          <p:cNvSpPr/>
          <p:nvPr/>
        </p:nvSpPr>
        <p:spPr>
          <a:xfrm>
            <a:off x="457200" y="685800"/>
            <a:ext cx="8229600" cy="548640"/>
          </a:xfrm>
          <a:prstGeom prst="rect">
            <a:avLst/>
          </a:prstGeom>
          <a:noFill/>
          <a:ln/>
        </p:spPr>
        <p:txBody>
          <a:bodyPr wrap="square" lIns="0" tIns="0" rIns="0" bIns="0" rtlCol="0" anchor="ctr"/>
          <a:lstStyle/>
          <a:p>
            <a:pPr indent="0" marL="0">
              <a:buNone/>
            </a:pPr>
            <a:r>
              <a:rPr lang="en-US" sz="2600" b="1" dirty="0">
                <a:solidFill>
                  <a:srgbClr val="0D9488"/>
                </a:solidFill>
              </a:rPr>
              <a:t>Mesures Anti-Fraude &amp; Sécurité</a:t>
            </a:r>
            <a:endParaRPr lang="en-US" sz="2600" dirty="0"/>
          </a:p>
        </p:txBody>
      </p:sp>
      <p:sp>
        <p:nvSpPr>
          <p:cNvPr id="5" name="Shape 3"/>
          <p:cNvSpPr/>
          <p:nvPr/>
        </p:nvSpPr>
        <p:spPr>
          <a:xfrm>
            <a:off x="0" y="685800"/>
            <a:ext cx="64008" cy="457200"/>
          </a:xfrm>
          <a:prstGeom prst="rect">
            <a:avLst/>
          </a:prstGeom>
          <a:solidFill>
            <a:srgbClr val="0D9488"/>
          </a:solidFill>
          <a:ln/>
        </p:spPr>
      </p:sp>
      <p:sp>
        <p:nvSpPr>
          <p:cNvPr id="6" name="Shape 4"/>
          <p:cNvSpPr/>
          <p:nvPr/>
        </p:nvSpPr>
        <p:spPr>
          <a:xfrm>
            <a:off x="457200" y="1417320"/>
            <a:ext cx="4114800" cy="1508760"/>
          </a:xfrm>
          <a:prstGeom prst="rect">
            <a:avLst/>
          </a:prstGeom>
          <a:solidFill>
            <a:srgbClr val="FFFFFF"/>
          </a:solidFill>
          <a:ln/>
          <a:effectLst>
            <a:outerShdw sx="100000" sy="100000" kx="0" ky="0" algn="bl" rotWithShape="0" blurRad="101600" dist="38100" dir="8100000">
              <a:srgbClr val="000000">
                <a:alpha val="12000"/>
              </a:srgbClr>
            </a:outerShdw>
          </a:effectLst>
        </p:spPr>
      </p:sp>
      <p:pic>
        <p:nvPicPr>
          <p:cNvPr id="7" name="Image 0" descr="preencoded.png">    </p:cNvPr>
          <p:cNvPicPr>
            <a:picLocks noChangeAspect="1"/>
          </p:cNvPicPr>
          <p:nvPr/>
        </p:nvPicPr>
        <p:blipFill>
          <a:blip r:embed="rId1"/>
          <a:stretch>
            <a:fillRect/>
          </a:stretch>
        </p:blipFill>
        <p:spPr>
          <a:xfrm>
            <a:off x="640080" y="1947672"/>
            <a:ext cx="411480" cy="411480"/>
          </a:xfrm>
          <a:prstGeom prst="rect">
            <a:avLst/>
          </a:prstGeom>
        </p:spPr>
      </p:pic>
      <p:sp>
        <p:nvSpPr>
          <p:cNvPr id="8" name="Text 5"/>
          <p:cNvSpPr/>
          <p:nvPr/>
        </p:nvSpPr>
        <p:spPr>
          <a:xfrm>
            <a:off x="1143000" y="1508760"/>
            <a:ext cx="3291840" cy="384048"/>
          </a:xfrm>
          <a:prstGeom prst="rect">
            <a:avLst/>
          </a:prstGeom>
          <a:noFill/>
          <a:ln/>
        </p:spPr>
        <p:txBody>
          <a:bodyPr wrap="square" lIns="0" tIns="0" rIns="0" bIns="0" rtlCol="0" anchor="ctr"/>
          <a:lstStyle/>
          <a:p>
            <a:pPr indent="0" marL="0">
              <a:buNone/>
            </a:pPr>
            <a:r>
              <a:rPr lang="en-US" sz="1200" b="1" dirty="0">
                <a:solidFill>
                  <a:srgbClr val="0D9488"/>
                </a:solidFill>
              </a:rPr>
              <a:t>JWT Stateless (HS256/HS384)</a:t>
            </a:r>
            <a:endParaRPr lang="en-US" sz="1200" dirty="0"/>
          </a:p>
        </p:txBody>
      </p:sp>
      <p:sp>
        <p:nvSpPr>
          <p:cNvPr id="9" name="Text 6"/>
          <p:cNvSpPr/>
          <p:nvPr/>
        </p:nvSpPr>
        <p:spPr>
          <a:xfrm>
            <a:off x="1143000" y="1984248"/>
            <a:ext cx="3291840" cy="777240"/>
          </a:xfrm>
          <a:prstGeom prst="rect">
            <a:avLst/>
          </a:prstGeom>
          <a:noFill/>
          <a:ln/>
        </p:spPr>
        <p:txBody>
          <a:bodyPr wrap="square" lIns="0" tIns="0" rIns="0" bIns="0" rtlCol="0" anchor="ctr"/>
          <a:lstStyle/>
          <a:p>
            <a:pPr indent="0" marL="0">
              <a:buNone/>
            </a:pPr>
            <a:r>
              <a:rPr lang="en-US" sz="1050" dirty="0">
                <a:solidFill>
                  <a:srgbClr val="134E4A"/>
                </a:solidFill>
              </a:rPr>
              <a:t>Chaque requête est authentifiée par un token signé. Aucune session côté serveur, sécurité maximale.</a:t>
            </a:r>
            <a:endParaRPr lang="en-US" sz="1050" dirty="0"/>
          </a:p>
        </p:txBody>
      </p:sp>
      <p:sp>
        <p:nvSpPr>
          <p:cNvPr id="10" name="Shape 7"/>
          <p:cNvSpPr/>
          <p:nvPr/>
        </p:nvSpPr>
        <p:spPr>
          <a:xfrm>
            <a:off x="4846320" y="1417320"/>
            <a:ext cx="4114800" cy="1508760"/>
          </a:xfrm>
          <a:prstGeom prst="rect">
            <a:avLst/>
          </a:prstGeom>
          <a:solidFill>
            <a:srgbClr val="FFFFFF"/>
          </a:solidFill>
          <a:ln/>
          <a:effectLst>
            <a:outerShdw sx="100000" sy="100000" kx="0" ky="0" algn="bl" rotWithShape="0" blurRad="101600" dist="38100" dir="8100000">
              <a:srgbClr val="000000">
                <a:alpha val="12000"/>
              </a:srgbClr>
            </a:outerShdw>
          </a:effectLst>
        </p:spPr>
      </p:sp>
      <p:pic>
        <p:nvPicPr>
          <p:cNvPr id="11" name="Image 1" descr="preencoded.png">    </p:cNvPr>
          <p:cNvPicPr>
            <a:picLocks noChangeAspect="1"/>
          </p:cNvPicPr>
          <p:nvPr/>
        </p:nvPicPr>
        <p:blipFill>
          <a:blip r:embed="rId2"/>
          <a:stretch>
            <a:fillRect/>
          </a:stretch>
        </p:blipFill>
        <p:spPr>
          <a:xfrm>
            <a:off x="5029200" y="1947672"/>
            <a:ext cx="411480" cy="411480"/>
          </a:xfrm>
          <a:prstGeom prst="rect">
            <a:avLst/>
          </a:prstGeom>
        </p:spPr>
      </p:pic>
      <p:sp>
        <p:nvSpPr>
          <p:cNvPr id="12" name="Text 8"/>
          <p:cNvSpPr/>
          <p:nvPr/>
        </p:nvSpPr>
        <p:spPr>
          <a:xfrm>
            <a:off x="5532120" y="1508760"/>
            <a:ext cx="3291840" cy="384048"/>
          </a:xfrm>
          <a:prstGeom prst="rect">
            <a:avLst/>
          </a:prstGeom>
          <a:noFill/>
          <a:ln/>
        </p:spPr>
        <p:txBody>
          <a:bodyPr wrap="square" lIns="0" tIns="0" rIns="0" bIns="0" rtlCol="0" anchor="ctr"/>
          <a:lstStyle/>
          <a:p>
            <a:pPr indent="0" marL="0">
              <a:buNone/>
            </a:pPr>
            <a:r>
              <a:rPr lang="en-US" sz="1200" b="1" dirty="0">
                <a:solidFill>
                  <a:srgbClr val="0D9488"/>
                </a:solidFill>
              </a:rPr>
              <a:t>RBAC — Contrôle des Rôles</a:t>
            </a:r>
            <a:endParaRPr lang="en-US" sz="1200" dirty="0"/>
          </a:p>
        </p:txBody>
      </p:sp>
      <p:sp>
        <p:nvSpPr>
          <p:cNvPr id="13" name="Text 9"/>
          <p:cNvSpPr/>
          <p:nvPr/>
        </p:nvSpPr>
        <p:spPr>
          <a:xfrm>
            <a:off x="5532120" y="1984248"/>
            <a:ext cx="3291840" cy="777240"/>
          </a:xfrm>
          <a:prstGeom prst="rect">
            <a:avLst/>
          </a:prstGeom>
          <a:noFill/>
          <a:ln/>
        </p:spPr>
        <p:txBody>
          <a:bodyPr wrap="square" lIns="0" tIns="0" rIns="0" bIns="0" rtlCol="0" anchor="ctr"/>
          <a:lstStyle/>
          <a:p>
            <a:pPr indent="0" marL="0">
              <a:buNone/>
            </a:pPr>
            <a:r>
              <a:rPr lang="en-US" sz="1050" dirty="0">
                <a:solidFill>
                  <a:srgbClr val="134E4A"/>
                </a:solidFill>
              </a:rPr>
              <a:t>Patient, Médecin et Admin ont des permissions strictement séparées. Aucun accès croisé non autorisé.</a:t>
            </a:r>
            <a:endParaRPr lang="en-US" sz="1050" dirty="0"/>
          </a:p>
        </p:txBody>
      </p:sp>
      <p:sp>
        <p:nvSpPr>
          <p:cNvPr id="14" name="Shape 10"/>
          <p:cNvSpPr/>
          <p:nvPr/>
        </p:nvSpPr>
        <p:spPr>
          <a:xfrm>
            <a:off x="457200" y="3063240"/>
            <a:ext cx="4114800" cy="1508760"/>
          </a:xfrm>
          <a:prstGeom prst="rect">
            <a:avLst/>
          </a:prstGeom>
          <a:solidFill>
            <a:srgbClr val="FFFFFF"/>
          </a:solidFill>
          <a:ln/>
          <a:effectLst>
            <a:outerShdw sx="100000" sy="100000" kx="0" ky="0" algn="bl" rotWithShape="0" blurRad="101600" dist="38100" dir="8100000">
              <a:srgbClr val="000000">
                <a:alpha val="12000"/>
              </a:srgbClr>
            </a:outerShdw>
          </a:effectLst>
        </p:spPr>
      </p:sp>
      <p:pic>
        <p:nvPicPr>
          <p:cNvPr id="15" name="Image 2" descr="preencoded.png">    </p:cNvPr>
          <p:cNvPicPr>
            <a:picLocks noChangeAspect="1"/>
          </p:cNvPicPr>
          <p:nvPr/>
        </p:nvPicPr>
        <p:blipFill>
          <a:blip r:embed="rId3"/>
          <a:stretch>
            <a:fillRect/>
          </a:stretch>
        </p:blipFill>
        <p:spPr>
          <a:xfrm>
            <a:off x="640080" y="3593592"/>
            <a:ext cx="411480" cy="411480"/>
          </a:xfrm>
          <a:prstGeom prst="rect">
            <a:avLst/>
          </a:prstGeom>
        </p:spPr>
      </p:pic>
      <p:sp>
        <p:nvSpPr>
          <p:cNvPr id="16" name="Text 11"/>
          <p:cNvSpPr/>
          <p:nvPr/>
        </p:nvSpPr>
        <p:spPr>
          <a:xfrm>
            <a:off x="1143000" y="3154680"/>
            <a:ext cx="3291840" cy="384048"/>
          </a:xfrm>
          <a:prstGeom prst="rect">
            <a:avLst/>
          </a:prstGeom>
          <a:noFill/>
          <a:ln/>
        </p:spPr>
        <p:txBody>
          <a:bodyPr wrap="square" lIns="0" tIns="0" rIns="0" bIns="0" rtlCol="0" anchor="ctr"/>
          <a:lstStyle/>
          <a:p>
            <a:pPr indent="0" marL="0">
              <a:buNone/>
            </a:pPr>
            <a:r>
              <a:rPr lang="en-US" sz="1200" b="1" dirty="0">
                <a:solidFill>
                  <a:srgbClr val="0D9488"/>
                </a:solidFill>
              </a:rPr>
              <a:t>PBKDF2 — Hachage Mots de passe</a:t>
            </a:r>
            <a:endParaRPr lang="en-US" sz="1200" dirty="0"/>
          </a:p>
        </p:txBody>
      </p:sp>
      <p:sp>
        <p:nvSpPr>
          <p:cNvPr id="17" name="Text 12"/>
          <p:cNvSpPr/>
          <p:nvPr/>
        </p:nvSpPr>
        <p:spPr>
          <a:xfrm>
            <a:off x="1143000" y="3630168"/>
            <a:ext cx="3291840" cy="777240"/>
          </a:xfrm>
          <a:prstGeom prst="rect">
            <a:avLst/>
          </a:prstGeom>
          <a:noFill/>
          <a:ln/>
        </p:spPr>
        <p:txBody>
          <a:bodyPr wrap="square" lIns="0" tIns="0" rIns="0" bIns="0" rtlCol="0" anchor="ctr"/>
          <a:lstStyle/>
          <a:p>
            <a:pPr indent="0" marL="0">
              <a:buNone/>
            </a:pPr>
            <a:r>
              <a:rPr lang="en-US" sz="1050" dirty="0">
                <a:solidFill>
                  <a:srgbClr val="134E4A"/>
                </a:solidFill>
              </a:rPr>
              <a:t>Mots de passe hachés avec make_password / check_password. Jamais stockés en clair.</a:t>
            </a:r>
            <a:endParaRPr lang="en-US" sz="1050" dirty="0"/>
          </a:p>
        </p:txBody>
      </p:sp>
      <p:sp>
        <p:nvSpPr>
          <p:cNvPr id="18" name="Shape 13"/>
          <p:cNvSpPr/>
          <p:nvPr/>
        </p:nvSpPr>
        <p:spPr>
          <a:xfrm>
            <a:off x="4846320" y="3063240"/>
            <a:ext cx="4114800" cy="1508760"/>
          </a:xfrm>
          <a:prstGeom prst="rect">
            <a:avLst/>
          </a:prstGeom>
          <a:solidFill>
            <a:srgbClr val="FFFFFF"/>
          </a:solidFill>
          <a:ln/>
          <a:effectLst>
            <a:outerShdw sx="100000" sy="100000" kx="0" ky="0" algn="bl" rotWithShape="0" blurRad="101600" dist="38100" dir="8100000">
              <a:srgbClr val="000000">
                <a:alpha val="12000"/>
              </a:srgbClr>
            </a:outerShdw>
          </a:effectLst>
        </p:spPr>
      </p:sp>
      <p:pic>
        <p:nvPicPr>
          <p:cNvPr id="19" name="Image 3" descr="preencoded.png">    </p:cNvPr>
          <p:cNvPicPr>
            <a:picLocks noChangeAspect="1"/>
          </p:cNvPicPr>
          <p:nvPr/>
        </p:nvPicPr>
        <p:blipFill>
          <a:blip r:embed="rId4"/>
          <a:stretch>
            <a:fillRect/>
          </a:stretch>
        </p:blipFill>
        <p:spPr>
          <a:xfrm>
            <a:off x="5029200" y="3593592"/>
            <a:ext cx="411480" cy="411480"/>
          </a:xfrm>
          <a:prstGeom prst="rect">
            <a:avLst/>
          </a:prstGeom>
        </p:spPr>
      </p:pic>
      <p:sp>
        <p:nvSpPr>
          <p:cNvPr id="20" name="Text 14"/>
          <p:cNvSpPr/>
          <p:nvPr/>
        </p:nvSpPr>
        <p:spPr>
          <a:xfrm>
            <a:off x="5532120" y="3154680"/>
            <a:ext cx="3291840" cy="384048"/>
          </a:xfrm>
          <a:prstGeom prst="rect">
            <a:avLst/>
          </a:prstGeom>
          <a:noFill/>
          <a:ln/>
        </p:spPr>
        <p:txBody>
          <a:bodyPr wrap="square" lIns="0" tIns="0" rIns="0" bIns="0" rtlCol="0" anchor="ctr"/>
          <a:lstStyle/>
          <a:p>
            <a:pPr indent="0" marL="0">
              <a:buNone/>
            </a:pPr>
            <a:r>
              <a:rPr lang="en-US" sz="1200" b="1" dirty="0">
                <a:solidFill>
                  <a:srgbClr val="0D9488"/>
                </a:solidFill>
              </a:rPr>
              <a:t>Règle des 24h</a:t>
            </a:r>
            <a:endParaRPr lang="en-US" sz="1200" dirty="0"/>
          </a:p>
        </p:txBody>
      </p:sp>
      <p:sp>
        <p:nvSpPr>
          <p:cNvPr id="21" name="Text 15"/>
          <p:cNvSpPr/>
          <p:nvPr/>
        </p:nvSpPr>
        <p:spPr>
          <a:xfrm>
            <a:off x="5532120" y="3630168"/>
            <a:ext cx="3291840" cy="777240"/>
          </a:xfrm>
          <a:prstGeom prst="rect">
            <a:avLst/>
          </a:prstGeom>
          <a:noFill/>
          <a:ln/>
        </p:spPr>
        <p:txBody>
          <a:bodyPr wrap="square" lIns="0" tIns="0" rIns="0" bIns="0" rtlCol="0" anchor="ctr"/>
          <a:lstStyle/>
          <a:p>
            <a:pPr indent="0" marL="0">
              <a:buNone/>
            </a:pPr>
            <a:r>
              <a:rPr lang="en-US" sz="1050" dirty="0">
                <a:solidFill>
                  <a:srgbClr val="134E4A"/>
                </a:solidFill>
              </a:rPr>
              <a:t>Annulation ou report d'un rendez-vous confirmé impossible dans les 24h précédentes.</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0FDFA"/>
        </a:solidFill>
      </p:bgPr>
    </p:bg>
    <p:spTree>
      <p:nvGrpSpPr>
        <p:cNvPr id="1" name=""/>
        <p:cNvGrpSpPr/>
        <p:nvPr/>
      </p:nvGrpSpPr>
      <p:grpSpPr>
        <a:xfrm>
          <a:off x="0" y="0"/>
          <a:ext cx="0" cy="0"/>
          <a:chOff x="0" y="0"/>
          <a:chExt cx="0" cy="0"/>
        </a:xfrm>
      </p:grpSpPr>
      <p:sp>
        <p:nvSpPr>
          <p:cNvPr id="2" name="Shape 0"/>
          <p:cNvSpPr/>
          <p:nvPr/>
        </p:nvSpPr>
        <p:spPr>
          <a:xfrm>
            <a:off x="457200" y="274320"/>
            <a:ext cx="1645920" cy="274320"/>
          </a:xfrm>
          <a:prstGeom prst="rect">
            <a:avLst>
              <a:gd name="adj" fmla="val 13333"/>
            </a:avLst>
          </a:prstGeom>
          <a:solidFill>
            <a:srgbClr val="0D9488"/>
          </a:solidFill>
          <a:ln/>
        </p:spPr>
      </p:sp>
      <p:sp>
        <p:nvSpPr>
          <p:cNvPr id="3" name="Text 1"/>
          <p:cNvSpPr/>
          <p:nvPr/>
        </p:nvSpPr>
        <p:spPr>
          <a:xfrm>
            <a:off x="457200" y="274320"/>
            <a:ext cx="1645920" cy="274320"/>
          </a:xfrm>
          <a:prstGeom prst="rect">
            <a:avLst/>
          </a:prstGeom>
          <a:noFill/>
          <a:ln/>
        </p:spPr>
        <p:txBody>
          <a:bodyPr wrap="square" lIns="0" tIns="0" rIns="0" bIns="0" rtlCol="0" anchor="ctr"/>
          <a:lstStyle/>
          <a:p>
            <a:pPr algn="ctr" indent="0" marL="0">
              <a:buNone/>
            </a:pPr>
            <a:r>
              <a:rPr lang="en-US" sz="900" b="1" dirty="0">
                <a:solidFill>
                  <a:srgbClr val="FFFFFF"/>
                </a:solidFill>
              </a:rPr>
              <a:t>ALGORITHMES</a:t>
            </a:r>
            <a:endParaRPr lang="en-US" sz="900" dirty="0"/>
          </a:p>
        </p:txBody>
      </p:sp>
      <p:sp>
        <p:nvSpPr>
          <p:cNvPr id="4" name="Text 2"/>
          <p:cNvSpPr/>
          <p:nvPr/>
        </p:nvSpPr>
        <p:spPr>
          <a:xfrm>
            <a:off x="457200" y="685800"/>
            <a:ext cx="8229600" cy="548640"/>
          </a:xfrm>
          <a:prstGeom prst="rect">
            <a:avLst/>
          </a:prstGeom>
          <a:noFill/>
          <a:ln/>
        </p:spPr>
        <p:txBody>
          <a:bodyPr wrap="square" lIns="0" tIns="0" rIns="0" bIns="0" rtlCol="0" anchor="ctr"/>
          <a:lstStyle/>
          <a:p>
            <a:pPr indent="0" marL="0">
              <a:buNone/>
            </a:pPr>
            <a:r>
              <a:rPr lang="en-US" sz="2800" b="1" dirty="0">
                <a:solidFill>
                  <a:srgbClr val="0D9488"/>
                </a:solidFill>
              </a:rPr>
              <a:t>Algorithmes Clés</a:t>
            </a:r>
            <a:endParaRPr lang="en-US" sz="2800" dirty="0"/>
          </a:p>
        </p:txBody>
      </p:sp>
      <p:sp>
        <p:nvSpPr>
          <p:cNvPr id="5" name="Shape 3"/>
          <p:cNvSpPr/>
          <p:nvPr/>
        </p:nvSpPr>
        <p:spPr>
          <a:xfrm>
            <a:off x="0" y="685800"/>
            <a:ext cx="64008" cy="457200"/>
          </a:xfrm>
          <a:prstGeom prst="rect">
            <a:avLst/>
          </a:prstGeom>
          <a:solidFill>
            <a:srgbClr val="0D9488"/>
          </a:solidFill>
          <a:ln/>
        </p:spPr>
      </p:sp>
      <p:sp>
        <p:nvSpPr>
          <p:cNvPr id="6" name="Shape 4"/>
          <p:cNvSpPr/>
          <p:nvPr/>
        </p:nvSpPr>
        <p:spPr>
          <a:xfrm>
            <a:off x="457200" y="1417320"/>
            <a:ext cx="8229600" cy="594360"/>
          </a:xfrm>
          <a:prstGeom prst="rect">
            <a:avLst/>
          </a:prstGeom>
          <a:solidFill>
            <a:srgbClr val="CCFBF1"/>
          </a:solidFill>
          <a:ln/>
        </p:spPr>
      </p:sp>
      <p:sp>
        <p:nvSpPr>
          <p:cNvPr id="7" name="Text 5"/>
          <p:cNvSpPr/>
          <p:nvPr/>
        </p:nvSpPr>
        <p:spPr>
          <a:xfrm>
            <a:off x="640080" y="1417320"/>
            <a:ext cx="7863840" cy="594360"/>
          </a:xfrm>
          <a:prstGeom prst="rect">
            <a:avLst/>
          </a:prstGeom>
          <a:noFill/>
          <a:ln/>
        </p:spPr>
        <p:txBody>
          <a:bodyPr wrap="square" lIns="0" tIns="0" rIns="0" bIns="0" rtlCol="0" anchor="ctr"/>
          <a:lstStyle/>
          <a:p>
            <a:pPr algn="ctr" indent="0" marL="0">
              <a:buNone/>
            </a:pPr>
            <a:r>
              <a:rPr lang="en-US" sz="1300" b="1" dirty="0">
                <a:solidFill>
                  <a:srgbClr val="0D9488"/>
                </a:solidFill>
              </a:rPr>
              <a:t>Créneaux libres  =  Intervalles totaux  −  (Rendez-vous confirmés  +  Heures de pause)</a:t>
            </a:r>
            <a:endParaRPr lang="en-US" sz="1300" dirty="0"/>
          </a:p>
        </p:txBody>
      </p:sp>
      <p:sp>
        <p:nvSpPr>
          <p:cNvPr id="8" name="Shape 6"/>
          <p:cNvSpPr/>
          <p:nvPr/>
        </p:nvSpPr>
        <p:spPr>
          <a:xfrm>
            <a:off x="457200" y="2148840"/>
            <a:ext cx="2651760" cy="26974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9" name="Text 7"/>
          <p:cNvSpPr/>
          <p:nvPr/>
        </p:nvSpPr>
        <p:spPr>
          <a:xfrm>
            <a:off x="594360" y="2240280"/>
            <a:ext cx="2377440" cy="384048"/>
          </a:xfrm>
          <a:prstGeom prst="rect">
            <a:avLst/>
          </a:prstGeom>
          <a:noFill/>
          <a:ln/>
        </p:spPr>
        <p:txBody>
          <a:bodyPr wrap="square" lIns="0" tIns="0" rIns="0" bIns="0" rtlCol="0" anchor="ctr"/>
          <a:lstStyle/>
          <a:p>
            <a:pPr algn="ctr" indent="0" marL="0">
              <a:buNone/>
            </a:pPr>
            <a:r>
              <a:rPr lang="en-US" sz="1200" b="1" dirty="0">
                <a:solidFill>
                  <a:srgbClr val="0D9488"/>
                </a:solidFill>
              </a:rPr>
              <a:t>Slot Finder Dynamique</a:t>
            </a:r>
            <a:endParaRPr lang="en-US" sz="1200" dirty="0"/>
          </a:p>
        </p:txBody>
      </p:sp>
      <p:sp>
        <p:nvSpPr>
          <p:cNvPr id="10" name="Shape 8"/>
          <p:cNvSpPr/>
          <p:nvPr/>
        </p:nvSpPr>
        <p:spPr>
          <a:xfrm>
            <a:off x="640080" y="2862072"/>
            <a:ext cx="91440" cy="91440"/>
          </a:xfrm>
          <a:prstGeom prst="oval">
            <a:avLst/>
          </a:prstGeom>
          <a:solidFill>
            <a:srgbClr val="0D9488"/>
          </a:solidFill>
          <a:ln/>
        </p:spPr>
      </p:sp>
      <p:sp>
        <p:nvSpPr>
          <p:cNvPr id="11" name="Text 9"/>
          <p:cNvSpPr/>
          <p:nvPr/>
        </p:nvSpPr>
        <p:spPr>
          <a:xfrm>
            <a:off x="804672" y="2788920"/>
            <a:ext cx="2212848" cy="292608"/>
          </a:xfrm>
          <a:prstGeom prst="rect">
            <a:avLst/>
          </a:prstGeom>
          <a:noFill/>
          <a:ln/>
        </p:spPr>
        <p:txBody>
          <a:bodyPr wrap="square" lIns="0" tIns="0" rIns="0" bIns="0" rtlCol="0" anchor="ctr"/>
          <a:lstStyle/>
          <a:p>
            <a:pPr indent="0" marL="0">
              <a:buNone/>
            </a:pPr>
            <a:r>
              <a:rPr lang="en-US" sz="1200" dirty="0">
                <a:solidFill>
                  <a:srgbClr val="134E4A"/>
                </a:solidFill>
              </a:rPr>
              <a:t>Récupère les règles de dispo du médecin</a:t>
            </a:r>
            <a:endParaRPr lang="en-US" sz="1200" dirty="0"/>
          </a:p>
        </p:txBody>
      </p:sp>
      <p:sp>
        <p:nvSpPr>
          <p:cNvPr id="12" name="Shape 10"/>
          <p:cNvSpPr/>
          <p:nvPr/>
        </p:nvSpPr>
        <p:spPr>
          <a:xfrm>
            <a:off x="640080" y="3300984"/>
            <a:ext cx="91440" cy="91440"/>
          </a:xfrm>
          <a:prstGeom prst="oval">
            <a:avLst/>
          </a:prstGeom>
          <a:solidFill>
            <a:srgbClr val="0D9488"/>
          </a:solidFill>
          <a:ln/>
        </p:spPr>
      </p:sp>
      <p:sp>
        <p:nvSpPr>
          <p:cNvPr id="13" name="Text 11"/>
          <p:cNvSpPr/>
          <p:nvPr/>
        </p:nvSpPr>
        <p:spPr>
          <a:xfrm>
            <a:off x="804672" y="3227832"/>
            <a:ext cx="2212848" cy="292608"/>
          </a:xfrm>
          <a:prstGeom prst="rect">
            <a:avLst/>
          </a:prstGeom>
          <a:noFill/>
          <a:ln/>
        </p:spPr>
        <p:txBody>
          <a:bodyPr wrap="square" lIns="0" tIns="0" rIns="0" bIns="0" rtlCol="0" anchor="ctr"/>
          <a:lstStyle/>
          <a:p>
            <a:pPr indent="0" marL="0">
              <a:buNone/>
            </a:pPr>
            <a:r>
              <a:rPr lang="en-US" sz="1200" dirty="0">
                <a:solidFill>
                  <a:srgbClr val="134E4A"/>
                </a:solidFill>
              </a:rPr>
              <a:t>Recroît avec les RDV actifs de la date</a:t>
            </a:r>
            <a:endParaRPr lang="en-US" sz="1200" dirty="0"/>
          </a:p>
        </p:txBody>
      </p:sp>
      <p:sp>
        <p:nvSpPr>
          <p:cNvPr id="14" name="Shape 12"/>
          <p:cNvSpPr/>
          <p:nvPr/>
        </p:nvSpPr>
        <p:spPr>
          <a:xfrm>
            <a:off x="640080" y="3739896"/>
            <a:ext cx="91440" cy="91440"/>
          </a:xfrm>
          <a:prstGeom prst="oval">
            <a:avLst/>
          </a:prstGeom>
          <a:solidFill>
            <a:srgbClr val="0D9488"/>
          </a:solidFill>
          <a:ln/>
        </p:spPr>
      </p:sp>
      <p:sp>
        <p:nvSpPr>
          <p:cNvPr id="15" name="Text 13"/>
          <p:cNvSpPr/>
          <p:nvPr/>
        </p:nvSpPr>
        <p:spPr>
          <a:xfrm>
            <a:off x="804672" y="3666744"/>
            <a:ext cx="2212848" cy="292608"/>
          </a:xfrm>
          <a:prstGeom prst="rect">
            <a:avLst/>
          </a:prstGeom>
          <a:noFill/>
          <a:ln/>
        </p:spPr>
        <p:txBody>
          <a:bodyPr wrap="square" lIns="0" tIns="0" rIns="0" bIns="0" rtlCol="0" anchor="ctr"/>
          <a:lstStyle/>
          <a:p>
            <a:pPr indent="0" marL="0">
              <a:buNone/>
            </a:pPr>
            <a:r>
              <a:rPr lang="en-US" sz="1200" dirty="0">
                <a:solidFill>
                  <a:srgbClr val="134E4A"/>
                </a:solidFill>
              </a:rPr>
              <a:t>Filtre les plages chevauchantes</a:t>
            </a:r>
            <a:endParaRPr lang="en-US" sz="1200" dirty="0"/>
          </a:p>
        </p:txBody>
      </p:sp>
      <p:sp>
        <p:nvSpPr>
          <p:cNvPr id="16" name="Shape 14"/>
          <p:cNvSpPr/>
          <p:nvPr/>
        </p:nvSpPr>
        <p:spPr>
          <a:xfrm>
            <a:off x="640080" y="4178808"/>
            <a:ext cx="91440" cy="91440"/>
          </a:xfrm>
          <a:prstGeom prst="oval">
            <a:avLst/>
          </a:prstGeom>
          <a:solidFill>
            <a:srgbClr val="0D9488"/>
          </a:solidFill>
          <a:ln/>
        </p:spPr>
      </p:sp>
      <p:sp>
        <p:nvSpPr>
          <p:cNvPr id="17" name="Text 15"/>
          <p:cNvSpPr/>
          <p:nvPr/>
        </p:nvSpPr>
        <p:spPr>
          <a:xfrm>
            <a:off x="804672" y="4105656"/>
            <a:ext cx="2212848" cy="292608"/>
          </a:xfrm>
          <a:prstGeom prst="rect">
            <a:avLst/>
          </a:prstGeom>
          <a:noFill/>
          <a:ln/>
        </p:spPr>
        <p:txBody>
          <a:bodyPr wrap="square" lIns="0" tIns="0" rIns="0" bIns="0" rtlCol="0" anchor="ctr"/>
          <a:lstStyle/>
          <a:p>
            <a:pPr indent="0" marL="0">
              <a:buNone/>
            </a:pPr>
            <a:r>
              <a:rPr lang="en-US" sz="1200" dirty="0">
                <a:solidFill>
                  <a:srgbClr val="134E4A"/>
                </a:solidFill>
              </a:rPr>
              <a:t>Envoie uniquement les créneaux libres</a:t>
            </a:r>
            <a:endParaRPr lang="en-US" sz="1200" dirty="0"/>
          </a:p>
        </p:txBody>
      </p:sp>
      <p:sp>
        <p:nvSpPr>
          <p:cNvPr id="18" name="Shape 16"/>
          <p:cNvSpPr/>
          <p:nvPr/>
        </p:nvSpPr>
        <p:spPr>
          <a:xfrm>
            <a:off x="3355848" y="2148840"/>
            <a:ext cx="2651760" cy="26974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9" name="Text 17"/>
          <p:cNvSpPr/>
          <p:nvPr/>
        </p:nvSpPr>
        <p:spPr>
          <a:xfrm>
            <a:off x="3493008" y="2240280"/>
            <a:ext cx="2377440" cy="384048"/>
          </a:xfrm>
          <a:prstGeom prst="rect">
            <a:avLst/>
          </a:prstGeom>
          <a:noFill/>
          <a:ln/>
        </p:spPr>
        <p:txBody>
          <a:bodyPr wrap="square" lIns="0" tIns="0" rIns="0" bIns="0" rtlCol="0" anchor="ctr"/>
          <a:lstStyle/>
          <a:p>
            <a:pPr algn="ctr" indent="0" marL="0">
              <a:buNone/>
            </a:pPr>
            <a:r>
              <a:rPr lang="en-US" sz="1200" b="1" dirty="0">
                <a:solidFill>
                  <a:srgbClr val="0D9488"/>
                </a:solidFill>
              </a:rPr>
              <a:t>Cycle de Vie des RDV</a:t>
            </a:r>
            <a:endParaRPr lang="en-US" sz="1200" dirty="0"/>
          </a:p>
        </p:txBody>
      </p:sp>
      <p:sp>
        <p:nvSpPr>
          <p:cNvPr id="20" name="Shape 18"/>
          <p:cNvSpPr/>
          <p:nvPr/>
        </p:nvSpPr>
        <p:spPr>
          <a:xfrm>
            <a:off x="3538728" y="2862072"/>
            <a:ext cx="91440" cy="91440"/>
          </a:xfrm>
          <a:prstGeom prst="oval">
            <a:avLst/>
          </a:prstGeom>
          <a:solidFill>
            <a:srgbClr val="0D9488"/>
          </a:solidFill>
          <a:ln/>
        </p:spPr>
      </p:sp>
      <p:sp>
        <p:nvSpPr>
          <p:cNvPr id="21" name="Text 19"/>
          <p:cNvSpPr/>
          <p:nvPr/>
        </p:nvSpPr>
        <p:spPr>
          <a:xfrm>
            <a:off x="3703320" y="2788920"/>
            <a:ext cx="2212848" cy="292608"/>
          </a:xfrm>
          <a:prstGeom prst="rect">
            <a:avLst/>
          </a:prstGeom>
          <a:noFill/>
          <a:ln/>
        </p:spPr>
        <p:txBody>
          <a:bodyPr wrap="square" lIns="0" tIns="0" rIns="0" bIns="0" rtlCol="0" anchor="ctr"/>
          <a:lstStyle/>
          <a:p>
            <a:pPr indent="0" marL="0">
              <a:buNone/>
            </a:pPr>
            <a:r>
              <a:rPr lang="en-US" sz="1200" dirty="0">
                <a:solidFill>
                  <a:srgbClr val="134E4A"/>
                </a:solidFill>
              </a:rPr>
              <a:t>pending → confirmed</a:t>
            </a:r>
            <a:endParaRPr lang="en-US" sz="1200" dirty="0"/>
          </a:p>
        </p:txBody>
      </p:sp>
      <p:sp>
        <p:nvSpPr>
          <p:cNvPr id="22" name="Shape 20"/>
          <p:cNvSpPr/>
          <p:nvPr/>
        </p:nvSpPr>
        <p:spPr>
          <a:xfrm>
            <a:off x="3538728" y="3300984"/>
            <a:ext cx="91440" cy="91440"/>
          </a:xfrm>
          <a:prstGeom prst="oval">
            <a:avLst/>
          </a:prstGeom>
          <a:solidFill>
            <a:srgbClr val="0D9488"/>
          </a:solidFill>
          <a:ln/>
        </p:spPr>
      </p:sp>
      <p:sp>
        <p:nvSpPr>
          <p:cNvPr id="23" name="Text 21"/>
          <p:cNvSpPr/>
          <p:nvPr/>
        </p:nvSpPr>
        <p:spPr>
          <a:xfrm>
            <a:off x="3703320" y="3227832"/>
            <a:ext cx="2212848" cy="292608"/>
          </a:xfrm>
          <a:prstGeom prst="rect">
            <a:avLst/>
          </a:prstGeom>
          <a:noFill/>
          <a:ln/>
        </p:spPr>
        <p:txBody>
          <a:bodyPr wrap="square" lIns="0" tIns="0" rIns="0" bIns="0" rtlCol="0" anchor="ctr"/>
          <a:lstStyle/>
          <a:p>
            <a:pPr indent="0" marL="0">
              <a:buNone/>
            </a:pPr>
            <a:r>
              <a:rPr lang="en-US" sz="1200" dirty="0">
                <a:solidFill>
                  <a:srgbClr val="134E4A"/>
                </a:solidFill>
              </a:rPr>
              <a:t>confirmed → completed</a:t>
            </a:r>
            <a:endParaRPr lang="en-US" sz="1200" dirty="0"/>
          </a:p>
        </p:txBody>
      </p:sp>
      <p:sp>
        <p:nvSpPr>
          <p:cNvPr id="24" name="Shape 22"/>
          <p:cNvSpPr/>
          <p:nvPr/>
        </p:nvSpPr>
        <p:spPr>
          <a:xfrm>
            <a:off x="3538728" y="3739896"/>
            <a:ext cx="91440" cy="91440"/>
          </a:xfrm>
          <a:prstGeom prst="oval">
            <a:avLst/>
          </a:prstGeom>
          <a:solidFill>
            <a:srgbClr val="0D9488"/>
          </a:solidFill>
          <a:ln/>
        </p:spPr>
      </p:sp>
      <p:sp>
        <p:nvSpPr>
          <p:cNvPr id="25" name="Text 23"/>
          <p:cNvSpPr/>
          <p:nvPr/>
        </p:nvSpPr>
        <p:spPr>
          <a:xfrm>
            <a:off x="3703320" y="3666744"/>
            <a:ext cx="2212848" cy="292608"/>
          </a:xfrm>
          <a:prstGeom prst="rect">
            <a:avLst/>
          </a:prstGeom>
          <a:noFill/>
          <a:ln/>
        </p:spPr>
        <p:txBody>
          <a:bodyPr wrap="square" lIns="0" tIns="0" rIns="0" bIns="0" rtlCol="0" anchor="ctr"/>
          <a:lstStyle/>
          <a:p>
            <a:pPr indent="0" marL="0">
              <a:buNone/>
            </a:pPr>
            <a:r>
              <a:rPr lang="en-US" sz="1200" dirty="0">
                <a:solidFill>
                  <a:srgbClr val="134E4A"/>
                </a:solidFill>
              </a:rPr>
              <a:t>confirmed → canceled</a:t>
            </a:r>
            <a:endParaRPr lang="en-US" sz="1200" dirty="0"/>
          </a:p>
        </p:txBody>
      </p:sp>
      <p:sp>
        <p:nvSpPr>
          <p:cNvPr id="26" name="Shape 24"/>
          <p:cNvSpPr/>
          <p:nvPr/>
        </p:nvSpPr>
        <p:spPr>
          <a:xfrm>
            <a:off x="3538728" y="4178808"/>
            <a:ext cx="91440" cy="91440"/>
          </a:xfrm>
          <a:prstGeom prst="oval">
            <a:avLst/>
          </a:prstGeom>
          <a:solidFill>
            <a:srgbClr val="0D9488"/>
          </a:solidFill>
          <a:ln/>
        </p:spPr>
      </p:sp>
      <p:sp>
        <p:nvSpPr>
          <p:cNvPr id="27" name="Text 25"/>
          <p:cNvSpPr/>
          <p:nvPr/>
        </p:nvSpPr>
        <p:spPr>
          <a:xfrm>
            <a:off x="3703320" y="4105656"/>
            <a:ext cx="2212848" cy="292608"/>
          </a:xfrm>
          <a:prstGeom prst="rect">
            <a:avLst/>
          </a:prstGeom>
          <a:noFill/>
          <a:ln/>
        </p:spPr>
        <p:txBody>
          <a:bodyPr wrap="square" lIns="0" tIns="0" rIns="0" bIns="0" rtlCol="0" anchor="ctr"/>
          <a:lstStyle/>
          <a:p>
            <a:pPr indent="0" marL="0">
              <a:buNone/>
            </a:pPr>
            <a:r>
              <a:rPr lang="en-US" sz="1200" dirty="0">
                <a:solidFill>
                  <a:srgbClr val="134E4A"/>
                </a:solidFill>
              </a:rPr>
              <a:t>confirmed → rejected + audit log</a:t>
            </a:r>
            <a:endParaRPr lang="en-US" sz="1200" dirty="0"/>
          </a:p>
        </p:txBody>
      </p:sp>
      <p:sp>
        <p:nvSpPr>
          <p:cNvPr id="28" name="Shape 26"/>
          <p:cNvSpPr/>
          <p:nvPr/>
        </p:nvSpPr>
        <p:spPr>
          <a:xfrm>
            <a:off x="6254496" y="2148840"/>
            <a:ext cx="2651760" cy="26974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9" name="Text 27"/>
          <p:cNvSpPr/>
          <p:nvPr/>
        </p:nvSpPr>
        <p:spPr>
          <a:xfrm>
            <a:off x="6391656" y="2240280"/>
            <a:ext cx="2377440" cy="384048"/>
          </a:xfrm>
          <a:prstGeom prst="rect">
            <a:avLst/>
          </a:prstGeom>
          <a:noFill/>
          <a:ln/>
        </p:spPr>
        <p:txBody>
          <a:bodyPr wrap="square" lIns="0" tIns="0" rIns="0" bIns="0" rtlCol="0" anchor="ctr"/>
          <a:lstStyle/>
          <a:p>
            <a:pPr algn="ctr" indent="0" marL="0">
              <a:buNone/>
            </a:pPr>
            <a:r>
              <a:rPr lang="en-US" sz="1200" b="1" dirty="0">
                <a:solidFill>
                  <a:srgbClr val="0D9488"/>
                </a:solidFill>
              </a:rPr>
              <a:t>Audit Ledger</a:t>
            </a:r>
            <a:endParaRPr lang="en-US" sz="1200" dirty="0"/>
          </a:p>
        </p:txBody>
      </p:sp>
      <p:sp>
        <p:nvSpPr>
          <p:cNvPr id="30" name="Shape 28"/>
          <p:cNvSpPr/>
          <p:nvPr/>
        </p:nvSpPr>
        <p:spPr>
          <a:xfrm>
            <a:off x="6437376" y="2862072"/>
            <a:ext cx="91440" cy="91440"/>
          </a:xfrm>
          <a:prstGeom prst="oval">
            <a:avLst/>
          </a:prstGeom>
          <a:solidFill>
            <a:srgbClr val="0D9488"/>
          </a:solidFill>
          <a:ln/>
        </p:spPr>
      </p:sp>
      <p:sp>
        <p:nvSpPr>
          <p:cNvPr id="31" name="Text 29"/>
          <p:cNvSpPr/>
          <p:nvPr/>
        </p:nvSpPr>
        <p:spPr>
          <a:xfrm>
            <a:off x="6601968" y="2788920"/>
            <a:ext cx="2212848" cy="292608"/>
          </a:xfrm>
          <a:prstGeom prst="rect">
            <a:avLst/>
          </a:prstGeom>
          <a:noFill/>
          <a:ln/>
        </p:spPr>
        <p:txBody>
          <a:bodyPr wrap="square" lIns="0" tIns="0" rIns="0" bIns="0" rtlCol="0" anchor="ctr"/>
          <a:lstStyle/>
          <a:p>
            <a:pPr indent="0" marL="0">
              <a:buNone/>
            </a:pPr>
            <a:r>
              <a:rPr lang="en-US" sz="1200" dirty="0">
                <a:solidFill>
                  <a:srgbClr val="134E4A"/>
                </a:solidFill>
              </a:rPr>
              <a:t>Chaque changement de statut est horodaté</a:t>
            </a:r>
            <a:endParaRPr lang="en-US" sz="1200" dirty="0"/>
          </a:p>
        </p:txBody>
      </p:sp>
      <p:sp>
        <p:nvSpPr>
          <p:cNvPr id="32" name="Shape 30"/>
          <p:cNvSpPr/>
          <p:nvPr/>
        </p:nvSpPr>
        <p:spPr>
          <a:xfrm>
            <a:off x="6437376" y="3300984"/>
            <a:ext cx="91440" cy="91440"/>
          </a:xfrm>
          <a:prstGeom prst="oval">
            <a:avLst/>
          </a:prstGeom>
          <a:solidFill>
            <a:srgbClr val="0D9488"/>
          </a:solidFill>
          <a:ln/>
        </p:spPr>
      </p:sp>
      <p:sp>
        <p:nvSpPr>
          <p:cNvPr id="33" name="Text 31"/>
          <p:cNvSpPr/>
          <p:nvPr/>
        </p:nvSpPr>
        <p:spPr>
          <a:xfrm>
            <a:off x="6601968" y="3227832"/>
            <a:ext cx="2212848" cy="292608"/>
          </a:xfrm>
          <a:prstGeom prst="rect">
            <a:avLst/>
          </a:prstGeom>
          <a:noFill/>
          <a:ln/>
        </p:spPr>
        <p:txBody>
          <a:bodyPr wrap="square" lIns="0" tIns="0" rIns="0" bIns="0" rtlCol="0" anchor="ctr"/>
          <a:lstStyle/>
          <a:p>
            <a:pPr indent="0" marL="0">
              <a:buNone/>
            </a:pPr>
            <a:r>
              <a:rPr lang="en-US" sz="1200" dirty="0">
                <a:solidFill>
                  <a:srgbClr val="134E4A"/>
                </a:solidFill>
              </a:rPr>
              <a:t>Table AppointmentStatusHistory</a:t>
            </a:r>
            <a:endParaRPr lang="en-US" sz="1200" dirty="0"/>
          </a:p>
        </p:txBody>
      </p:sp>
      <p:sp>
        <p:nvSpPr>
          <p:cNvPr id="34" name="Shape 32"/>
          <p:cNvSpPr/>
          <p:nvPr/>
        </p:nvSpPr>
        <p:spPr>
          <a:xfrm>
            <a:off x="6437376" y="3739896"/>
            <a:ext cx="91440" cy="91440"/>
          </a:xfrm>
          <a:prstGeom prst="oval">
            <a:avLst/>
          </a:prstGeom>
          <a:solidFill>
            <a:srgbClr val="0D9488"/>
          </a:solidFill>
          <a:ln/>
        </p:spPr>
      </p:sp>
      <p:sp>
        <p:nvSpPr>
          <p:cNvPr id="35" name="Text 33"/>
          <p:cNvSpPr/>
          <p:nvPr/>
        </p:nvSpPr>
        <p:spPr>
          <a:xfrm>
            <a:off x="6601968" y="3666744"/>
            <a:ext cx="2212848" cy="292608"/>
          </a:xfrm>
          <a:prstGeom prst="rect">
            <a:avLst/>
          </a:prstGeom>
          <a:noFill/>
          <a:ln/>
        </p:spPr>
        <p:txBody>
          <a:bodyPr wrap="square" lIns="0" tIns="0" rIns="0" bIns="0" rtlCol="0" anchor="ctr"/>
          <a:lstStyle/>
          <a:p>
            <a:pPr indent="0" marL="0">
              <a:buNone/>
            </a:pPr>
            <a:r>
              <a:rPr lang="en-US" sz="1200" dirty="0">
                <a:solidFill>
                  <a:srgbClr val="134E4A"/>
                </a:solidFill>
              </a:rPr>
              <a:t>Traçabilité complète</a:t>
            </a:r>
            <a:endParaRPr lang="en-US" sz="1200" dirty="0"/>
          </a:p>
        </p:txBody>
      </p:sp>
      <p:sp>
        <p:nvSpPr>
          <p:cNvPr id="36" name="Shape 34"/>
          <p:cNvSpPr/>
          <p:nvPr/>
        </p:nvSpPr>
        <p:spPr>
          <a:xfrm>
            <a:off x="6437376" y="4178808"/>
            <a:ext cx="91440" cy="91440"/>
          </a:xfrm>
          <a:prstGeom prst="oval">
            <a:avLst/>
          </a:prstGeom>
          <a:solidFill>
            <a:srgbClr val="0D9488"/>
          </a:solidFill>
          <a:ln/>
        </p:spPr>
      </p:sp>
      <p:sp>
        <p:nvSpPr>
          <p:cNvPr id="37" name="Text 35"/>
          <p:cNvSpPr/>
          <p:nvPr/>
        </p:nvSpPr>
        <p:spPr>
          <a:xfrm>
            <a:off x="6601968" y="4105656"/>
            <a:ext cx="2212848" cy="292608"/>
          </a:xfrm>
          <a:prstGeom prst="rect">
            <a:avLst/>
          </a:prstGeom>
          <a:noFill/>
          <a:ln/>
        </p:spPr>
        <p:txBody>
          <a:bodyPr wrap="square" lIns="0" tIns="0" rIns="0" bIns="0" rtlCol="0" anchor="ctr"/>
          <a:lstStyle/>
          <a:p>
            <a:pPr indent="0" marL="0">
              <a:buNone/>
            </a:pPr>
            <a:r>
              <a:rPr lang="en-US" sz="1200" dirty="0">
                <a:solidFill>
                  <a:srgbClr val="134E4A"/>
                </a:solidFill>
              </a:rPr>
              <a:t>Impossible d'altérer l'historique</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0FDFA"/>
        </a:solidFill>
      </p:bgPr>
    </p:bg>
    <p:spTree>
      <p:nvGrpSpPr>
        <p:cNvPr id="1" name=""/>
        <p:cNvGrpSpPr/>
        <p:nvPr/>
      </p:nvGrpSpPr>
      <p:grpSpPr>
        <a:xfrm>
          <a:off x="0" y="0"/>
          <a:ext cx="0" cy="0"/>
          <a:chOff x="0" y="0"/>
          <a:chExt cx="0" cy="0"/>
        </a:xfrm>
      </p:grpSpPr>
      <p:sp>
        <p:nvSpPr>
          <p:cNvPr id="2" name="Shape 0"/>
          <p:cNvSpPr/>
          <p:nvPr/>
        </p:nvSpPr>
        <p:spPr>
          <a:xfrm>
            <a:off x="457200" y="274320"/>
            <a:ext cx="1645920" cy="274320"/>
          </a:xfrm>
          <a:prstGeom prst="rect">
            <a:avLst>
              <a:gd name="adj" fmla="val 13333"/>
            </a:avLst>
          </a:prstGeom>
          <a:solidFill>
            <a:srgbClr val="0D9488"/>
          </a:solidFill>
          <a:ln/>
        </p:spPr>
      </p:sp>
      <p:sp>
        <p:nvSpPr>
          <p:cNvPr id="3" name="Text 1"/>
          <p:cNvSpPr/>
          <p:nvPr/>
        </p:nvSpPr>
        <p:spPr>
          <a:xfrm>
            <a:off x="457200" y="274320"/>
            <a:ext cx="1645920" cy="274320"/>
          </a:xfrm>
          <a:prstGeom prst="rect">
            <a:avLst/>
          </a:prstGeom>
          <a:noFill/>
          <a:ln/>
        </p:spPr>
        <p:txBody>
          <a:bodyPr wrap="square" lIns="0" tIns="0" rIns="0" bIns="0" rtlCol="0" anchor="ctr"/>
          <a:lstStyle/>
          <a:p>
            <a:pPr algn="ctr" indent="0" marL="0">
              <a:buNone/>
            </a:pPr>
            <a:r>
              <a:rPr lang="en-US" sz="900" b="1" dirty="0">
                <a:solidFill>
                  <a:srgbClr val="FFFFFF"/>
                </a:solidFill>
              </a:rPr>
              <a:t>TECHNOLOGIES</a:t>
            </a:r>
            <a:endParaRPr lang="en-US" sz="900" dirty="0"/>
          </a:p>
        </p:txBody>
      </p:sp>
      <p:sp>
        <p:nvSpPr>
          <p:cNvPr id="4" name="Text 2"/>
          <p:cNvSpPr/>
          <p:nvPr/>
        </p:nvSpPr>
        <p:spPr>
          <a:xfrm>
            <a:off x="457200" y="685800"/>
            <a:ext cx="8229600" cy="548640"/>
          </a:xfrm>
          <a:prstGeom prst="rect">
            <a:avLst/>
          </a:prstGeom>
          <a:noFill/>
          <a:ln/>
        </p:spPr>
        <p:txBody>
          <a:bodyPr wrap="square" lIns="0" tIns="0" rIns="0" bIns="0" rtlCol="0" anchor="ctr"/>
          <a:lstStyle/>
          <a:p>
            <a:pPr indent="0" marL="0">
              <a:buNone/>
            </a:pPr>
            <a:r>
              <a:rPr lang="en-US" sz="2800" b="1" dirty="0">
                <a:solidFill>
                  <a:srgbClr val="0D9488"/>
                </a:solidFill>
              </a:rPr>
              <a:t>Technologies Utilisées</a:t>
            </a:r>
            <a:endParaRPr lang="en-US" sz="2800" dirty="0"/>
          </a:p>
        </p:txBody>
      </p:sp>
      <p:sp>
        <p:nvSpPr>
          <p:cNvPr id="5" name="Shape 3"/>
          <p:cNvSpPr/>
          <p:nvPr/>
        </p:nvSpPr>
        <p:spPr>
          <a:xfrm>
            <a:off x="0" y="685800"/>
            <a:ext cx="64008" cy="457200"/>
          </a:xfrm>
          <a:prstGeom prst="rect">
            <a:avLst/>
          </a:prstGeom>
          <a:solidFill>
            <a:srgbClr val="0D9488"/>
          </a:solidFill>
          <a:ln/>
        </p:spPr>
      </p:sp>
      <p:sp>
        <p:nvSpPr>
          <p:cNvPr id="6" name="Shape 4"/>
          <p:cNvSpPr/>
          <p:nvPr/>
        </p:nvSpPr>
        <p:spPr>
          <a:xfrm>
            <a:off x="457200" y="1417320"/>
            <a:ext cx="2651760" cy="14630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7" name="Shape 5"/>
          <p:cNvSpPr/>
          <p:nvPr/>
        </p:nvSpPr>
        <p:spPr>
          <a:xfrm>
            <a:off x="457200" y="1417320"/>
            <a:ext cx="2651760" cy="384048"/>
          </a:xfrm>
          <a:prstGeom prst="rect">
            <a:avLst/>
          </a:prstGeom>
          <a:solidFill>
            <a:srgbClr val="0D9488"/>
          </a:solidFill>
          <a:ln/>
        </p:spPr>
      </p:sp>
      <p:sp>
        <p:nvSpPr>
          <p:cNvPr id="8" name="Text 6"/>
          <p:cNvSpPr/>
          <p:nvPr/>
        </p:nvSpPr>
        <p:spPr>
          <a:xfrm>
            <a:off x="548640" y="1417320"/>
            <a:ext cx="2468880" cy="384048"/>
          </a:xfrm>
          <a:prstGeom prst="rect">
            <a:avLst/>
          </a:prstGeom>
          <a:noFill/>
          <a:ln/>
        </p:spPr>
        <p:txBody>
          <a:bodyPr wrap="square" lIns="0" tIns="0" rIns="0" bIns="0" rtlCol="0" anchor="ctr"/>
          <a:lstStyle/>
          <a:p>
            <a:pPr algn="ctr" indent="0" marL="0">
              <a:buNone/>
            </a:pPr>
            <a:r>
              <a:rPr lang="en-US" sz="1000" b="1" dirty="0">
                <a:solidFill>
                  <a:srgbClr val="FFFFFF"/>
                </a:solidFill>
              </a:rPr>
              <a:t>Frontend Mobile</a:t>
            </a:r>
            <a:endParaRPr lang="en-US" sz="1000" dirty="0"/>
          </a:p>
        </p:txBody>
      </p:sp>
      <p:sp>
        <p:nvSpPr>
          <p:cNvPr id="9" name="Text 7"/>
          <p:cNvSpPr/>
          <p:nvPr/>
        </p:nvSpPr>
        <p:spPr>
          <a:xfrm>
            <a:off x="548640" y="1874520"/>
            <a:ext cx="2468880" cy="457200"/>
          </a:xfrm>
          <a:prstGeom prst="rect">
            <a:avLst/>
          </a:prstGeom>
          <a:noFill/>
          <a:ln/>
        </p:spPr>
        <p:txBody>
          <a:bodyPr wrap="square" lIns="0" tIns="0" rIns="0" bIns="0" rtlCol="0" anchor="ctr"/>
          <a:lstStyle/>
          <a:p>
            <a:pPr algn="ctr" indent="0" marL="0">
              <a:buNone/>
            </a:pPr>
            <a:r>
              <a:rPr lang="en-US" sz="1500" b="1" dirty="0">
                <a:solidFill>
                  <a:srgbClr val="0D9488"/>
                </a:solidFill>
              </a:rPr>
              <a:t>Flutter + Dart</a:t>
            </a:r>
            <a:endParaRPr lang="en-US" sz="1500" dirty="0"/>
          </a:p>
        </p:txBody>
      </p:sp>
      <p:sp>
        <p:nvSpPr>
          <p:cNvPr id="10" name="Text 8"/>
          <p:cNvSpPr/>
          <p:nvPr/>
        </p:nvSpPr>
        <p:spPr>
          <a:xfrm>
            <a:off x="548640" y="2331720"/>
            <a:ext cx="2468880" cy="411480"/>
          </a:xfrm>
          <a:prstGeom prst="rect">
            <a:avLst/>
          </a:prstGeom>
          <a:noFill/>
          <a:ln/>
        </p:spPr>
        <p:txBody>
          <a:bodyPr wrap="square" lIns="0" tIns="0" rIns="0" bIns="0" rtlCol="0" anchor="ctr"/>
          <a:lstStyle/>
          <a:p>
            <a:pPr algn="ctr" indent="0" marL="0">
              <a:buNone/>
            </a:pPr>
            <a:r>
              <a:rPr lang="en-US" sz="1000" dirty="0">
                <a:solidFill>
                  <a:srgbClr val="6B7280"/>
                </a:solidFill>
              </a:rPr>
              <a:t>App cross-platform Android/iOS</a:t>
            </a:r>
            <a:endParaRPr lang="en-US" sz="1000" dirty="0"/>
          </a:p>
        </p:txBody>
      </p:sp>
      <p:sp>
        <p:nvSpPr>
          <p:cNvPr id="11" name="Shape 9"/>
          <p:cNvSpPr/>
          <p:nvPr/>
        </p:nvSpPr>
        <p:spPr>
          <a:xfrm>
            <a:off x="3355848" y="1417320"/>
            <a:ext cx="2651760" cy="14630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2" name="Shape 10"/>
          <p:cNvSpPr/>
          <p:nvPr/>
        </p:nvSpPr>
        <p:spPr>
          <a:xfrm>
            <a:off x="3355848" y="1417320"/>
            <a:ext cx="2651760" cy="384048"/>
          </a:xfrm>
          <a:prstGeom prst="rect">
            <a:avLst/>
          </a:prstGeom>
          <a:solidFill>
            <a:srgbClr val="0D9488"/>
          </a:solidFill>
          <a:ln/>
        </p:spPr>
      </p:sp>
      <p:sp>
        <p:nvSpPr>
          <p:cNvPr id="13" name="Text 11"/>
          <p:cNvSpPr/>
          <p:nvPr/>
        </p:nvSpPr>
        <p:spPr>
          <a:xfrm>
            <a:off x="3447288" y="1417320"/>
            <a:ext cx="2468880" cy="384048"/>
          </a:xfrm>
          <a:prstGeom prst="rect">
            <a:avLst/>
          </a:prstGeom>
          <a:noFill/>
          <a:ln/>
        </p:spPr>
        <p:txBody>
          <a:bodyPr wrap="square" lIns="0" tIns="0" rIns="0" bIns="0" rtlCol="0" anchor="ctr"/>
          <a:lstStyle/>
          <a:p>
            <a:pPr algn="ctr" indent="0" marL="0">
              <a:buNone/>
            </a:pPr>
            <a:r>
              <a:rPr lang="en-US" sz="1000" b="1" dirty="0">
                <a:solidFill>
                  <a:srgbClr val="FFFFFF"/>
                </a:solidFill>
              </a:rPr>
              <a:t>Backend API</a:t>
            </a:r>
            <a:endParaRPr lang="en-US" sz="1000" dirty="0"/>
          </a:p>
        </p:txBody>
      </p:sp>
      <p:sp>
        <p:nvSpPr>
          <p:cNvPr id="14" name="Text 12"/>
          <p:cNvSpPr/>
          <p:nvPr/>
        </p:nvSpPr>
        <p:spPr>
          <a:xfrm>
            <a:off x="3447288" y="1874520"/>
            <a:ext cx="2468880" cy="457200"/>
          </a:xfrm>
          <a:prstGeom prst="rect">
            <a:avLst/>
          </a:prstGeom>
          <a:noFill/>
          <a:ln/>
        </p:spPr>
        <p:txBody>
          <a:bodyPr wrap="square" lIns="0" tIns="0" rIns="0" bIns="0" rtlCol="0" anchor="ctr"/>
          <a:lstStyle/>
          <a:p>
            <a:pPr algn="ctr" indent="0" marL="0">
              <a:buNone/>
            </a:pPr>
            <a:r>
              <a:rPr lang="en-US" sz="1500" b="1" dirty="0">
                <a:solidFill>
                  <a:srgbClr val="0D9488"/>
                </a:solidFill>
              </a:rPr>
              <a:t>Django 5.x + DRF</a:t>
            </a:r>
            <a:endParaRPr lang="en-US" sz="1500" dirty="0"/>
          </a:p>
        </p:txBody>
      </p:sp>
      <p:sp>
        <p:nvSpPr>
          <p:cNvPr id="15" name="Text 13"/>
          <p:cNvSpPr/>
          <p:nvPr/>
        </p:nvSpPr>
        <p:spPr>
          <a:xfrm>
            <a:off x="3447288" y="2331720"/>
            <a:ext cx="2468880" cy="411480"/>
          </a:xfrm>
          <a:prstGeom prst="rect">
            <a:avLst/>
          </a:prstGeom>
          <a:noFill/>
          <a:ln/>
        </p:spPr>
        <p:txBody>
          <a:bodyPr wrap="square" lIns="0" tIns="0" rIns="0" bIns="0" rtlCol="0" anchor="ctr"/>
          <a:lstStyle/>
          <a:p>
            <a:pPr algn="ctr" indent="0" marL="0">
              <a:buNone/>
            </a:pPr>
            <a:r>
              <a:rPr lang="en-US" sz="1000" dirty="0">
                <a:solidFill>
                  <a:srgbClr val="6B7280"/>
                </a:solidFill>
              </a:rPr>
              <a:t>REST API sécurisée, modulaire</a:t>
            </a:r>
            <a:endParaRPr lang="en-US" sz="1000" dirty="0"/>
          </a:p>
        </p:txBody>
      </p:sp>
      <p:sp>
        <p:nvSpPr>
          <p:cNvPr id="16" name="Shape 14"/>
          <p:cNvSpPr/>
          <p:nvPr/>
        </p:nvSpPr>
        <p:spPr>
          <a:xfrm>
            <a:off x="6254496" y="3063240"/>
            <a:ext cx="2651760" cy="14630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7" name="Shape 15"/>
          <p:cNvSpPr/>
          <p:nvPr/>
        </p:nvSpPr>
        <p:spPr>
          <a:xfrm>
            <a:off x="6254496" y="3063240"/>
            <a:ext cx="2651760" cy="384048"/>
          </a:xfrm>
          <a:prstGeom prst="rect">
            <a:avLst/>
          </a:prstGeom>
          <a:solidFill>
            <a:srgbClr val="0D9488"/>
          </a:solidFill>
          <a:ln/>
        </p:spPr>
      </p:sp>
      <p:sp>
        <p:nvSpPr>
          <p:cNvPr id="18" name="Text 16"/>
          <p:cNvSpPr/>
          <p:nvPr/>
        </p:nvSpPr>
        <p:spPr>
          <a:xfrm>
            <a:off x="6345936" y="3063240"/>
            <a:ext cx="2468880" cy="384048"/>
          </a:xfrm>
          <a:prstGeom prst="rect">
            <a:avLst/>
          </a:prstGeom>
          <a:noFill/>
          <a:ln/>
        </p:spPr>
        <p:txBody>
          <a:bodyPr wrap="square" lIns="0" tIns="0" rIns="0" bIns="0" rtlCol="0" anchor="ctr"/>
          <a:lstStyle/>
          <a:p>
            <a:pPr algn="ctr" indent="0" marL="0">
              <a:buNone/>
            </a:pPr>
            <a:r>
              <a:rPr lang="en-US" sz="1000" b="1" dirty="0">
                <a:solidFill>
                  <a:srgbClr val="FFFFFF"/>
                </a:solidFill>
              </a:rPr>
              <a:t>Base de données</a:t>
            </a:r>
            <a:endParaRPr lang="en-US" sz="1000" dirty="0"/>
          </a:p>
        </p:txBody>
      </p:sp>
      <p:sp>
        <p:nvSpPr>
          <p:cNvPr id="19" name="Text 17"/>
          <p:cNvSpPr/>
          <p:nvPr/>
        </p:nvSpPr>
        <p:spPr>
          <a:xfrm>
            <a:off x="6345936" y="3520440"/>
            <a:ext cx="2468880" cy="457200"/>
          </a:xfrm>
          <a:prstGeom prst="rect">
            <a:avLst/>
          </a:prstGeom>
          <a:noFill/>
          <a:ln/>
        </p:spPr>
        <p:txBody>
          <a:bodyPr wrap="square" lIns="0" tIns="0" rIns="0" bIns="0" rtlCol="0" anchor="ctr"/>
          <a:lstStyle/>
          <a:p>
            <a:pPr algn="ctr" indent="0" marL="0">
              <a:buNone/>
            </a:pPr>
            <a:r>
              <a:rPr lang="en-US" sz="1500" b="1" dirty="0">
                <a:solidFill>
                  <a:srgbClr val="0D9488"/>
                </a:solidFill>
              </a:rPr>
              <a:t>MySQL</a:t>
            </a:r>
            <a:endParaRPr lang="en-US" sz="1500" dirty="0"/>
          </a:p>
        </p:txBody>
      </p:sp>
      <p:sp>
        <p:nvSpPr>
          <p:cNvPr id="20" name="Text 18"/>
          <p:cNvSpPr/>
          <p:nvPr/>
        </p:nvSpPr>
        <p:spPr>
          <a:xfrm>
            <a:off x="6345936" y="3977640"/>
            <a:ext cx="2468880" cy="411480"/>
          </a:xfrm>
          <a:prstGeom prst="rect">
            <a:avLst/>
          </a:prstGeom>
          <a:noFill/>
          <a:ln/>
        </p:spPr>
        <p:txBody>
          <a:bodyPr wrap="square" lIns="0" tIns="0" rIns="0" bIns="0" rtlCol="0" anchor="ctr"/>
          <a:lstStyle/>
          <a:p>
            <a:pPr algn="ctr" indent="0" marL="0">
              <a:buNone/>
            </a:pPr>
            <a:r>
              <a:rPr lang="en-US" sz="1000" dirty="0">
                <a:solidFill>
                  <a:srgbClr val="6B7280"/>
                </a:solidFill>
              </a:rPr>
              <a:t>Relationnelle, indexée, ORM Django</a:t>
            </a:r>
            <a:endParaRPr lang="en-US" sz="1000" dirty="0"/>
          </a:p>
        </p:txBody>
      </p:sp>
      <p:sp>
        <p:nvSpPr>
          <p:cNvPr id="21" name="Shape 19"/>
          <p:cNvSpPr/>
          <p:nvPr/>
        </p:nvSpPr>
        <p:spPr>
          <a:xfrm>
            <a:off x="457200" y="3063240"/>
            <a:ext cx="2651760" cy="14630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2" name="Shape 20"/>
          <p:cNvSpPr/>
          <p:nvPr/>
        </p:nvSpPr>
        <p:spPr>
          <a:xfrm>
            <a:off x="457200" y="3063240"/>
            <a:ext cx="2651760" cy="384048"/>
          </a:xfrm>
          <a:prstGeom prst="rect">
            <a:avLst/>
          </a:prstGeom>
          <a:solidFill>
            <a:srgbClr val="0D9488"/>
          </a:solidFill>
          <a:ln/>
        </p:spPr>
      </p:sp>
      <p:sp>
        <p:nvSpPr>
          <p:cNvPr id="23" name="Text 21"/>
          <p:cNvSpPr/>
          <p:nvPr/>
        </p:nvSpPr>
        <p:spPr>
          <a:xfrm>
            <a:off x="548640" y="3063240"/>
            <a:ext cx="2468880" cy="384048"/>
          </a:xfrm>
          <a:prstGeom prst="rect">
            <a:avLst/>
          </a:prstGeom>
          <a:noFill/>
          <a:ln/>
        </p:spPr>
        <p:txBody>
          <a:bodyPr wrap="square" lIns="0" tIns="0" rIns="0" bIns="0" rtlCol="0" anchor="ctr"/>
          <a:lstStyle/>
          <a:p>
            <a:pPr algn="ctr" indent="0" marL="0">
              <a:buNone/>
            </a:pPr>
            <a:r>
              <a:rPr lang="en-US" sz="1000" b="1" dirty="0">
                <a:solidFill>
                  <a:srgbClr val="FFFFFF"/>
                </a:solidFill>
              </a:rPr>
              <a:t>Authentification</a:t>
            </a:r>
            <a:endParaRPr lang="en-US" sz="1000" dirty="0"/>
          </a:p>
        </p:txBody>
      </p:sp>
      <p:sp>
        <p:nvSpPr>
          <p:cNvPr id="24" name="Text 22"/>
          <p:cNvSpPr/>
          <p:nvPr/>
        </p:nvSpPr>
        <p:spPr>
          <a:xfrm>
            <a:off x="548640" y="3520440"/>
            <a:ext cx="2468880" cy="457200"/>
          </a:xfrm>
          <a:prstGeom prst="rect">
            <a:avLst/>
          </a:prstGeom>
          <a:noFill/>
          <a:ln/>
        </p:spPr>
        <p:txBody>
          <a:bodyPr wrap="square" lIns="0" tIns="0" rIns="0" bIns="0" rtlCol="0" anchor="ctr"/>
          <a:lstStyle/>
          <a:p>
            <a:pPr algn="ctr" indent="0" marL="0">
              <a:buNone/>
            </a:pPr>
            <a:r>
              <a:rPr lang="en-US" sz="1500" b="1" dirty="0">
                <a:solidFill>
                  <a:srgbClr val="0D9488"/>
                </a:solidFill>
              </a:rPr>
              <a:t>JWT (HS256)</a:t>
            </a:r>
            <a:endParaRPr lang="en-US" sz="1500" dirty="0"/>
          </a:p>
        </p:txBody>
      </p:sp>
      <p:sp>
        <p:nvSpPr>
          <p:cNvPr id="25" name="Text 23"/>
          <p:cNvSpPr/>
          <p:nvPr/>
        </p:nvSpPr>
        <p:spPr>
          <a:xfrm>
            <a:off x="548640" y="3977640"/>
            <a:ext cx="2468880" cy="411480"/>
          </a:xfrm>
          <a:prstGeom prst="rect">
            <a:avLst/>
          </a:prstGeom>
          <a:noFill/>
          <a:ln/>
        </p:spPr>
        <p:txBody>
          <a:bodyPr wrap="square" lIns="0" tIns="0" rIns="0" bIns="0" rtlCol="0" anchor="ctr"/>
          <a:lstStyle/>
          <a:p>
            <a:pPr algn="ctr" indent="0" marL="0">
              <a:buNone/>
            </a:pPr>
            <a:r>
              <a:rPr lang="en-US" sz="1000" dirty="0">
                <a:solidFill>
                  <a:srgbClr val="6B7280"/>
                </a:solidFill>
              </a:rPr>
              <a:t>Stateless, TokenBackend custom</a:t>
            </a:r>
            <a:endParaRPr lang="en-US" sz="1000" dirty="0"/>
          </a:p>
        </p:txBody>
      </p:sp>
      <p:sp>
        <p:nvSpPr>
          <p:cNvPr id="26" name="Shape 24"/>
          <p:cNvSpPr/>
          <p:nvPr/>
        </p:nvSpPr>
        <p:spPr>
          <a:xfrm>
            <a:off x="3355848" y="4709160"/>
            <a:ext cx="2651760" cy="14630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7" name="Shape 25"/>
          <p:cNvSpPr/>
          <p:nvPr/>
        </p:nvSpPr>
        <p:spPr>
          <a:xfrm>
            <a:off x="3355848" y="4709160"/>
            <a:ext cx="2651760" cy="384048"/>
          </a:xfrm>
          <a:prstGeom prst="rect">
            <a:avLst/>
          </a:prstGeom>
          <a:solidFill>
            <a:srgbClr val="0D9488"/>
          </a:solidFill>
          <a:ln/>
        </p:spPr>
      </p:sp>
      <p:sp>
        <p:nvSpPr>
          <p:cNvPr id="28" name="Text 26"/>
          <p:cNvSpPr/>
          <p:nvPr/>
        </p:nvSpPr>
        <p:spPr>
          <a:xfrm>
            <a:off x="3447288" y="4709160"/>
            <a:ext cx="2468880" cy="384048"/>
          </a:xfrm>
          <a:prstGeom prst="rect">
            <a:avLst/>
          </a:prstGeom>
          <a:noFill/>
          <a:ln/>
        </p:spPr>
        <p:txBody>
          <a:bodyPr wrap="square" lIns="0" tIns="0" rIns="0" bIns="0" rtlCol="0" anchor="ctr"/>
          <a:lstStyle/>
          <a:p>
            <a:pPr algn="ctr" indent="0" marL="0">
              <a:buNone/>
            </a:pPr>
            <a:r>
              <a:rPr lang="en-US" sz="1000" b="1" dirty="0">
                <a:solidFill>
                  <a:srgbClr val="FFFFFF"/>
                </a:solidFill>
              </a:rPr>
              <a:t>Sécurité mots de passe</a:t>
            </a:r>
            <a:endParaRPr lang="en-US" sz="1000" dirty="0"/>
          </a:p>
        </p:txBody>
      </p:sp>
      <p:sp>
        <p:nvSpPr>
          <p:cNvPr id="29" name="Text 27"/>
          <p:cNvSpPr/>
          <p:nvPr/>
        </p:nvSpPr>
        <p:spPr>
          <a:xfrm>
            <a:off x="3447288" y="5166360"/>
            <a:ext cx="2468880" cy="457200"/>
          </a:xfrm>
          <a:prstGeom prst="rect">
            <a:avLst/>
          </a:prstGeom>
          <a:noFill/>
          <a:ln/>
        </p:spPr>
        <p:txBody>
          <a:bodyPr wrap="square" lIns="0" tIns="0" rIns="0" bIns="0" rtlCol="0" anchor="ctr"/>
          <a:lstStyle/>
          <a:p>
            <a:pPr algn="ctr" indent="0" marL="0">
              <a:buNone/>
            </a:pPr>
            <a:r>
              <a:rPr lang="en-US" sz="1500" b="1" dirty="0">
                <a:solidFill>
                  <a:srgbClr val="0D9488"/>
                </a:solidFill>
              </a:rPr>
              <a:t>PBKDF2</a:t>
            </a:r>
            <a:endParaRPr lang="en-US" sz="1500" dirty="0"/>
          </a:p>
        </p:txBody>
      </p:sp>
      <p:sp>
        <p:nvSpPr>
          <p:cNvPr id="30" name="Text 28"/>
          <p:cNvSpPr/>
          <p:nvPr/>
        </p:nvSpPr>
        <p:spPr>
          <a:xfrm>
            <a:off x="3447288" y="5623560"/>
            <a:ext cx="2468880" cy="411480"/>
          </a:xfrm>
          <a:prstGeom prst="rect">
            <a:avLst/>
          </a:prstGeom>
          <a:noFill/>
          <a:ln/>
        </p:spPr>
        <p:txBody>
          <a:bodyPr wrap="square" lIns="0" tIns="0" rIns="0" bIns="0" rtlCol="0" anchor="ctr"/>
          <a:lstStyle/>
          <a:p>
            <a:pPr algn="ctr" indent="0" marL="0">
              <a:buNone/>
            </a:pPr>
            <a:r>
              <a:rPr lang="en-US" sz="1000" dirty="0">
                <a:solidFill>
                  <a:srgbClr val="6B7280"/>
                </a:solidFill>
              </a:rPr>
              <a:t>make_password / check_password</a:t>
            </a:r>
            <a:endParaRPr lang="en-US" sz="1000" dirty="0"/>
          </a:p>
        </p:txBody>
      </p:sp>
      <p:sp>
        <p:nvSpPr>
          <p:cNvPr id="31" name="Shape 29"/>
          <p:cNvSpPr/>
          <p:nvPr/>
        </p:nvSpPr>
        <p:spPr>
          <a:xfrm>
            <a:off x="6254496" y="4709160"/>
            <a:ext cx="2651760" cy="14630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32" name="Shape 30"/>
          <p:cNvSpPr/>
          <p:nvPr/>
        </p:nvSpPr>
        <p:spPr>
          <a:xfrm>
            <a:off x="6254496" y="4709160"/>
            <a:ext cx="2651760" cy="384048"/>
          </a:xfrm>
          <a:prstGeom prst="rect">
            <a:avLst/>
          </a:prstGeom>
          <a:solidFill>
            <a:srgbClr val="0D9488"/>
          </a:solidFill>
          <a:ln/>
        </p:spPr>
      </p:sp>
      <p:sp>
        <p:nvSpPr>
          <p:cNvPr id="33" name="Text 31"/>
          <p:cNvSpPr/>
          <p:nvPr/>
        </p:nvSpPr>
        <p:spPr>
          <a:xfrm>
            <a:off x="6345936" y="4709160"/>
            <a:ext cx="2468880" cy="384048"/>
          </a:xfrm>
          <a:prstGeom prst="rect">
            <a:avLst/>
          </a:prstGeom>
          <a:noFill/>
          <a:ln/>
        </p:spPr>
        <p:txBody>
          <a:bodyPr wrap="square" lIns="0" tIns="0" rIns="0" bIns="0" rtlCol="0" anchor="ctr"/>
          <a:lstStyle/>
          <a:p>
            <a:pPr algn="ctr" indent="0" marL="0">
              <a:buNone/>
            </a:pPr>
            <a:r>
              <a:rPr lang="en-US" sz="1000" b="1" dirty="0">
                <a:solidFill>
                  <a:srgbClr val="FFFFFF"/>
                </a:solidFill>
              </a:rPr>
              <a:t>Contrôle d'accès</a:t>
            </a:r>
            <a:endParaRPr lang="en-US" sz="1000" dirty="0"/>
          </a:p>
        </p:txBody>
      </p:sp>
      <p:sp>
        <p:nvSpPr>
          <p:cNvPr id="34" name="Text 32"/>
          <p:cNvSpPr/>
          <p:nvPr/>
        </p:nvSpPr>
        <p:spPr>
          <a:xfrm>
            <a:off x="6345936" y="5166360"/>
            <a:ext cx="2468880" cy="457200"/>
          </a:xfrm>
          <a:prstGeom prst="rect">
            <a:avLst/>
          </a:prstGeom>
          <a:noFill/>
          <a:ln/>
        </p:spPr>
        <p:txBody>
          <a:bodyPr wrap="square" lIns="0" tIns="0" rIns="0" bIns="0" rtlCol="0" anchor="ctr"/>
          <a:lstStyle/>
          <a:p>
            <a:pPr algn="ctr" indent="0" marL="0">
              <a:buNone/>
            </a:pPr>
            <a:r>
              <a:rPr lang="en-US" sz="1500" b="1" dirty="0">
                <a:solidFill>
                  <a:srgbClr val="0D9488"/>
                </a:solidFill>
              </a:rPr>
              <a:t>RBAC</a:t>
            </a:r>
            <a:endParaRPr lang="en-US" sz="1500" dirty="0"/>
          </a:p>
        </p:txBody>
      </p:sp>
      <p:sp>
        <p:nvSpPr>
          <p:cNvPr id="35" name="Text 33"/>
          <p:cNvSpPr/>
          <p:nvPr/>
        </p:nvSpPr>
        <p:spPr>
          <a:xfrm>
            <a:off x="6345936" y="5623560"/>
            <a:ext cx="2468880" cy="411480"/>
          </a:xfrm>
          <a:prstGeom prst="rect">
            <a:avLst/>
          </a:prstGeom>
          <a:noFill/>
          <a:ln/>
        </p:spPr>
        <p:txBody>
          <a:bodyPr wrap="square" lIns="0" tIns="0" rIns="0" bIns="0" rtlCol="0" anchor="ctr"/>
          <a:lstStyle/>
          <a:p>
            <a:pPr algn="ctr" indent="0" marL="0">
              <a:buNone/>
            </a:pPr>
            <a:r>
              <a:rPr lang="en-US" sz="1000" dirty="0">
                <a:solidFill>
                  <a:srgbClr val="6B7280"/>
                </a:solidFill>
              </a:rPr>
              <a:t>Rôles Patient / Médecin / Admin</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0FDFA"/>
        </a:solidFill>
      </p:bgPr>
    </p:bg>
    <p:spTree>
      <p:nvGrpSpPr>
        <p:cNvPr id="1" name=""/>
        <p:cNvGrpSpPr/>
        <p:nvPr/>
      </p:nvGrpSpPr>
      <p:grpSpPr>
        <a:xfrm>
          <a:off x="0" y="0"/>
          <a:ext cx="0" cy="0"/>
          <a:chOff x="0" y="0"/>
          <a:chExt cx="0" cy="0"/>
        </a:xfrm>
      </p:grpSpPr>
      <p:sp>
        <p:nvSpPr>
          <p:cNvPr id="2" name="Shape 0"/>
          <p:cNvSpPr/>
          <p:nvPr/>
        </p:nvSpPr>
        <p:spPr>
          <a:xfrm>
            <a:off x="457200" y="274320"/>
            <a:ext cx="1645920" cy="274320"/>
          </a:xfrm>
          <a:prstGeom prst="rect">
            <a:avLst>
              <a:gd name="adj" fmla="val 13333"/>
            </a:avLst>
          </a:prstGeom>
          <a:solidFill>
            <a:srgbClr val="0D9488"/>
          </a:solidFill>
          <a:ln/>
        </p:spPr>
      </p:sp>
      <p:sp>
        <p:nvSpPr>
          <p:cNvPr id="3" name="Text 1"/>
          <p:cNvSpPr/>
          <p:nvPr/>
        </p:nvSpPr>
        <p:spPr>
          <a:xfrm>
            <a:off x="457200" y="274320"/>
            <a:ext cx="1645920" cy="274320"/>
          </a:xfrm>
          <a:prstGeom prst="rect">
            <a:avLst/>
          </a:prstGeom>
          <a:noFill/>
          <a:ln/>
        </p:spPr>
        <p:txBody>
          <a:bodyPr wrap="square" lIns="0" tIns="0" rIns="0" bIns="0" rtlCol="0" anchor="ctr"/>
          <a:lstStyle/>
          <a:p>
            <a:pPr algn="ctr" indent="0" marL="0">
              <a:buNone/>
            </a:pPr>
            <a:r>
              <a:rPr lang="en-US" sz="900" b="1" dirty="0">
                <a:solidFill>
                  <a:srgbClr val="FFFFFF"/>
                </a:solidFill>
              </a:rPr>
              <a:t>ARCHITECTURE</a:t>
            </a:r>
            <a:endParaRPr lang="en-US" sz="900" dirty="0"/>
          </a:p>
        </p:txBody>
      </p:sp>
      <p:sp>
        <p:nvSpPr>
          <p:cNvPr id="4" name="Text 2"/>
          <p:cNvSpPr/>
          <p:nvPr/>
        </p:nvSpPr>
        <p:spPr>
          <a:xfrm>
            <a:off x="457200" y="685800"/>
            <a:ext cx="8229600" cy="548640"/>
          </a:xfrm>
          <a:prstGeom prst="rect">
            <a:avLst/>
          </a:prstGeom>
          <a:noFill/>
          <a:ln/>
        </p:spPr>
        <p:txBody>
          <a:bodyPr wrap="square" lIns="0" tIns="0" rIns="0" bIns="0" rtlCol="0" anchor="ctr"/>
          <a:lstStyle/>
          <a:p>
            <a:pPr indent="0" marL="0">
              <a:buNone/>
            </a:pPr>
            <a:r>
              <a:rPr lang="en-US" sz="2800" b="1" dirty="0">
                <a:solidFill>
                  <a:srgbClr val="0D9488"/>
                </a:solidFill>
              </a:rPr>
              <a:t>Architecture Technique</a:t>
            </a:r>
            <a:endParaRPr lang="en-US" sz="2800" dirty="0"/>
          </a:p>
        </p:txBody>
      </p:sp>
      <p:sp>
        <p:nvSpPr>
          <p:cNvPr id="5" name="Shape 3"/>
          <p:cNvSpPr/>
          <p:nvPr/>
        </p:nvSpPr>
        <p:spPr>
          <a:xfrm>
            <a:off x="0" y="685800"/>
            <a:ext cx="64008" cy="457200"/>
          </a:xfrm>
          <a:prstGeom prst="rect">
            <a:avLst/>
          </a:prstGeom>
          <a:solidFill>
            <a:srgbClr val="0D9488"/>
          </a:solidFill>
          <a:ln/>
        </p:spPr>
      </p:sp>
      <p:sp>
        <p:nvSpPr>
          <p:cNvPr id="6" name="Shape 4"/>
          <p:cNvSpPr/>
          <p:nvPr/>
        </p:nvSpPr>
        <p:spPr>
          <a:xfrm>
            <a:off x="548640" y="1417320"/>
            <a:ext cx="3200400" cy="640080"/>
          </a:xfrm>
          <a:prstGeom prst="rect">
            <a:avLst/>
          </a:prstGeom>
          <a:solidFill>
            <a:srgbClr val="0D9488"/>
          </a:solidFill>
          <a:ln/>
        </p:spPr>
      </p:sp>
      <p:sp>
        <p:nvSpPr>
          <p:cNvPr id="7" name="Text 5"/>
          <p:cNvSpPr/>
          <p:nvPr/>
        </p:nvSpPr>
        <p:spPr>
          <a:xfrm>
            <a:off x="548640" y="1417320"/>
            <a:ext cx="3200400" cy="640080"/>
          </a:xfrm>
          <a:prstGeom prst="rect">
            <a:avLst/>
          </a:prstGeom>
          <a:noFill/>
          <a:ln/>
        </p:spPr>
        <p:txBody>
          <a:bodyPr wrap="square" lIns="0" tIns="0" rIns="0" bIns="0" rtlCol="0" anchor="ctr"/>
          <a:lstStyle/>
          <a:p>
            <a:pPr algn="ctr" indent="0" marL="0">
              <a:buNone/>
            </a:pPr>
            <a:r>
              <a:rPr lang="en-US" sz="1300" b="1" dirty="0">
                <a:solidFill>
                  <a:srgbClr val="FFFFFF"/>
                </a:solidFill>
              </a:rPr>
              <a:t>Flutter App (Android/iOS)</a:t>
            </a:r>
            <a:endParaRPr lang="en-US" sz="1300" dirty="0"/>
          </a:p>
        </p:txBody>
      </p:sp>
      <p:sp>
        <p:nvSpPr>
          <p:cNvPr id="8" name="Shape 6"/>
          <p:cNvSpPr/>
          <p:nvPr/>
        </p:nvSpPr>
        <p:spPr>
          <a:xfrm>
            <a:off x="548640" y="2606040"/>
            <a:ext cx="3200400" cy="640080"/>
          </a:xfrm>
          <a:prstGeom prst="rect">
            <a:avLst/>
          </a:prstGeom>
          <a:solidFill>
            <a:srgbClr val="0F766E"/>
          </a:solidFill>
          <a:ln/>
        </p:spPr>
      </p:sp>
      <p:sp>
        <p:nvSpPr>
          <p:cNvPr id="9" name="Text 7"/>
          <p:cNvSpPr/>
          <p:nvPr/>
        </p:nvSpPr>
        <p:spPr>
          <a:xfrm>
            <a:off x="548640" y="2606040"/>
            <a:ext cx="3200400" cy="640080"/>
          </a:xfrm>
          <a:prstGeom prst="rect">
            <a:avLst/>
          </a:prstGeom>
          <a:noFill/>
          <a:ln/>
        </p:spPr>
        <p:txBody>
          <a:bodyPr wrap="square" lIns="0" tIns="0" rIns="0" bIns="0" rtlCol="0" anchor="ctr"/>
          <a:lstStyle/>
          <a:p>
            <a:pPr algn="ctr" indent="0" marL="0">
              <a:buNone/>
            </a:pPr>
            <a:r>
              <a:rPr lang="en-US" sz="1300" b="1" dirty="0">
                <a:solidFill>
                  <a:srgbClr val="FFFFFF"/>
                </a:solidFill>
              </a:rPr>
              <a:t>Django REST API (DRF)</a:t>
            </a:r>
            <a:endParaRPr lang="en-US" sz="1300" dirty="0"/>
          </a:p>
        </p:txBody>
      </p:sp>
      <p:sp>
        <p:nvSpPr>
          <p:cNvPr id="10" name="Shape 8"/>
          <p:cNvSpPr/>
          <p:nvPr/>
        </p:nvSpPr>
        <p:spPr>
          <a:xfrm>
            <a:off x="548640" y="3794760"/>
            <a:ext cx="3200400" cy="640080"/>
          </a:xfrm>
          <a:prstGeom prst="rect">
            <a:avLst/>
          </a:prstGeom>
          <a:solidFill>
            <a:srgbClr val="134E4A"/>
          </a:solidFill>
          <a:ln/>
        </p:spPr>
      </p:sp>
      <p:sp>
        <p:nvSpPr>
          <p:cNvPr id="11" name="Text 9"/>
          <p:cNvSpPr/>
          <p:nvPr/>
        </p:nvSpPr>
        <p:spPr>
          <a:xfrm>
            <a:off x="548640" y="3794760"/>
            <a:ext cx="3200400" cy="640080"/>
          </a:xfrm>
          <a:prstGeom prst="rect">
            <a:avLst/>
          </a:prstGeom>
          <a:noFill/>
          <a:ln/>
        </p:spPr>
        <p:txBody>
          <a:bodyPr wrap="square" lIns="0" tIns="0" rIns="0" bIns="0" rtlCol="0" anchor="ctr"/>
          <a:lstStyle/>
          <a:p>
            <a:pPr algn="ctr" indent="0" marL="0">
              <a:buNone/>
            </a:pPr>
            <a:r>
              <a:rPr lang="en-US" sz="1300" b="1" dirty="0">
                <a:solidFill>
                  <a:srgbClr val="FFFFFF"/>
                </a:solidFill>
              </a:rPr>
              <a:t>MySQL Database (ORM)</a:t>
            </a:r>
            <a:endParaRPr lang="en-US" sz="1300" dirty="0"/>
          </a:p>
        </p:txBody>
      </p:sp>
      <p:sp>
        <p:nvSpPr>
          <p:cNvPr id="12" name="Shape 10"/>
          <p:cNvSpPr/>
          <p:nvPr/>
        </p:nvSpPr>
        <p:spPr>
          <a:xfrm>
            <a:off x="2103120" y="2057400"/>
            <a:ext cx="0" cy="502920"/>
          </a:xfrm>
          <a:prstGeom prst="line">
            <a:avLst/>
          </a:prstGeom>
          <a:noFill/>
          <a:ln w="25400">
            <a:solidFill>
              <a:srgbClr val="0D9488"/>
            </a:solidFill>
            <a:prstDash val="solid"/>
          </a:ln>
        </p:spPr>
      </p:sp>
      <p:sp>
        <p:nvSpPr>
          <p:cNvPr id="13" name="Text 11"/>
          <p:cNvSpPr/>
          <p:nvPr/>
        </p:nvSpPr>
        <p:spPr>
          <a:xfrm>
            <a:off x="2148840" y="2148840"/>
            <a:ext cx="1371600" cy="274320"/>
          </a:xfrm>
          <a:prstGeom prst="rect">
            <a:avLst/>
          </a:prstGeom>
          <a:noFill/>
          <a:ln/>
        </p:spPr>
        <p:txBody>
          <a:bodyPr wrap="square" lIns="0" tIns="0" rIns="0" bIns="0" rtlCol="0" anchor="ctr"/>
          <a:lstStyle/>
          <a:p>
            <a:pPr indent="0" marL="0">
              <a:buNone/>
            </a:pPr>
            <a:r>
              <a:rPr lang="en-US" sz="850" dirty="0">
                <a:solidFill>
                  <a:srgbClr val="6B7280"/>
                </a:solidFill>
              </a:rPr>
              <a:t>HTTPS / JWT</a:t>
            </a:r>
            <a:endParaRPr lang="en-US" sz="850" dirty="0"/>
          </a:p>
        </p:txBody>
      </p:sp>
      <p:sp>
        <p:nvSpPr>
          <p:cNvPr id="14" name="Shape 12"/>
          <p:cNvSpPr/>
          <p:nvPr/>
        </p:nvSpPr>
        <p:spPr>
          <a:xfrm>
            <a:off x="2103120" y="3246120"/>
            <a:ext cx="0" cy="502920"/>
          </a:xfrm>
          <a:prstGeom prst="line">
            <a:avLst/>
          </a:prstGeom>
          <a:noFill/>
          <a:ln w="25400">
            <a:solidFill>
              <a:srgbClr val="0D9488"/>
            </a:solidFill>
            <a:prstDash val="solid"/>
          </a:ln>
        </p:spPr>
      </p:sp>
      <p:sp>
        <p:nvSpPr>
          <p:cNvPr id="15" name="Text 13"/>
          <p:cNvSpPr/>
          <p:nvPr/>
        </p:nvSpPr>
        <p:spPr>
          <a:xfrm>
            <a:off x="2148840" y="3337560"/>
            <a:ext cx="1371600" cy="274320"/>
          </a:xfrm>
          <a:prstGeom prst="rect">
            <a:avLst/>
          </a:prstGeom>
          <a:noFill/>
          <a:ln/>
        </p:spPr>
        <p:txBody>
          <a:bodyPr wrap="square" lIns="0" tIns="0" rIns="0" bIns="0" rtlCol="0" anchor="ctr"/>
          <a:lstStyle/>
          <a:p>
            <a:pPr indent="0" marL="0">
              <a:buNone/>
            </a:pPr>
            <a:r>
              <a:rPr lang="en-US" sz="850" dirty="0">
                <a:solidFill>
                  <a:srgbClr val="6B7280"/>
                </a:solidFill>
              </a:rPr>
              <a:t>HTTPS / JWT</a:t>
            </a:r>
            <a:endParaRPr lang="en-US" sz="850" dirty="0"/>
          </a:p>
        </p:txBody>
      </p:sp>
      <p:pic>
        <p:nvPicPr>
          <p:cNvPr id="16" name="Image 0" descr="preencoded.png">    </p:cNvPr>
          <p:cNvPicPr>
            <a:picLocks noChangeAspect="1"/>
          </p:cNvPicPr>
          <p:nvPr/>
        </p:nvPicPr>
        <p:blipFill>
          <a:blip r:embed="rId1"/>
          <a:stretch>
            <a:fillRect/>
          </a:stretch>
        </p:blipFill>
        <p:spPr>
          <a:xfrm>
            <a:off x="4572000" y="1463040"/>
            <a:ext cx="347472" cy="347472"/>
          </a:xfrm>
          <a:prstGeom prst="rect">
            <a:avLst/>
          </a:prstGeom>
        </p:spPr>
      </p:pic>
      <p:sp>
        <p:nvSpPr>
          <p:cNvPr id="17" name="Text 14"/>
          <p:cNvSpPr/>
          <p:nvPr/>
        </p:nvSpPr>
        <p:spPr>
          <a:xfrm>
            <a:off x="5029200" y="1481328"/>
            <a:ext cx="3749040" cy="320040"/>
          </a:xfrm>
          <a:prstGeom prst="rect">
            <a:avLst/>
          </a:prstGeom>
          <a:noFill/>
          <a:ln/>
        </p:spPr>
        <p:txBody>
          <a:bodyPr wrap="square" lIns="0" tIns="0" rIns="0" bIns="0" rtlCol="0" anchor="ctr"/>
          <a:lstStyle/>
          <a:p>
            <a:pPr indent="0" marL="0">
              <a:buNone/>
            </a:pPr>
            <a:r>
              <a:rPr lang="en-US" sz="1200" dirty="0">
                <a:solidFill>
                  <a:srgbClr val="134E4A"/>
                </a:solidFill>
              </a:rPr>
              <a:t>Authentification JWT (HS256/HS384)</a:t>
            </a:r>
            <a:endParaRPr lang="en-US" sz="1200" dirty="0"/>
          </a:p>
        </p:txBody>
      </p:sp>
      <p:sp>
        <p:nvSpPr>
          <p:cNvPr id="18" name="Shape 15"/>
          <p:cNvSpPr/>
          <p:nvPr/>
        </p:nvSpPr>
        <p:spPr>
          <a:xfrm>
            <a:off x="4572000" y="1828800"/>
            <a:ext cx="4114800" cy="0"/>
          </a:xfrm>
          <a:prstGeom prst="line">
            <a:avLst/>
          </a:prstGeom>
          <a:noFill/>
          <a:ln w="10160">
            <a:solidFill>
              <a:srgbClr val="E5E7EB"/>
            </a:solidFill>
            <a:prstDash val="solid"/>
          </a:ln>
        </p:spPr>
      </p:sp>
      <p:pic>
        <p:nvPicPr>
          <p:cNvPr id="19" name="Image 1" descr="preencoded.png">    </p:cNvPr>
          <p:cNvPicPr>
            <a:picLocks noChangeAspect="1"/>
          </p:cNvPicPr>
          <p:nvPr/>
        </p:nvPicPr>
        <p:blipFill>
          <a:blip r:embed="rId2"/>
          <a:stretch>
            <a:fillRect/>
          </a:stretch>
        </p:blipFill>
        <p:spPr>
          <a:xfrm>
            <a:off x="4572000" y="2176272"/>
            <a:ext cx="347472" cy="347472"/>
          </a:xfrm>
          <a:prstGeom prst="rect">
            <a:avLst/>
          </a:prstGeom>
        </p:spPr>
      </p:pic>
      <p:sp>
        <p:nvSpPr>
          <p:cNvPr id="20" name="Text 16"/>
          <p:cNvSpPr/>
          <p:nvPr/>
        </p:nvSpPr>
        <p:spPr>
          <a:xfrm>
            <a:off x="5029200" y="2194560"/>
            <a:ext cx="3749040" cy="320040"/>
          </a:xfrm>
          <a:prstGeom prst="rect">
            <a:avLst/>
          </a:prstGeom>
          <a:noFill/>
          <a:ln/>
        </p:spPr>
        <p:txBody>
          <a:bodyPr wrap="square" lIns="0" tIns="0" rIns="0" bIns="0" rtlCol="0" anchor="ctr"/>
          <a:lstStyle/>
          <a:p>
            <a:pPr indent="0" marL="0">
              <a:buNone/>
            </a:pPr>
            <a:r>
              <a:rPr lang="en-US" sz="1200" dirty="0">
                <a:solidFill>
                  <a:srgbClr val="134E4A"/>
                </a:solidFill>
              </a:rPr>
              <a:t>Contrôle d'accès RBAC</a:t>
            </a:r>
            <a:endParaRPr lang="en-US" sz="1200" dirty="0"/>
          </a:p>
        </p:txBody>
      </p:sp>
      <p:sp>
        <p:nvSpPr>
          <p:cNvPr id="21" name="Shape 17"/>
          <p:cNvSpPr/>
          <p:nvPr/>
        </p:nvSpPr>
        <p:spPr>
          <a:xfrm>
            <a:off x="4572000" y="2542032"/>
            <a:ext cx="4114800" cy="0"/>
          </a:xfrm>
          <a:prstGeom prst="line">
            <a:avLst/>
          </a:prstGeom>
          <a:noFill/>
          <a:ln w="10160">
            <a:solidFill>
              <a:srgbClr val="E5E7EB"/>
            </a:solidFill>
            <a:prstDash val="solid"/>
          </a:ln>
        </p:spPr>
      </p:sp>
      <p:pic>
        <p:nvPicPr>
          <p:cNvPr id="22" name="Image 2" descr="preencoded.png">    </p:cNvPr>
          <p:cNvPicPr>
            <a:picLocks noChangeAspect="1"/>
          </p:cNvPicPr>
          <p:nvPr/>
        </p:nvPicPr>
        <p:blipFill>
          <a:blip r:embed="rId3"/>
          <a:stretch>
            <a:fillRect/>
          </a:stretch>
        </p:blipFill>
        <p:spPr>
          <a:xfrm>
            <a:off x="4572000" y="2889504"/>
            <a:ext cx="347472" cy="347472"/>
          </a:xfrm>
          <a:prstGeom prst="rect">
            <a:avLst/>
          </a:prstGeom>
        </p:spPr>
      </p:pic>
      <p:sp>
        <p:nvSpPr>
          <p:cNvPr id="23" name="Text 18"/>
          <p:cNvSpPr/>
          <p:nvPr/>
        </p:nvSpPr>
        <p:spPr>
          <a:xfrm>
            <a:off x="5029200" y="2907792"/>
            <a:ext cx="3749040" cy="320040"/>
          </a:xfrm>
          <a:prstGeom prst="rect">
            <a:avLst/>
          </a:prstGeom>
          <a:noFill/>
          <a:ln/>
        </p:spPr>
        <p:txBody>
          <a:bodyPr wrap="square" lIns="0" tIns="0" rIns="0" bIns="0" rtlCol="0" anchor="ctr"/>
          <a:lstStyle/>
          <a:p>
            <a:pPr indent="0" marL="0">
              <a:buNone/>
            </a:pPr>
            <a:r>
              <a:rPr lang="en-US" sz="1200" dirty="0">
                <a:solidFill>
                  <a:srgbClr val="134E4A"/>
                </a:solidFill>
              </a:rPr>
              <a:t>Algorithme de créneaux dynamiques</a:t>
            </a:r>
            <a:endParaRPr lang="en-US" sz="1200" dirty="0"/>
          </a:p>
        </p:txBody>
      </p:sp>
      <p:sp>
        <p:nvSpPr>
          <p:cNvPr id="24" name="Shape 19"/>
          <p:cNvSpPr/>
          <p:nvPr/>
        </p:nvSpPr>
        <p:spPr>
          <a:xfrm>
            <a:off x="4572000" y="3255264"/>
            <a:ext cx="4114800" cy="0"/>
          </a:xfrm>
          <a:prstGeom prst="line">
            <a:avLst/>
          </a:prstGeom>
          <a:noFill/>
          <a:ln w="10160">
            <a:solidFill>
              <a:srgbClr val="E5E7EB"/>
            </a:solidFill>
            <a:prstDash val="solid"/>
          </a:ln>
        </p:spPr>
      </p:sp>
      <p:pic>
        <p:nvPicPr>
          <p:cNvPr id="25" name="Image 3" descr="preencoded.png">    </p:cNvPr>
          <p:cNvPicPr>
            <a:picLocks noChangeAspect="1"/>
          </p:cNvPicPr>
          <p:nvPr/>
        </p:nvPicPr>
        <p:blipFill>
          <a:blip r:embed="rId4"/>
          <a:stretch>
            <a:fillRect/>
          </a:stretch>
        </p:blipFill>
        <p:spPr>
          <a:xfrm>
            <a:off x="4572000" y="3602736"/>
            <a:ext cx="347472" cy="347472"/>
          </a:xfrm>
          <a:prstGeom prst="rect">
            <a:avLst/>
          </a:prstGeom>
        </p:spPr>
      </p:pic>
      <p:sp>
        <p:nvSpPr>
          <p:cNvPr id="26" name="Text 20"/>
          <p:cNvSpPr/>
          <p:nvPr/>
        </p:nvSpPr>
        <p:spPr>
          <a:xfrm>
            <a:off x="5029200" y="3621024"/>
            <a:ext cx="3749040" cy="320040"/>
          </a:xfrm>
          <a:prstGeom prst="rect">
            <a:avLst/>
          </a:prstGeom>
          <a:noFill/>
          <a:ln/>
        </p:spPr>
        <p:txBody>
          <a:bodyPr wrap="square" lIns="0" tIns="0" rIns="0" bIns="0" rtlCol="0" anchor="ctr"/>
          <a:lstStyle/>
          <a:p>
            <a:pPr indent="0" marL="0">
              <a:buNone/>
            </a:pPr>
            <a:r>
              <a:rPr lang="en-US" sz="1200" dirty="0">
                <a:solidFill>
                  <a:srgbClr val="134E4A"/>
                </a:solidFill>
              </a:rPr>
              <a:t>Dossiers Médicaux EHR</a:t>
            </a:r>
            <a:endParaRPr lang="en-US" sz="1200" dirty="0"/>
          </a:p>
        </p:txBody>
      </p:sp>
      <p:sp>
        <p:nvSpPr>
          <p:cNvPr id="27" name="Shape 21"/>
          <p:cNvSpPr/>
          <p:nvPr/>
        </p:nvSpPr>
        <p:spPr>
          <a:xfrm>
            <a:off x="4572000" y="3968496"/>
            <a:ext cx="4114800" cy="0"/>
          </a:xfrm>
          <a:prstGeom prst="line">
            <a:avLst/>
          </a:prstGeom>
          <a:noFill/>
          <a:ln w="10160">
            <a:solidFill>
              <a:srgbClr val="E5E7EB"/>
            </a:solidFill>
            <a:prstDash val="solid"/>
          </a:ln>
        </p:spPr>
      </p:sp>
      <p:pic>
        <p:nvPicPr>
          <p:cNvPr id="28" name="Image 4" descr="preencoded.png">    </p:cNvPr>
          <p:cNvPicPr>
            <a:picLocks noChangeAspect="1"/>
          </p:cNvPicPr>
          <p:nvPr/>
        </p:nvPicPr>
        <p:blipFill>
          <a:blip r:embed="rId5"/>
          <a:stretch>
            <a:fillRect/>
          </a:stretch>
        </p:blipFill>
        <p:spPr>
          <a:xfrm>
            <a:off x="4572000" y="4315968"/>
            <a:ext cx="347472" cy="347472"/>
          </a:xfrm>
          <a:prstGeom prst="rect">
            <a:avLst/>
          </a:prstGeom>
        </p:spPr>
      </p:pic>
      <p:sp>
        <p:nvSpPr>
          <p:cNvPr id="29" name="Text 22"/>
          <p:cNvSpPr/>
          <p:nvPr/>
        </p:nvSpPr>
        <p:spPr>
          <a:xfrm>
            <a:off x="5029200" y="4334256"/>
            <a:ext cx="3749040" cy="320040"/>
          </a:xfrm>
          <a:prstGeom prst="rect">
            <a:avLst/>
          </a:prstGeom>
          <a:noFill/>
          <a:ln/>
        </p:spPr>
        <p:txBody>
          <a:bodyPr wrap="square" lIns="0" tIns="0" rIns="0" bIns="0" rtlCol="0" anchor="ctr"/>
          <a:lstStyle/>
          <a:p>
            <a:pPr indent="0" marL="0">
              <a:buNone/>
            </a:pPr>
            <a:r>
              <a:rPr lang="en-US" sz="1200" dirty="0">
                <a:solidFill>
                  <a:srgbClr val="134E4A"/>
                </a:solidFill>
              </a:rPr>
              <a:t>Statistiques &amp; rapports temps réel</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0FDFA"/>
        </a:solidFill>
      </p:bgPr>
    </p:bg>
    <p:spTree>
      <p:nvGrpSpPr>
        <p:cNvPr id="1" name=""/>
        <p:cNvGrpSpPr/>
        <p:nvPr/>
      </p:nvGrpSpPr>
      <p:grpSpPr>
        <a:xfrm>
          <a:off x="0" y="0"/>
          <a:ext cx="0" cy="0"/>
          <a:chOff x="0" y="0"/>
          <a:chExt cx="0" cy="0"/>
        </a:xfrm>
      </p:grpSpPr>
      <p:sp>
        <p:nvSpPr>
          <p:cNvPr id="2" name="Shape 0"/>
          <p:cNvSpPr/>
          <p:nvPr/>
        </p:nvSpPr>
        <p:spPr>
          <a:xfrm>
            <a:off x="457200" y="274320"/>
            <a:ext cx="1645920" cy="274320"/>
          </a:xfrm>
          <a:prstGeom prst="rect">
            <a:avLst>
              <a:gd name="adj" fmla="val 13333"/>
            </a:avLst>
          </a:prstGeom>
          <a:solidFill>
            <a:srgbClr val="0D9488"/>
          </a:solidFill>
          <a:ln/>
        </p:spPr>
      </p:sp>
      <p:sp>
        <p:nvSpPr>
          <p:cNvPr id="3" name="Text 1"/>
          <p:cNvSpPr/>
          <p:nvPr/>
        </p:nvSpPr>
        <p:spPr>
          <a:xfrm>
            <a:off x="457200" y="274320"/>
            <a:ext cx="1645920" cy="274320"/>
          </a:xfrm>
          <a:prstGeom prst="rect">
            <a:avLst/>
          </a:prstGeom>
          <a:noFill/>
          <a:ln/>
        </p:spPr>
        <p:txBody>
          <a:bodyPr wrap="square" lIns="0" tIns="0" rIns="0" bIns="0" rtlCol="0" anchor="ctr"/>
          <a:lstStyle/>
          <a:p>
            <a:pPr algn="ctr" indent="0" marL="0">
              <a:buNone/>
            </a:pPr>
            <a:r>
              <a:rPr lang="en-US" sz="900" b="1" dirty="0">
                <a:solidFill>
                  <a:srgbClr val="FFFFFF"/>
                </a:solidFill>
              </a:rPr>
              <a:t>ORGANISATION</a:t>
            </a:r>
            <a:endParaRPr lang="en-US" sz="900" dirty="0"/>
          </a:p>
        </p:txBody>
      </p:sp>
      <p:sp>
        <p:nvSpPr>
          <p:cNvPr id="4" name="Text 2"/>
          <p:cNvSpPr/>
          <p:nvPr/>
        </p:nvSpPr>
        <p:spPr>
          <a:xfrm>
            <a:off x="457200" y="685800"/>
            <a:ext cx="8229600" cy="548640"/>
          </a:xfrm>
          <a:prstGeom prst="rect">
            <a:avLst/>
          </a:prstGeom>
          <a:noFill/>
          <a:ln/>
        </p:spPr>
        <p:txBody>
          <a:bodyPr wrap="square" lIns="0" tIns="0" rIns="0" bIns="0" rtlCol="0" anchor="ctr"/>
          <a:lstStyle/>
          <a:p>
            <a:pPr indent="0" marL="0">
              <a:buNone/>
            </a:pPr>
            <a:r>
              <a:rPr lang="en-US" sz="2400" b="1" dirty="0">
                <a:solidFill>
                  <a:srgbClr val="0D9488"/>
                </a:solidFill>
              </a:rPr>
              <a:t>Outils de Communication &amp; Collaboration</a:t>
            </a:r>
            <a:endParaRPr lang="en-US" sz="2400" dirty="0"/>
          </a:p>
        </p:txBody>
      </p:sp>
      <p:sp>
        <p:nvSpPr>
          <p:cNvPr id="5" name="Shape 3"/>
          <p:cNvSpPr/>
          <p:nvPr/>
        </p:nvSpPr>
        <p:spPr>
          <a:xfrm>
            <a:off x="0" y="685800"/>
            <a:ext cx="64008" cy="457200"/>
          </a:xfrm>
          <a:prstGeom prst="rect">
            <a:avLst/>
          </a:prstGeom>
          <a:solidFill>
            <a:srgbClr val="0D9488"/>
          </a:solidFill>
          <a:ln/>
        </p:spPr>
      </p:sp>
      <p:sp>
        <p:nvSpPr>
          <p:cNvPr id="6" name="Shape 4"/>
          <p:cNvSpPr/>
          <p:nvPr/>
        </p:nvSpPr>
        <p:spPr>
          <a:xfrm>
            <a:off x="457200" y="1417320"/>
            <a:ext cx="1920240" cy="33832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7" name="Shape 5"/>
          <p:cNvSpPr/>
          <p:nvPr/>
        </p:nvSpPr>
        <p:spPr>
          <a:xfrm>
            <a:off x="1005840" y="1600200"/>
            <a:ext cx="822960" cy="822960"/>
          </a:xfrm>
          <a:prstGeom prst="oval">
            <a:avLst/>
          </a:prstGeom>
          <a:solidFill>
            <a:srgbClr val="24292F"/>
          </a:solidFill>
          <a:ln/>
        </p:spPr>
      </p:sp>
      <p:sp>
        <p:nvSpPr>
          <p:cNvPr id="8" name="Text 6"/>
          <p:cNvSpPr/>
          <p:nvPr/>
        </p:nvSpPr>
        <p:spPr>
          <a:xfrm>
            <a:off x="1005840" y="1600200"/>
            <a:ext cx="822960" cy="822960"/>
          </a:xfrm>
          <a:prstGeom prst="rect">
            <a:avLst/>
          </a:prstGeom>
          <a:noFill/>
          <a:ln/>
        </p:spPr>
        <p:txBody>
          <a:bodyPr wrap="square" lIns="0" tIns="0" rIns="0" bIns="0" rtlCol="0" anchor="ctr"/>
          <a:lstStyle/>
          <a:p>
            <a:pPr algn="ctr" indent="0" marL="0">
              <a:buNone/>
            </a:pPr>
            <a:r>
              <a:rPr lang="en-US" sz="2400" b="1" dirty="0">
                <a:solidFill>
                  <a:srgbClr val="FFFFFF"/>
                </a:solidFill>
              </a:rPr>
              <a:t>G</a:t>
            </a:r>
            <a:endParaRPr lang="en-US" sz="2400" dirty="0"/>
          </a:p>
        </p:txBody>
      </p:sp>
      <p:sp>
        <p:nvSpPr>
          <p:cNvPr id="9" name="Text 7"/>
          <p:cNvSpPr/>
          <p:nvPr/>
        </p:nvSpPr>
        <p:spPr>
          <a:xfrm>
            <a:off x="548640" y="2560320"/>
            <a:ext cx="1737360" cy="365760"/>
          </a:xfrm>
          <a:prstGeom prst="rect">
            <a:avLst/>
          </a:prstGeom>
          <a:noFill/>
          <a:ln/>
        </p:spPr>
        <p:txBody>
          <a:bodyPr wrap="square" lIns="0" tIns="0" rIns="0" bIns="0" rtlCol="0" anchor="ctr"/>
          <a:lstStyle/>
          <a:p>
            <a:pPr algn="ctr" indent="0" marL="0">
              <a:buNone/>
            </a:pPr>
            <a:r>
              <a:rPr lang="en-US" sz="1300" b="1" dirty="0">
                <a:solidFill>
                  <a:srgbClr val="0D9488"/>
                </a:solidFill>
              </a:rPr>
              <a:t>GitHub</a:t>
            </a:r>
            <a:endParaRPr lang="en-US" sz="1300" dirty="0"/>
          </a:p>
        </p:txBody>
      </p:sp>
      <p:sp>
        <p:nvSpPr>
          <p:cNvPr id="10" name="Text 8"/>
          <p:cNvSpPr/>
          <p:nvPr/>
        </p:nvSpPr>
        <p:spPr>
          <a:xfrm>
            <a:off x="548640" y="3017520"/>
            <a:ext cx="1737360" cy="1554480"/>
          </a:xfrm>
          <a:prstGeom prst="rect">
            <a:avLst/>
          </a:prstGeom>
          <a:noFill/>
          <a:ln/>
        </p:spPr>
        <p:txBody>
          <a:bodyPr wrap="square" lIns="0" tIns="0" rIns="0" bIns="0" rtlCol="0" anchor="ctr"/>
          <a:lstStyle/>
          <a:p>
            <a:pPr algn="ctr" indent="0" marL="0">
              <a:buNone/>
            </a:pPr>
            <a:r>
              <a:rPr lang="en-US" sz="1000" dirty="0">
                <a:solidFill>
                  <a:srgbClr val="6B7280"/>
                </a:solidFill>
              </a:rPr>
              <a:t>Gestion de version, branches et pull requests pour la collaboration sur le code</a:t>
            </a:r>
            <a:endParaRPr lang="en-US" sz="1000" dirty="0"/>
          </a:p>
        </p:txBody>
      </p:sp>
      <p:sp>
        <p:nvSpPr>
          <p:cNvPr id="11" name="Shape 9"/>
          <p:cNvSpPr/>
          <p:nvPr/>
        </p:nvSpPr>
        <p:spPr>
          <a:xfrm>
            <a:off x="2633472" y="1417320"/>
            <a:ext cx="1920240" cy="33832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2" name="Shape 10"/>
          <p:cNvSpPr/>
          <p:nvPr/>
        </p:nvSpPr>
        <p:spPr>
          <a:xfrm>
            <a:off x="3182112" y="1600200"/>
            <a:ext cx="822960" cy="822960"/>
          </a:xfrm>
          <a:prstGeom prst="oval">
            <a:avLst/>
          </a:prstGeom>
          <a:solidFill>
            <a:srgbClr val="FF6C37"/>
          </a:solidFill>
          <a:ln/>
        </p:spPr>
      </p:sp>
      <p:sp>
        <p:nvSpPr>
          <p:cNvPr id="13" name="Text 11"/>
          <p:cNvSpPr/>
          <p:nvPr/>
        </p:nvSpPr>
        <p:spPr>
          <a:xfrm>
            <a:off x="3182112" y="1600200"/>
            <a:ext cx="822960" cy="822960"/>
          </a:xfrm>
          <a:prstGeom prst="rect">
            <a:avLst/>
          </a:prstGeom>
          <a:noFill/>
          <a:ln/>
        </p:spPr>
        <p:txBody>
          <a:bodyPr wrap="square" lIns="0" tIns="0" rIns="0" bIns="0" rtlCol="0" anchor="ctr"/>
          <a:lstStyle/>
          <a:p>
            <a:pPr algn="ctr" indent="0" marL="0">
              <a:buNone/>
            </a:pPr>
            <a:r>
              <a:rPr lang="en-US" sz="2400" b="1" dirty="0">
                <a:solidFill>
                  <a:srgbClr val="FFFFFF"/>
                </a:solidFill>
              </a:rPr>
              <a:t>P</a:t>
            </a:r>
            <a:endParaRPr lang="en-US" sz="2400" dirty="0"/>
          </a:p>
        </p:txBody>
      </p:sp>
      <p:sp>
        <p:nvSpPr>
          <p:cNvPr id="14" name="Text 12"/>
          <p:cNvSpPr/>
          <p:nvPr/>
        </p:nvSpPr>
        <p:spPr>
          <a:xfrm>
            <a:off x="2724912" y="2560320"/>
            <a:ext cx="1737360" cy="365760"/>
          </a:xfrm>
          <a:prstGeom prst="rect">
            <a:avLst/>
          </a:prstGeom>
          <a:noFill/>
          <a:ln/>
        </p:spPr>
        <p:txBody>
          <a:bodyPr wrap="square" lIns="0" tIns="0" rIns="0" bIns="0" rtlCol="0" anchor="ctr"/>
          <a:lstStyle/>
          <a:p>
            <a:pPr algn="ctr" indent="0" marL="0">
              <a:buNone/>
            </a:pPr>
            <a:r>
              <a:rPr lang="en-US" sz="1300" b="1" dirty="0">
                <a:solidFill>
                  <a:srgbClr val="0D9488"/>
                </a:solidFill>
              </a:rPr>
              <a:t>Postman</a:t>
            </a:r>
            <a:endParaRPr lang="en-US" sz="1300" dirty="0"/>
          </a:p>
        </p:txBody>
      </p:sp>
      <p:sp>
        <p:nvSpPr>
          <p:cNvPr id="15" name="Text 13"/>
          <p:cNvSpPr/>
          <p:nvPr/>
        </p:nvSpPr>
        <p:spPr>
          <a:xfrm>
            <a:off x="2724912" y="3017520"/>
            <a:ext cx="1737360" cy="1554480"/>
          </a:xfrm>
          <a:prstGeom prst="rect">
            <a:avLst/>
          </a:prstGeom>
          <a:noFill/>
          <a:ln/>
        </p:spPr>
        <p:txBody>
          <a:bodyPr wrap="square" lIns="0" tIns="0" rIns="0" bIns="0" rtlCol="0" anchor="ctr"/>
          <a:lstStyle/>
          <a:p>
            <a:pPr algn="ctr" indent="0" marL="0">
              <a:buNone/>
            </a:pPr>
            <a:r>
              <a:rPr lang="en-US" sz="1000" dirty="0">
                <a:solidFill>
                  <a:srgbClr val="6B7280"/>
                </a:solidFill>
              </a:rPr>
              <a:t>Test et documentation des endpoints REST de l'API Django</a:t>
            </a:r>
            <a:endParaRPr lang="en-US" sz="1000" dirty="0"/>
          </a:p>
        </p:txBody>
      </p:sp>
      <p:sp>
        <p:nvSpPr>
          <p:cNvPr id="16" name="Shape 14"/>
          <p:cNvSpPr/>
          <p:nvPr/>
        </p:nvSpPr>
        <p:spPr>
          <a:xfrm>
            <a:off x="4809744" y="1417320"/>
            <a:ext cx="1920240" cy="33832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7" name="Shape 15"/>
          <p:cNvSpPr/>
          <p:nvPr/>
        </p:nvSpPr>
        <p:spPr>
          <a:xfrm>
            <a:off x="5358384" y="1600200"/>
            <a:ext cx="822960" cy="822960"/>
          </a:xfrm>
          <a:prstGeom prst="oval">
            <a:avLst/>
          </a:prstGeom>
          <a:solidFill>
            <a:srgbClr val="2AABEE"/>
          </a:solidFill>
          <a:ln/>
        </p:spPr>
      </p:sp>
      <p:sp>
        <p:nvSpPr>
          <p:cNvPr id="18" name="Text 16"/>
          <p:cNvSpPr/>
          <p:nvPr/>
        </p:nvSpPr>
        <p:spPr>
          <a:xfrm>
            <a:off x="5358384" y="1600200"/>
            <a:ext cx="822960" cy="822960"/>
          </a:xfrm>
          <a:prstGeom prst="rect">
            <a:avLst/>
          </a:prstGeom>
          <a:noFill/>
          <a:ln/>
        </p:spPr>
        <p:txBody>
          <a:bodyPr wrap="square" lIns="0" tIns="0" rIns="0" bIns="0" rtlCol="0" anchor="ctr"/>
          <a:lstStyle/>
          <a:p>
            <a:pPr algn="ctr" indent="0" marL="0">
              <a:buNone/>
            </a:pPr>
            <a:r>
              <a:rPr lang="en-US" sz="2400" b="1" dirty="0">
                <a:solidFill>
                  <a:srgbClr val="FFFFFF"/>
                </a:solidFill>
              </a:rPr>
              <a:t>T</a:t>
            </a:r>
            <a:endParaRPr lang="en-US" sz="2400" dirty="0"/>
          </a:p>
        </p:txBody>
      </p:sp>
      <p:sp>
        <p:nvSpPr>
          <p:cNvPr id="19" name="Text 17"/>
          <p:cNvSpPr/>
          <p:nvPr/>
        </p:nvSpPr>
        <p:spPr>
          <a:xfrm>
            <a:off x="4901184" y="2560320"/>
            <a:ext cx="1737360" cy="365760"/>
          </a:xfrm>
          <a:prstGeom prst="rect">
            <a:avLst/>
          </a:prstGeom>
          <a:noFill/>
          <a:ln/>
        </p:spPr>
        <p:txBody>
          <a:bodyPr wrap="square" lIns="0" tIns="0" rIns="0" bIns="0" rtlCol="0" anchor="ctr"/>
          <a:lstStyle/>
          <a:p>
            <a:pPr algn="ctr" indent="0" marL="0">
              <a:buNone/>
            </a:pPr>
            <a:r>
              <a:rPr lang="en-US" sz="1300" b="1" dirty="0">
                <a:solidFill>
                  <a:srgbClr val="0D9488"/>
                </a:solidFill>
              </a:rPr>
              <a:t>Telegram</a:t>
            </a:r>
            <a:endParaRPr lang="en-US" sz="1300" dirty="0"/>
          </a:p>
        </p:txBody>
      </p:sp>
      <p:sp>
        <p:nvSpPr>
          <p:cNvPr id="20" name="Text 18"/>
          <p:cNvSpPr/>
          <p:nvPr/>
        </p:nvSpPr>
        <p:spPr>
          <a:xfrm>
            <a:off x="4901184" y="3017520"/>
            <a:ext cx="1737360" cy="1554480"/>
          </a:xfrm>
          <a:prstGeom prst="rect">
            <a:avLst/>
          </a:prstGeom>
          <a:noFill/>
          <a:ln/>
        </p:spPr>
        <p:txBody>
          <a:bodyPr wrap="square" lIns="0" tIns="0" rIns="0" bIns="0" rtlCol="0" anchor="ctr"/>
          <a:lstStyle/>
          <a:p>
            <a:pPr algn="ctr" indent="0" marL="0">
              <a:buNone/>
            </a:pPr>
            <a:r>
              <a:rPr lang="en-US" sz="1000" dirty="0">
                <a:solidFill>
                  <a:srgbClr val="6B7280"/>
                </a:solidFill>
              </a:rPr>
              <a:t>Communication instantanée et partage de ressources entre membres</a:t>
            </a:r>
            <a:endParaRPr lang="en-US" sz="1000" dirty="0"/>
          </a:p>
        </p:txBody>
      </p:sp>
      <p:sp>
        <p:nvSpPr>
          <p:cNvPr id="21" name="Shape 19"/>
          <p:cNvSpPr/>
          <p:nvPr/>
        </p:nvSpPr>
        <p:spPr>
          <a:xfrm>
            <a:off x="6986016" y="1417320"/>
            <a:ext cx="1920240" cy="33832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2" name="Shape 20"/>
          <p:cNvSpPr/>
          <p:nvPr/>
        </p:nvSpPr>
        <p:spPr>
          <a:xfrm>
            <a:off x="7534656" y="1600200"/>
            <a:ext cx="822960" cy="822960"/>
          </a:xfrm>
          <a:prstGeom prst="oval">
            <a:avLst/>
          </a:prstGeom>
          <a:solidFill>
            <a:srgbClr val="00897B"/>
          </a:solidFill>
          <a:ln/>
        </p:spPr>
      </p:sp>
      <p:sp>
        <p:nvSpPr>
          <p:cNvPr id="23" name="Text 21"/>
          <p:cNvSpPr/>
          <p:nvPr/>
        </p:nvSpPr>
        <p:spPr>
          <a:xfrm>
            <a:off x="7534656" y="1600200"/>
            <a:ext cx="822960" cy="822960"/>
          </a:xfrm>
          <a:prstGeom prst="rect">
            <a:avLst/>
          </a:prstGeom>
          <a:noFill/>
          <a:ln/>
        </p:spPr>
        <p:txBody>
          <a:bodyPr wrap="square" lIns="0" tIns="0" rIns="0" bIns="0" rtlCol="0" anchor="ctr"/>
          <a:lstStyle/>
          <a:p>
            <a:pPr algn="ctr" indent="0" marL="0">
              <a:buNone/>
            </a:pPr>
            <a:r>
              <a:rPr lang="en-US" sz="2400" b="1" dirty="0">
                <a:solidFill>
                  <a:srgbClr val="FFFFFF"/>
                </a:solidFill>
              </a:rPr>
              <a:t>G</a:t>
            </a:r>
            <a:endParaRPr lang="en-US" sz="2400" dirty="0"/>
          </a:p>
        </p:txBody>
      </p:sp>
      <p:sp>
        <p:nvSpPr>
          <p:cNvPr id="24" name="Text 22"/>
          <p:cNvSpPr/>
          <p:nvPr/>
        </p:nvSpPr>
        <p:spPr>
          <a:xfrm>
            <a:off x="7077456" y="2560320"/>
            <a:ext cx="1737360" cy="365760"/>
          </a:xfrm>
          <a:prstGeom prst="rect">
            <a:avLst/>
          </a:prstGeom>
          <a:noFill/>
          <a:ln/>
        </p:spPr>
        <p:txBody>
          <a:bodyPr wrap="square" lIns="0" tIns="0" rIns="0" bIns="0" rtlCol="0" anchor="ctr"/>
          <a:lstStyle/>
          <a:p>
            <a:pPr algn="ctr" indent="0" marL="0">
              <a:buNone/>
            </a:pPr>
            <a:r>
              <a:rPr lang="en-US" sz="1300" b="1" dirty="0">
                <a:solidFill>
                  <a:srgbClr val="0D9488"/>
                </a:solidFill>
              </a:rPr>
              <a:t>Google Meet</a:t>
            </a:r>
            <a:endParaRPr lang="en-US" sz="1300" dirty="0"/>
          </a:p>
        </p:txBody>
      </p:sp>
      <p:sp>
        <p:nvSpPr>
          <p:cNvPr id="25" name="Text 23"/>
          <p:cNvSpPr/>
          <p:nvPr/>
        </p:nvSpPr>
        <p:spPr>
          <a:xfrm>
            <a:off x="7077456" y="3017520"/>
            <a:ext cx="1737360" cy="1554480"/>
          </a:xfrm>
          <a:prstGeom prst="rect">
            <a:avLst/>
          </a:prstGeom>
          <a:noFill/>
          <a:ln/>
        </p:spPr>
        <p:txBody>
          <a:bodyPr wrap="square" lIns="0" tIns="0" rIns="0" bIns="0" rtlCol="0" anchor="ctr"/>
          <a:lstStyle/>
          <a:p>
            <a:pPr algn="ctr" indent="0" marL="0">
              <a:buNone/>
            </a:pPr>
            <a:r>
              <a:rPr lang="en-US" sz="1000" dirty="0">
                <a:solidFill>
                  <a:srgbClr val="6B7280"/>
                </a:solidFill>
              </a:rPr>
              <a:t>Réunions d'équipe hebdomadaires et revues de code en visioconférence</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0FDFA"/>
        </a:solidFill>
      </p:bgPr>
    </p:bg>
    <p:spTree>
      <p:nvGrpSpPr>
        <p:cNvPr id="1" name=""/>
        <p:cNvGrpSpPr/>
        <p:nvPr/>
      </p:nvGrpSpPr>
      <p:grpSpPr>
        <a:xfrm>
          <a:off x="0" y="0"/>
          <a:ext cx="0" cy="0"/>
          <a:chOff x="0" y="0"/>
          <a:chExt cx="0" cy="0"/>
        </a:xfrm>
      </p:grpSpPr>
      <p:sp>
        <p:nvSpPr>
          <p:cNvPr id="2" name="Shape 0"/>
          <p:cNvSpPr/>
          <p:nvPr/>
        </p:nvSpPr>
        <p:spPr>
          <a:xfrm>
            <a:off x="457200" y="274320"/>
            <a:ext cx="1645920" cy="274320"/>
          </a:xfrm>
          <a:prstGeom prst="rect">
            <a:avLst>
              <a:gd name="adj" fmla="val 13333"/>
            </a:avLst>
          </a:prstGeom>
          <a:solidFill>
            <a:srgbClr val="0D9488"/>
          </a:solidFill>
          <a:ln/>
        </p:spPr>
      </p:sp>
      <p:sp>
        <p:nvSpPr>
          <p:cNvPr id="3" name="Text 1"/>
          <p:cNvSpPr/>
          <p:nvPr/>
        </p:nvSpPr>
        <p:spPr>
          <a:xfrm>
            <a:off x="457200" y="274320"/>
            <a:ext cx="1645920" cy="274320"/>
          </a:xfrm>
          <a:prstGeom prst="rect">
            <a:avLst/>
          </a:prstGeom>
          <a:noFill/>
          <a:ln/>
        </p:spPr>
        <p:txBody>
          <a:bodyPr wrap="square" lIns="0" tIns="0" rIns="0" bIns="0" rtlCol="0" anchor="ctr"/>
          <a:lstStyle/>
          <a:p>
            <a:pPr algn="ctr" indent="0" marL="0">
              <a:buNone/>
            </a:pPr>
            <a:r>
              <a:rPr lang="en-US" sz="900" b="1" dirty="0">
                <a:solidFill>
                  <a:srgbClr val="FFFFFF"/>
                </a:solidFill>
              </a:rPr>
              <a:t>DÉFIS</a:t>
            </a:r>
            <a:endParaRPr lang="en-US" sz="900" dirty="0"/>
          </a:p>
        </p:txBody>
      </p:sp>
      <p:sp>
        <p:nvSpPr>
          <p:cNvPr id="4" name="Text 2"/>
          <p:cNvSpPr/>
          <p:nvPr/>
        </p:nvSpPr>
        <p:spPr>
          <a:xfrm>
            <a:off x="457200" y="685800"/>
            <a:ext cx="8229600" cy="548640"/>
          </a:xfrm>
          <a:prstGeom prst="rect">
            <a:avLst/>
          </a:prstGeom>
          <a:noFill/>
          <a:ln/>
        </p:spPr>
        <p:txBody>
          <a:bodyPr wrap="square" lIns="0" tIns="0" rIns="0" bIns="0" rtlCol="0" anchor="ctr"/>
          <a:lstStyle/>
          <a:p>
            <a:pPr indent="0" marL="0">
              <a:buNone/>
            </a:pPr>
            <a:r>
              <a:rPr lang="en-US" sz="2800" b="1" dirty="0">
                <a:solidFill>
                  <a:srgbClr val="0D9488"/>
                </a:solidFill>
              </a:rPr>
              <a:t>Problèmes Rencontrés</a:t>
            </a:r>
            <a:endParaRPr lang="en-US" sz="2800" dirty="0"/>
          </a:p>
        </p:txBody>
      </p:sp>
      <p:sp>
        <p:nvSpPr>
          <p:cNvPr id="5" name="Shape 3"/>
          <p:cNvSpPr/>
          <p:nvPr/>
        </p:nvSpPr>
        <p:spPr>
          <a:xfrm>
            <a:off x="0" y="685800"/>
            <a:ext cx="64008" cy="457200"/>
          </a:xfrm>
          <a:prstGeom prst="rect">
            <a:avLst/>
          </a:prstGeom>
          <a:solidFill>
            <a:srgbClr val="0D9488"/>
          </a:solidFill>
          <a:ln/>
        </p:spPr>
      </p:sp>
      <p:sp>
        <p:nvSpPr>
          <p:cNvPr id="6" name="Shape 4"/>
          <p:cNvSpPr/>
          <p:nvPr/>
        </p:nvSpPr>
        <p:spPr>
          <a:xfrm>
            <a:off x="457200" y="1463040"/>
            <a:ext cx="8229600" cy="749808"/>
          </a:xfrm>
          <a:prstGeom prst="rect">
            <a:avLst/>
          </a:prstGeom>
          <a:solidFill>
            <a:srgbClr val="FFFFFF"/>
          </a:solidFill>
          <a:ln/>
          <a:effectLst>
            <a:outerShdw sx="100000" sy="100000" kx="0" ky="0" algn="bl" rotWithShape="0" blurRad="101600" dist="38100" dir="8100000">
              <a:srgbClr val="000000">
                <a:alpha val="12000"/>
              </a:srgbClr>
            </a:outerShdw>
          </a:effectLst>
        </p:spPr>
      </p:sp>
      <p:pic>
        <p:nvPicPr>
          <p:cNvPr id="7" name="Image 0" descr="preencoded.png">    </p:cNvPr>
          <p:cNvPicPr>
            <a:picLocks noChangeAspect="1"/>
          </p:cNvPicPr>
          <p:nvPr/>
        </p:nvPicPr>
        <p:blipFill>
          <a:blip r:embed="rId1"/>
          <a:stretch>
            <a:fillRect/>
          </a:stretch>
        </p:blipFill>
        <p:spPr>
          <a:xfrm>
            <a:off x="640080" y="1636776"/>
            <a:ext cx="384048" cy="384048"/>
          </a:xfrm>
          <a:prstGeom prst="rect">
            <a:avLst/>
          </a:prstGeom>
        </p:spPr>
      </p:pic>
      <p:sp>
        <p:nvSpPr>
          <p:cNvPr id="8" name="Text 5"/>
          <p:cNvSpPr/>
          <p:nvPr/>
        </p:nvSpPr>
        <p:spPr>
          <a:xfrm>
            <a:off x="1188720" y="1627632"/>
            <a:ext cx="7315200" cy="411480"/>
          </a:xfrm>
          <a:prstGeom prst="rect">
            <a:avLst/>
          </a:prstGeom>
          <a:noFill/>
          <a:ln/>
        </p:spPr>
        <p:txBody>
          <a:bodyPr wrap="square" lIns="0" tIns="0" rIns="0" bIns="0" rtlCol="0" anchor="ctr"/>
          <a:lstStyle/>
          <a:p>
            <a:pPr indent="0" marL="0">
              <a:buNone/>
            </a:pPr>
            <a:r>
              <a:rPr lang="en-US" sz="1250" dirty="0">
                <a:solidFill>
                  <a:srgbClr val="134E4A"/>
                </a:solidFill>
              </a:rPr>
              <a:t>Intégration Flutter ↔ Django REST : gestion des headers JWT et sérialisation des données complexes</a:t>
            </a:r>
            <a:endParaRPr lang="en-US" sz="1250" dirty="0"/>
          </a:p>
        </p:txBody>
      </p:sp>
      <p:sp>
        <p:nvSpPr>
          <p:cNvPr id="9" name="Shape 6"/>
          <p:cNvSpPr/>
          <p:nvPr/>
        </p:nvSpPr>
        <p:spPr>
          <a:xfrm>
            <a:off x="457200" y="2331720"/>
            <a:ext cx="8229600" cy="749808"/>
          </a:xfrm>
          <a:prstGeom prst="rect">
            <a:avLst/>
          </a:prstGeom>
          <a:solidFill>
            <a:srgbClr val="FFFFFF"/>
          </a:solidFill>
          <a:ln/>
          <a:effectLst>
            <a:outerShdw sx="100000" sy="100000" kx="0" ky="0" algn="bl" rotWithShape="0" blurRad="101600" dist="38100" dir="8100000">
              <a:srgbClr val="000000">
                <a:alpha val="12000"/>
              </a:srgbClr>
            </a:outerShdw>
          </a:effectLst>
        </p:spPr>
      </p:sp>
      <p:pic>
        <p:nvPicPr>
          <p:cNvPr id="10" name="Image 1" descr="preencoded.png">    </p:cNvPr>
          <p:cNvPicPr>
            <a:picLocks noChangeAspect="1"/>
          </p:cNvPicPr>
          <p:nvPr/>
        </p:nvPicPr>
        <p:blipFill>
          <a:blip r:embed="rId2"/>
          <a:stretch>
            <a:fillRect/>
          </a:stretch>
        </p:blipFill>
        <p:spPr>
          <a:xfrm>
            <a:off x="640080" y="2505456"/>
            <a:ext cx="384048" cy="384048"/>
          </a:xfrm>
          <a:prstGeom prst="rect">
            <a:avLst/>
          </a:prstGeom>
        </p:spPr>
      </p:pic>
      <p:sp>
        <p:nvSpPr>
          <p:cNvPr id="11" name="Text 7"/>
          <p:cNvSpPr/>
          <p:nvPr/>
        </p:nvSpPr>
        <p:spPr>
          <a:xfrm>
            <a:off x="1188720" y="2496312"/>
            <a:ext cx="7315200" cy="411480"/>
          </a:xfrm>
          <a:prstGeom prst="rect">
            <a:avLst/>
          </a:prstGeom>
          <a:noFill/>
          <a:ln/>
        </p:spPr>
        <p:txBody>
          <a:bodyPr wrap="square" lIns="0" tIns="0" rIns="0" bIns="0" rtlCol="0" anchor="ctr"/>
          <a:lstStyle/>
          <a:p>
            <a:pPr indent="0" marL="0">
              <a:buNone/>
            </a:pPr>
            <a:r>
              <a:rPr lang="en-US" sz="1250" dirty="0">
                <a:solidFill>
                  <a:srgbClr val="134E4A"/>
                </a:solidFill>
              </a:rPr>
              <a:t>Algorithme de créneaux : gestion des fuseaux horaires et des conflits de disponibilité simultanés</a:t>
            </a:r>
            <a:endParaRPr lang="en-US" sz="1250" dirty="0"/>
          </a:p>
        </p:txBody>
      </p:sp>
      <p:sp>
        <p:nvSpPr>
          <p:cNvPr id="12" name="Shape 8"/>
          <p:cNvSpPr/>
          <p:nvPr/>
        </p:nvSpPr>
        <p:spPr>
          <a:xfrm>
            <a:off x="457200" y="3200400"/>
            <a:ext cx="8229600" cy="749808"/>
          </a:xfrm>
          <a:prstGeom prst="rect">
            <a:avLst/>
          </a:prstGeom>
          <a:solidFill>
            <a:srgbClr val="FFFFFF"/>
          </a:solidFill>
          <a:ln/>
          <a:effectLst>
            <a:outerShdw sx="100000" sy="100000" kx="0" ky="0" algn="bl" rotWithShape="0" blurRad="101600" dist="38100" dir="8100000">
              <a:srgbClr val="000000">
                <a:alpha val="12000"/>
              </a:srgbClr>
            </a:outerShdw>
          </a:effectLst>
        </p:spPr>
      </p:sp>
      <p:pic>
        <p:nvPicPr>
          <p:cNvPr id="13" name="Image 2" descr="preencoded.png">    </p:cNvPr>
          <p:cNvPicPr>
            <a:picLocks noChangeAspect="1"/>
          </p:cNvPicPr>
          <p:nvPr/>
        </p:nvPicPr>
        <p:blipFill>
          <a:blip r:embed="rId3"/>
          <a:stretch>
            <a:fillRect/>
          </a:stretch>
        </p:blipFill>
        <p:spPr>
          <a:xfrm>
            <a:off x="640080" y="3374136"/>
            <a:ext cx="384048" cy="384048"/>
          </a:xfrm>
          <a:prstGeom prst="rect">
            <a:avLst/>
          </a:prstGeom>
        </p:spPr>
      </p:pic>
      <p:sp>
        <p:nvSpPr>
          <p:cNvPr id="14" name="Text 9"/>
          <p:cNvSpPr/>
          <p:nvPr/>
        </p:nvSpPr>
        <p:spPr>
          <a:xfrm>
            <a:off x="1188720" y="3364992"/>
            <a:ext cx="7315200" cy="411480"/>
          </a:xfrm>
          <a:prstGeom prst="rect">
            <a:avLst/>
          </a:prstGeom>
          <a:noFill/>
          <a:ln/>
        </p:spPr>
        <p:txBody>
          <a:bodyPr wrap="square" lIns="0" tIns="0" rIns="0" bIns="0" rtlCol="0" anchor="ctr"/>
          <a:lstStyle/>
          <a:p>
            <a:pPr indent="0" marL="0">
              <a:buNone/>
            </a:pPr>
            <a:r>
              <a:rPr lang="en-US" sz="1250" dirty="0">
                <a:solidFill>
                  <a:srgbClr val="134E4A"/>
                </a:solidFill>
              </a:rPr>
              <a:t>Sécurité RBAC : définition granulaire des permissions sans bloquer les cas d'usage légitimes</a:t>
            </a:r>
            <a:endParaRPr lang="en-US" sz="1250" dirty="0"/>
          </a:p>
        </p:txBody>
      </p:sp>
      <p:sp>
        <p:nvSpPr>
          <p:cNvPr id="15" name="Shape 10"/>
          <p:cNvSpPr/>
          <p:nvPr/>
        </p:nvSpPr>
        <p:spPr>
          <a:xfrm>
            <a:off x="457200" y="4069080"/>
            <a:ext cx="8229600" cy="749808"/>
          </a:xfrm>
          <a:prstGeom prst="rect">
            <a:avLst/>
          </a:prstGeom>
          <a:solidFill>
            <a:srgbClr val="FFFFFF"/>
          </a:solidFill>
          <a:ln/>
          <a:effectLst>
            <a:outerShdw sx="100000" sy="100000" kx="0" ky="0" algn="bl" rotWithShape="0" blurRad="101600" dist="38100" dir="8100000">
              <a:srgbClr val="000000">
                <a:alpha val="12000"/>
              </a:srgbClr>
            </a:outerShdw>
          </a:effectLst>
        </p:spPr>
      </p:sp>
      <p:pic>
        <p:nvPicPr>
          <p:cNvPr id="16" name="Image 3" descr="preencoded.png">    </p:cNvPr>
          <p:cNvPicPr>
            <a:picLocks noChangeAspect="1"/>
          </p:cNvPicPr>
          <p:nvPr/>
        </p:nvPicPr>
        <p:blipFill>
          <a:blip r:embed="rId4"/>
          <a:stretch>
            <a:fillRect/>
          </a:stretch>
        </p:blipFill>
        <p:spPr>
          <a:xfrm>
            <a:off x="640080" y="4242816"/>
            <a:ext cx="384048" cy="384048"/>
          </a:xfrm>
          <a:prstGeom prst="rect">
            <a:avLst/>
          </a:prstGeom>
        </p:spPr>
      </p:pic>
      <p:sp>
        <p:nvSpPr>
          <p:cNvPr id="17" name="Text 11"/>
          <p:cNvSpPr/>
          <p:nvPr/>
        </p:nvSpPr>
        <p:spPr>
          <a:xfrm>
            <a:off x="1188720" y="4233672"/>
            <a:ext cx="7315200" cy="411480"/>
          </a:xfrm>
          <a:prstGeom prst="rect">
            <a:avLst/>
          </a:prstGeom>
          <a:noFill/>
          <a:ln/>
        </p:spPr>
        <p:txBody>
          <a:bodyPr wrap="square" lIns="0" tIns="0" rIns="0" bIns="0" rtlCol="0" anchor="ctr"/>
          <a:lstStyle/>
          <a:p>
            <a:pPr indent="0" marL="0">
              <a:buNone/>
            </a:pPr>
            <a:r>
              <a:rPr lang="en-US" sz="1250" dirty="0">
                <a:solidFill>
                  <a:srgbClr val="134E4A"/>
                </a:solidFill>
              </a:rPr>
              <a:t>Dossiers médicaux EHR : modélisation des relations imbriquées (Consultation → Diagnosis → Prescription)</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0FDFA"/>
        </a:solidFill>
      </p:bgPr>
    </p:bg>
    <p:spTree>
      <p:nvGrpSpPr>
        <p:cNvPr id="1" name=""/>
        <p:cNvGrpSpPr/>
        <p:nvPr/>
      </p:nvGrpSpPr>
      <p:grpSpPr>
        <a:xfrm>
          <a:off x="0" y="0"/>
          <a:ext cx="0" cy="0"/>
          <a:chOff x="0" y="0"/>
          <a:chExt cx="0" cy="0"/>
        </a:xfrm>
      </p:grpSpPr>
      <p:sp>
        <p:nvSpPr>
          <p:cNvPr id="2" name="Shape 0"/>
          <p:cNvSpPr/>
          <p:nvPr/>
        </p:nvSpPr>
        <p:spPr>
          <a:xfrm>
            <a:off x="457200" y="274320"/>
            <a:ext cx="1645920" cy="274320"/>
          </a:xfrm>
          <a:prstGeom prst="rect">
            <a:avLst>
              <a:gd name="adj" fmla="val 13333"/>
            </a:avLst>
          </a:prstGeom>
          <a:solidFill>
            <a:srgbClr val="0D9488"/>
          </a:solidFill>
          <a:ln/>
        </p:spPr>
      </p:sp>
      <p:sp>
        <p:nvSpPr>
          <p:cNvPr id="3" name="Text 1"/>
          <p:cNvSpPr/>
          <p:nvPr/>
        </p:nvSpPr>
        <p:spPr>
          <a:xfrm>
            <a:off x="457200" y="274320"/>
            <a:ext cx="1645920" cy="274320"/>
          </a:xfrm>
          <a:prstGeom prst="rect">
            <a:avLst/>
          </a:prstGeom>
          <a:noFill/>
          <a:ln/>
        </p:spPr>
        <p:txBody>
          <a:bodyPr wrap="square" lIns="0" tIns="0" rIns="0" bIns="0" rtlCol="0" anchor="ctr"/>
          <a:lstStyle/>
          <a:p>
            <a:pPr algn="ctr" indent="0" marL="0">
              <a:buNone/>
            </a:pPr>
            <a:r>
              <a:rPr lang="en-US" sz="900" b="1" dirty="0">
                <a:solidFill>
                  <a:srgbClr val="FFFFFF"/>
                </a:solidFill>
              </a:rPr>
              <a:t>PERSPECTIVES</a:t>
            </a:r>
            <a:endParaRPr lang="en-US" sz="900" dirty="0"/>
          </a:p>
        </p:txBody>
      </p:sp>
      <p:sp>
        <p:nvSpPr>
          <p:cNvPr id="4" name="Text 2"/>
          <p:cNvSpPr/>
          <p:nvPr/>
        </p:nvSpPr>
        <p:spPr>
          <a:xfrm>
            <a:off x="457200" y="685800"/>
            <a:ext cx="8229600" cy="548640"/>
          </a:xfrm>
          <a:prstGeom prst="rect">
            <a:avLst/>
          </a:prstGeom>
          <a:noFill/>
          <a:ln/>
        </p:spPr>
        <p:txBody>
          <a:bodyPr wrap="square" lIns="0" tIns="0" rIns="0" bIns="0" rtlCol="0" anchor="ctr"/>
          <a:lstStyle/>
          <a:p>
            <a:pPr indent="0" marL="0">
              <a:buNone/>
            </a:pPr>
            <a:r>
              <a:rPr lang="en-US" sz="2800" b="1" dirty="0">
                <a:solidFill>
                  <a:srgbClr val="0D9488"/>
                </a:solidFill>
              </a:rPr>
              <a:t>Améliorations Futures</a:t>
            </a:r>
            <a:endParaRPr lang="en-US" sz="2800" dirty="0"/>
          </a:p>
        </p:txBody>
      </p:sp>
      <p:sp>
        <p:nvSpPr>
          <p:cNvPr id="5" name="Shape 3"/>
          <p:cNvSpPr/>
          <p:nvPr/>
        </p:nvSpPr>
        <p:spPr>
          <a:xfrm>
            <a:off x="0" y="685800"/>
            <a:ext cx="64008" cy="457200"/>
          </a:xfrm>
          <a:prstGeom prst="rect">
            <a:avLst/>
          </a:prstGeom>
          <a:solidFill>
            <a:srgbClr val="0D9488"/>
          </a:solidFill>
          <a:ln/>
        </p:spPr>
      </p:sp>
      <p:sp>
        <p:nvSpPr>
          <p:cNvPr id="6" name="Shape 4"/>
          <p:cNvSpPr/>
          <p:nvPr/>
        </p:nvSpPr>
        <p:spPr>
          <a:xfrm>
            <a:off x="457200" y="1463040"/>
            <a:ext cx="4114800" cy="1554480"/>
          </a:xfrm>
          <a:prstGeom prst="rect">
            <a:avLst/>
          </a:prstGeom>
          <a:solidFill>
            <a:srgbClr val="FFFFFF"/>
          </a:solidFill>
          <a:ln/>
          <a:effectLst>
            <a:outerShdw sx="100000" sy="100000" kx="0" ky="0" algn="bl" rotWithShape="0" blurRad="101600" dist="38100" dir="8100000">
              <a:srgbClr val="000000">
                <a:alpha val="12000"/>
              </a:srgbClr>
            </a:outerShdw>
          </a:effectLst>
        </p:spPr>
      </p:sp>
      <p:pic>
        <p:nvPicPr>
          <p:cNvPr id="7" name="Image 0" descr="preencoded.png">    </p:cNvPr>
          <p:cNvPicPr>
            <a:picLocks noChangeAspect="1"/>
          </p:cNvPicPr>
          <p:nvPr/>
        </p:nvPicPr>
        <p:blipFill>
          <a:blip r:embed="rId1"/>
          <a:stretch>
            <a:fillRect/>
          </a:stretch>
        </p:blipFill>
        <p:spPr>
          <a:xfrm>
            <a:off x="640080" y="2011680"/>
            <a:ext cx="457200" cy="457200"/>
          </a:xfrm>
          <a:prstGeom prst="rect">
            <a:avLst/>
          </a:prstGeom>
        </p:spPr>
      </p:pic>
      <p:sp>
        <p:nvSpPr>
          <p:cNvPr id="8" name="Text 5"/>
          <p:cNvSpPr/>
          <p:nvPr/>
        </p:nvSpPr>
        <p:spPr>
          <a:xfrm>
            <a:off x="1234440" y="1600200"/>
            <a:ext cx="3200400" cy="384048"/>
          </a:xfrm>
          <a:prstGeom prst="rect">
            <a:avLst/>
          </a:prstGeom>
          <a:noFill/>
          <a:ln/>
        </p:spPr>
        <p:txBody>
          <a:bodyPr wrap="square" lIns="0" tIns="0" rIns="0" bIns="0" rtlCol="0" anchor="ctr"/>
          <a:lstStyle/>
          <a:p>
            <a:pPr indent="0" marL="0">
              <a:buNone/>
            </a:pPr>
            <a:r>
              <a:rPr lang="en-US" sz="1300" b="1" dirty="0">
                <a:solidFill>
                  <a:srgbClr val="0D9488"/>
                </a:solidFill>
              </a:rPr>
              <a:t>Notifications Push</a:t>
            </a:r>
            <a:endParaRPr lang="en-US" sz="1300" dirty="0"/>
          </a:p>
        </p:txBody>
      </p:sp>
      <p:sp>
        <p:nvSpPr>
          <p:cNvPr id="9" name="Text 6"/>
          <p:cNvSpPr/>
          <p:nvPr/>
        </p:nvSpPr>
        <p:spPr>
          <a:xfrm>
            <a:off x="1234440" y="2057400"/>
            <a:ext cx="3200400" cy="731520"/>
          </a:xfrm>
          <a:prstGeom prst="rect">
            <a:avLst/>
          </a:prstGeom>
          <a:noFill/>
          <a:ln/>
        </p:spPr>
        <p:txBody>
          <a:bodyPr wrap="square" lIns="0" tIns="0" rIns="0" bIns="0" rtlCol="0" anchor="ctr"/>
          <a:lstStyle/>
          <a:p>
            <a:pPr indent="0" marL="0">
              <a:buNone/>
            </a:pPr>
            <a:r>
              <a:rPr lang="en-US" sz="1100" dirty="0">
                <a:solidFill>
                  <a:srgbClr val="134E4A"/>
                </a:solidFill>
              </a:rPr>
              <a:t>Rappels automatiques de rendez-vous et alertes médicales personnalisées</a:t>
            </a:r>
            <a:endParaRPr lang="en-US" sz="1100" dirty="0"/>
          </a:p>
        </p:txBody>
      </p:sp>
      <p:sp>
        <p:nvSpPr>
          <p:cNvPr id="10" name="Shape 7"/>
          <p:cNvSpPr/>
          <p:nvPr/>
        </p:nvSpPr>
        <p:spPr>
          <a:xfrm>
            <a:off x="4846320" y="1463040"/>
            <a:ext cx="4114800" cy="1554480"/>
          </a:xfrm>
          <a:prstGeom prst="rect">
            <a:avLst/>
          </a:prstGeom>
          <a:solidFill>
            <a:srgbClr val="FFFFFF"/>
          </a:solidFill>
          <a:ln/>
          <a:effectLst>
            <a:outerShdw sx="100000" sy="100000" kx="0" ky="0" algn="bl" rotWithShape="0" blurRad="101600" dist="38100" dir="8100000">
              <a:srgbClr val="000000">
                <a:alpha val="12000"/>
              </a:srgbClr>
            </a:outerShdw>
          </a:effectLst>
        </p:spPr>
      </p:sp>
      <p:pic>
        <p:nvPicPr>
          <p:cNvPr id="11" name="Image 1" descr="preencoded.png">    </p:cNvPr>
          <p:cNvPicPr>
            <a:picLocks noChangeAspect="1"/>
          </p:cNvPicPr>
          <p:nvPr/>
        </p:nvPicPr>
        <p:blipFill>
          <a:blip r:embed="rId2"/>
          <a:stretch>
            <a:fillRect/>
          </a:stretch>
        </p:blipFill>
        <p:spPr>
          <a:xfrm>
            <a:off x="5029200" y="2011680"/>
            <a:ext cx="457200" cy="457200"/>
          </a:xfrm>
          <a:prstGeom prst="rect">
            <a:avLst/>
          </a:prstGeom>
        </p:spPr>
      </p:pic>
      <p:sp>
        <p:nvSpPr>
          <p:cNvPr id="12" name="Text 8"/>
          <p:cNvSpPr/>
          <p:nvPr/>
        </p:nvSpPr>
        <p:spPr>
          <a:xfrm>
            <a:off x="5623560" y="1600200"/>
            <a:ext cx="3200400" cy="384048"/>
          </a:xfrm>
          <a:prstGeom prst="rect">
            <a:avLst/>
          </a:prstGeom>
          <a:noFill/>
          <a:ln/>
        </p:spPr>
        <p:txBody>
          <a:bodyPr wrap="square" lIns="0" tIns="0" rIns="0" bIns="0" rtlCol="0" anchor="ctr"/>
          <a:lstStyle/>
          <a:p>
            <a:pPr indent="0" marL="0">
              <a:buNone/>
            </a:pPr>
            <a:r>
              <a:rPr lang="en-US" sz="1300" b="1" dirty="0">
                <a:solidFill>
                  <a:srgbClr val="0D9488"/>
                </a:solidFill>
              </a:rPr>
              <a:t>IA &amp; Recommandations</a:t>
            </a:r>
            <a:endParaRPr lang="en-US" sz="1300" dirty="0"/>
          </a:p>
        </p:txBody>
      </p:sp>
      <p:sp>
        <p:nvSpPr>
          <p:cNvPr id="13" name="Text 9"/>
          <p:cNvSpPr/>
          <p:nvPr/>
        </p:nvSpPr>
        <p:spPr>
          <a:xfrm>
            <a:off x="5623560" y="2057400"/>
            <a:ext cx="3200400" cy="731520"/>
          </a:xfrm>
          <a:prstGeom prst="rect">
            <a:avLst/>
          </a:prstGeom>
          <a:noFill/>
          <a:ln/>
        </p:spPr>
        <p:txBody>
          <a:bodyPr wrap="square" lIns="0" tIns="0" rIns="0" bIns="0" rtlCol="0" anchor="ctr"/>
          <a:lstStyle/>
          <a:p>
            <a:pPr indent="0" marL="0">
              <a:buNone/>
            </a:pPr>
            <a:r>
              <a:rPr lang="en-US" sz="1100" dirty="0">
                <a:solidFill>
                  <a:srgbClr val="134E4A"/>
                </a:solidFill>
              </a:rPr>
              <a:t>Suggestion de médecins basée sur l'historique, la localisation et les avis</a:t>
            </a:r>
            <a:endParaRPr lang="en-US" sz="1100" dirty="0"/>
          </a:p>
        </p:txBody>
      </p:sp>
      <p:sp>
        <p:nvSpPr>
          <p:cNvPr id="14" name="Shape 10"/>
          <p:cNvSpPr/>
          <p:nvPr/>
        </p:nvSpPr>
        <p:spPr>
          <a:xfrm>
            <a:off x="457200" y="3200400"/>
            <a:ext cx="4114800" cy="1554480"/>
          </a:xfrm>
          <a:prstGeom prst="rect">
            <a:avLst/>
          </a:prstGeom>
          <a:solidFill>
            <a:srgbClr val="FFFFFF"/>
          </a:solidFill>
          <a:ln/>
          <a:effectLst>
            <a:outerShdw sx="100000" sy="100000" kx="0" ky="0" algn="bl" rotWithShape="0" blurRad="101600" dist="38100" dir="8100000">
              <a:srgbClr val="000000">
                <a:alpha val="12000"/>
              </a:srgbClr>
            </a:outerShdw>
          </a:effectLst>
        </p:spPr>
      </p:sp>
      <p:pic>
        <p:nvPicPr>
          <p:cNvPr id="15" name="Image 2" descr="preencoded.png">    </p:cNvPr>
          <p:cNvPicPr>
            <a:picLocks noChangeAspect="1"/>
          </p:cNvPicPr>
          <p:nvPr/>
        </p:nvPicPr>
        <p:blipFill>
          <a:blip r:embed="rId3"/>
          <a:stretch>
            <a:fillRect/>
          </a:stretch>
        </p:blipFill>
        <p:spPr>
          <a:xfrm>
            <a:off x="640080" y="3749040"/>
            <a:ext cx="457200" cy="457200"/>
          </a:xfrm>
          <a:prstGeom prst="rect">
            <a:avLst/>
          </a:prstGeom>
        </p:spPr>
      </p:pic>
      <p:sp>
        <p:nvSpPr>
          <p:cNvPr id="16" name="Text 11"/>
          <p:cNvSpPr/>
          <p:nvPr/>
        </p:nvSpPr>
        <p:spPr>
          <a:xfrm>
            <a:off x="1234440" y="3337560"/>
            <a:ext cx="3200400" cy="384048"/>
          </a:xfrm>
          <a:prstGeom prst="rect">
            <a:avLst/>
          </a:prstGeom>
          <a:noFill/>
          <a:ln/>
        </p:spPr>
        <p:txBody>
          <a:bodyPr wrap="square" lIns="0" tIns="0" rIns="0" bIns="0" rtlCol="0" anchor="ctr"/>
          <a:lstStyle/>
          <a:p>
            <a:pPr indent="0" marL="0">
              <a:buNone/>
            </a:pPr>
            <a:r>
              <a:rPr lang="en-US" sz="1300" b="1" dirty="0">
                <a:solidFill>
                  <a:srgbClr val="0D9488"/>
                </a:solidFill>
              </a:rPr>
              <a:t>Ordonnances Numériques</a:t>
            </a:r>
            <a:endParaRPr lang="en-US" sz="1300" dirty="0"/>
          </a:p>
        </p:txBody>
      </p:sp>
      <p:sp>
        <p:nvSpPr>
          <p:cNvPr id="17" name="Text 12"/>
          <p:cNvSpPr/>
          <p:nvPr/>
        </p:nvSpPr>
        <p:spPr>
          <a:xfrm>
            <a:off x="1234440" y="3794760"/>
            <a:ext cx="3200400" cy="731520"/>
          </a:xfrm>
          <a:prstGeom prst="rect">
            <a:avLst/>
          </a:prstGeom>
          <a:noFill/>
          <a:ln/>
        </p:spPr>
        <p:txBody>
          <a:bodyPr wrap="square" lIns="0" tIns="0" rIns="0" bIns="0" rtlCol="0" anchor="ctr"/>
          <a:lstStyle/>
          <a:p>
            <a:pPr indent="0" marL="0">
              <a:buNone/>
            </a:pPr>
            <a:r>
              <a:rPr lang="en-US" sz="1100" dirty="0">
                <a:solidFill>
                  <a:srgbClr val="134E4A"/>
                </a:solidFill>
              </a:rPr>
              <a:t>Prescription électronique signée numériquement et transmise en pharmacie</a:t>
            </a:r>
            <a:endParaRPr lang="en-US" sz="1100" dirty="0"/>
          </a:p>
        </p:txBody>
      </p:sp>
      <p:sp>
        <p:nvSpPr>
          <p:cNvPr id="18" name="Shape 13"/>
          <p:cNvSpPr/>
          <p:nvPr/>
        </p:nvSpPr>
        <p:spPr>
          <a:xfrm>
            <a:off x="4846320" y="3200400"/>
            <a:ext cx="4114800" cy="1554480"/>
          </a:xfrm>
          <a:prstGeom prst="rect">
            <a:avLst/>
          </a:prstGeom>
          <a:solidFill>
            <a:srgbClr val="FFFFFF"/>
          </a:solidFill>
          <a:ln/>
          <a:effectLst>
            <a:outerShdw sx="100000" sy="100000" kx="0" ky="0" algn="bl" rotWithShape="0" blurRad="101600" dist="38100" dir="8100000">
              <a:srgbClr val="000000">
                <a:alpha val="12000"/>
              </a:srgbClr>
            </a:outerShdw>
          </a:effectLst>
        </p:spPr>
      </p:sp>
      <p:pic>
        <p:nvPicPr>
          <p:cNvPr id="19" name="Image 3" descr="preencoded.png">    </p:cNvPr>
          <p:cNvPicPr>
            <a:picLocks noChangeAspect="1"/>
          </p:cNvPicPr>
          <p:nvPr/>
        </p:nvPicPr>
        <p:blipFill>
          <a:blip r:embed="rId4"/>
          <a:stretch>
            <a:fillRect/>
          </a:stretch>
        </p:blipFill>
        <p:spPr>
          <a:xfrm>
            <a:off x="5029200" y="3749040"/>
            <a:ext cx="457200" cy="457200"/>
          </a:xfrm>
          <a:prstGeom prst="rect">
            <a:avLst/>
          </a:prstGeom>
        </p:spPr>
      </p:pic>
      <p:sp>
        <p:nvSpPr>
          <p:cNvPr id="20" name="Text 14"/>
          <p:cNvSpPr/>
          <p:nvPr/>
        </p:nvSpPr>
        <p:spPr>
          <a:xfrm>
            <a:off x="5623560" y="3337560"/>
            <a:ext cx="3200400" cy="384048"/>
          </a:xfrm>
          <a:prstGeom prst="rect">
            <a:avLst/>
          </a:prstGeom>
          <a:noFill/>
          <a:ln/>
        </p:spPr>
        <p:txBody>
          <a:bodyPr wrap="square" lIns="0" tIns="0" rIns="0" bIns="0" rtlCol="0" anchor="ctr"/>
          <a:lstStyle/>
          <a:p>
            <a:pPr indent="0" marL="0">
              <a:buNone/>
            </a:pPr>
            <a:r>
              <a:rPr lang="en-US" sz="1300" b="1" dirty="0">
                <a:solidFill>
                  <a:srgbClr val="0D9488"/>
                </a:solidFill>
              </a:rPr>
              <a:t>Intégration Hospitalière</a:t>
            </a:r>
            <a:endParaRPr lang="en-US" sz="1300" dirty="0"/>
          </a:p>
        </p:txBody>
      </p:sp>
      <p:sp>
        <p:nvSpPr>
          <p:cNvPr id="21" name="Text 15"/>
          <p:cNvSpPr/>
          <p:nvPr/>
        </p:nvSpPr>
        <p:spPr>
          <a:xfrm>
            <a:off x="5623560" y="3794760"/>
            <a:ext cx="3200400" cy="731520"/>
          </a:xfrm>
          <a:prstGeom prst="rect">
            <a:avLst/>
          </a:prstGeom>
          <a:noFill/>
          <a:ln/>
        </p:spPr>
        <p:txBody>
          <a:bodyPr wrap="square" lIns="0" tIns="0" rIns="0" bIns="0" rtlCol="0" anchor="ctr"/>
          <a:lstStyle/>
          <a:p>
            <a:pPr indent="0" marL="0">
              <a:buNone/>
            </a:pPr>
            <a:r>
              <a:rPr lang="en-US" sz="1100" dirty="0">
                <a:solidFill>
                  <a:srgbClr val="134E4A"/>
                </a:solidFill>
              </a:rPr>
              <a:t>Connexion aux systèmes d'information des hôpitaux publics algériens</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0FDFA"/>
        </a:solidFill>
      </p:bgPr>
    </p:bg>
    <p:spTree>
      <p:nvGrpSpPr>
        <p:cNvPr id="1" name=""/>
        <p:cNvGrpSpPr/>
        <p:nvPr/>
      </p:nvGrpSpPr>
      <p:grpSpPr>
        <a:xfrm>
          <a:off x="0" y="0"/>
          <a:ext cx="0" cy="0"/>
          <a:chOff x="0" y="0"/>
          <a:chExt cx="0" cy="0"/>
        </a:xfrm>
      </p:grpSpPr>
      <p:sp>
        <p:nvSpPr>
          <p:cNvPr id="2" name="Shape 0"/>
          <p:cNvSpPr/>
          <p:nvPr/>
        </p:nvSpPr>
        <p:spPr>
          <a:xfrm>
            <a:off x="457200" y="274320"/>
            <a:ext cx="1645920" cy="274320"/>
          </a:xfrm>
          <a:prstGeom prst="rect">
            <a:avLst>
              <a:gd name="adj" fmla="val 13333"/>
            </a:avLst>
          </a:prstGeom>
          <a:solidFill>
            <a:srgbClr val="0D9488"/>
          </a:solidFill>
          <a:ln/>
        </p:spPr>
      </p:sp>
      <p:sp>
        <p:nvSpPr>
          <p:cNvPr id="3" name="Text 1"/>
          <p:cNvSpPr/>
          <p:nvPr/>
        </p:nvSpPr>
        <p:spPr>
          <a:xfrm>
            <a:off x="457200" y="274320"/>
            <a:ext cx="1645920" cy="274320"/>
          </a:xfrm>
          <a:prstGeom prst="rect">
            <a:avLst/>
          </a:prstGeom>
          <a:noFill/>
          <a:ln/>
        </p:spPr>
        <p:txBody>
          <a:bodyPr wrap="square" lIns="0" tIns="0" rIns="0" bIns="0" rtlCol="0" anchor="ctr"/>
          <a:lstStyle/>
          <a:p>
            <a:pPr algn="ctr" indent="0" marL="0">
              <a:buNone/>
            </a:pPr>
            <a:r>
              <a:rPr lang="en-US" sz="900" b="1" dirty="0">
                <a:solidFill>
                  <a:srgbClr val="FFFFFF"/>
                </a:solidFill>
              </a:rPr>
              <a:t>CONCLUSION</a:t>
            </a:r>
            <a:endParaRPr lang="en-US" sz="900" dirty="0"/>
          </a:p>
        </p:txBody>
      </p:sp>
      <p:sp>
        <p:nvSpPr>
          <p:cNvPr id="4" name="Text 2"/>
          <p:cNvSpPr/>
          <p:nvPr/>
        </p:nvSpPr>
        <p:spPr>
          <a:xfrm>
            <a:off x="457200" y="685800"/>
            <a:ext cx="8229600" cy="548640"/>
          </a:xfrm>
          <a:prstGeom prst="rect">
            <a:avLst/>
          </a:prstGeom>
          <a:noFill/>
          <a:ln/>
        </p:spPr>
        <p:txBody>
          <a:bodyPr wrap="square" lIns="0" tIns="0" rIns="0" bIns="0" rtlCol="0" anchor="ctr"/>
          <a:lstStyle/>
          <a:p>
            <a:pPr indent="0" marL="0">
              <a:buNone/>
            </a:pPr>
            <a:r>
              <a:rPr lang="en-US" sz="3200" b="1" dirty="0">
                <a:solidFill>
                  <a:srgbClr val="0D9488"/>
                </a:solidFill>
              </a:rPr>
              <a:t>Conclusion</a:t>
            </a:r>
            <a:endParaRPr lang="en-US" sz="3200" dirty="0"/>
          </a:p>
        </p:txBody>
      </p:sp>
      <p:sp>
        <p:nvSpPr>
          <p:cNvPr id="5" name="Shape 3"/>
          <p:cNvSpPr/>
          <p:nvPr/>
        </p:nvSpPr>
        <p:spPr>
          <a:xfrm>
            <a:off x="0" y="685800"/>
            <a:ext cx="64008" cy="457200"/>
          </a:xfrm>
          <a:prstGeom prst="rect">
            <a:avLst/>
          </a:prstGeom>
          <a:solidFill>
            <a:srgbClr val="0D9488"/>
          </a:solidFill>
          <a:ln/>
        </p:spPr>
      </p:sp>
      <p:sp>
        <p:nvSpPr>
          <p:cNvPr id="6" name="Text 4"/>
          <p:cNvSpPr/>
          <p:nvPr/>
        </p:nvSpPr>
        <p:spPr>
          <a:xfrm>
            <a:off x="457200" y="1371600"/>
            <a:ext cx="8229600" cy="320040"/>
          </a:xfrm>
          <a:prstGeom prst="rect">
            <a:avLst/>
          </a:prstGeom>
          <a:noFill/>
          <a:ln/>
        </p:spPr>
        <p:txBody>
          <a:bodyPr wrap="square" lIns="0" tIns="0" rIns="0" bIns="0" rtlCol="0" anchor="ctr"/>
          <a:lstStyle/>
          <a:p>
            <a:pPr indent="0" marL="0">
              <a:buNone/>
            </a:pPr>
            <a:r>
              <a:rPr lang="en-US" sz="1300" dirty="0">
                <a:solidFill>
                  <a:srgbClr val="134E4A"/>
                </a:solidFill>
              </a:rPr>
              <a:t>Ce projet nous a apporté de nombreux bénéfices :</a:t>
            </a:r>
            <a:endParaRPr lang="en-US" sz="1300" dirty="0"/>
          </a:p>
        </p:txBody>
      </p:sp>
      <p:sp>
        <p:nvSpPr>
          <p:cNvPr id="7" name="Shape 5"/>
          <p:cNvSpPr/>
          <p:nvPr/>
        </p:nvSpPr>
        <p:spPr>
          <a:xfrm>
            <a:off x="457200" y="1874520"/>
            <a:ext cx="2651760" cy="2880360"/>
          </a:xfrm>
          <a:prstGeom prst="rect">
            <a:avLst/>
          </a:prstGeom>
          <a:solidFill>
            <a:srgbClr val="FFFFFF"/>
          </a:solidFill>
          <a:ln/>
          <a:effectLst>
            <a:outerShdw sx="100000" sy="100000" kx="0" ky="0" algn="bl" rotWithShape="0" blurRad="101600" dist="38100" dir="8100000">
              <a:srgbClr val="000000">
                <a:alpha val="12000"/>
              </a:srgbClr>
            </a:outerShdw>
          </a:effectLst>
        </p:spPr>
      </p:sp>
      <p:pic>
        <p:nvPicPr>
          <p:cNvPr id="8" name="Image 0" descr="preencoded.png">    </p:cNvPr>
          <p:cNvPicPr>
            <a:picLocks noChangeAspect="1"/>
          </p:cNvPicPr>
          <p:nvPr/>
        </p:nvPicPr>
        <p:blipFill>
          <a:blip r:embed="rId1"/>
          <a:stretch>
            <a:fillRect/>
          </a:stretch>
        </p:blipFill>
        <p:spPr>
          <a:xfrm>
            <a:off x="1417320" y="2057400"/>
            <a:ext cx="731520" cy="731520"/>
          </a:xfrm>
          <a:prstGeom prst="rect">
            <a:avLst/>
          </a:prstGeom>
        </p:spPr>
      </p:pic>
      <p:sp>
        <p:nvSpPr>
          <p:cNvPr id="9" name="Text 6"/>
          <p:cNvSpPr/>
          <p:nvPr/>
        </p:nvSpPr>
        <p:spPr>
          <a:xfrm>
            <a:off x="594360" y="2926080"/>
            <a:ext cx="2377440" cy="384048"/>
          </a:xfrm>
          <a:prstGeom prst="rect">
            <a:avLst/>
          </a:prstGeom>
          <a:noFill/>
          <a:ln/>
        </p:spPr>
        <p:txBody>
          <a:bodyPr wrap="square" lIns="0" tIns="0" rIns="0" bIns="0" rtlCol="0" anchor="ctr"/>
          <a:lstStyle/>
          <a:p>
            <a:pPr algn="ctr" indent="0" marL="0">
              <a:buNone/>
            </a:pPr>
            <a:r>
              <a:rPr lang="en-US" sz="1350" b="1" dirty="0">
                <a:solidFill>
                  <a:srgbClr val="0D9488"/>
                </a:solidFill>
              </a:rPr>
              <a:t>Techniquement</a:t>
            </a:r>
            <a:endParaRPr lang="en-US" sz="1350" dirty="0"/>
          </a:p>
        </p:txBody>
      </p:sp>
      <p:sp>
        <p:nvSpPr>
          <p:cNvPr id="10" name="Text 7"/>
          <p:cNvSpPr/>
          <p:nvPr/>
        </p:nvSpPr>
        <p:spPr>
          <a:xfrm>
            <a:off x="594360" y="3401568"/>
            <a:ext cx="2377440" cy="1188720"/>
          </a:xfrm>
          <a:prstGeom prst="rect">
            <a:avLst/>
          </a:prstGeom>
          <a:noFill/>
          <a:ln/>
        </p:spPr>
        <p:txBody>
          <a:bodyPr wrap="square" lIns="0" tIns="0" rIns="0" bIns="0" rtlCol="0" anchor="ctr"/>
          <a:lstStyle/>
          <a:p>
            <a:pPr algn="ctr" indent="0" marL="0">
              <a:buNone/>
            </a:pPr>
            <a:r>
              <a:rPr lang="en-US" sz="1050" dirty="0">
                <a:solidFill>
                  <a:srgbClr val="6B7280"/>
                </a:solidFill>
              </a:rPr>
              <a:t>Nous avons maîtrisé Flutter, Django REST Framework, MySQL, JWT et la modélisation de systèmes médicaux complexes.</a:t>
            </a:r>
            <a:endParaRPr lang="en-US" sz="1050" dirty="0"/>
          </a:p>
        </p:txBody>
      </p:sp>
      <p:sp>
        <p:nvSpPr>
          <p:cNvPr id="11" name="Shape 8"/>
          <p:cNvSpPr/>
          <p:nvPr/>
        </p:nvSpPr>
        <p:spPr>
          <a:xfrm>
            <a:off x="3355848" y="1874520"/>
            <a:ext cx="2651760" cy="2880360"/>
          </a:xfrm>
          <a:prstGeom prst="rect">
            <a:avLst/>
          </a:prstGeom>
          <a:solidFill>
            <a:srgbClr val="FFFFFF"/>
          </a:solidFill>
          <a:ln/>
          <a:effectLst>
            <a:outerShdw sx="100000" sy="100000" kx="0" ky="0" algn="bl" rotWithShape="0" blurRad="101600" dist="38100" dir="8100000">
              <a:srgbClr val="000000">
                <a:alpha val="12000"/>
              </a:srgbClr>
            </a:outerShdw>
          </a:effectLst>
        </p:spPr>
      </p:sp>
      <p:pic>
        <p:nvPicPr>
          <p:cNvPr id="12" name="Image 1" descr="preencoded.png">    </p:cNvPr>
          <p:cNvPicPr>
            <a:picLocks noChangeAspect="1"/>
          </p:cNvPicPr>
          <p:nvPr/>
        </p:nvPicPr>
        <p:blipFill>
          <a:blip r:embed="rId2"/>
          <a:stretch>
            <a:fillRect/>
          </a:stretch>
        </p:blipFill>
        <p:spPr>
          <a:xfrm>
            <a:off x="4315968" y="2057400"/>
            <a:ext cx="731520" cy="731520"/>
          </a:xfrm>
          <a:prstGeom prst="rect">
            <a:avLst/>
          </a:prstGeom>
        </p:spPr>
      </p:pic>
      <p:sp>
        <p:nvSpPr>
          <p:cNvPr id="13" name="Text 9"/>
          <p:cNvSpPr/>
          <p:nvPr/>
        </p:nvSpPr>
        <p:spPr>
          <a:xfrm>
            <a:off x="3493008" y="2926080"/>
            <a:ext cx="2377440" cy="384048"/>
          </a:xfrm>
          <a:prstGeom prst="rect">
            <a:avLst/>
          </a:prstGeom>
          <a:noFill/>
          <a:ln/>
        </p:spPr>
        <p:txBody>
          <a:bodyPr wrap="square" lIns="0" tIns="0" rIns="0" bIns="0" rtlCol="0" anchor="ctr"/>
          <a:lstStyle/>
          <a:p>
            <a:pPr algn="ctr" indent="0" marL="0">
              <a:buNone/>
            </a:pPr>
            <a:r>
              <a:rPr lang="en-US" sz="1350" b="1" dirty="0">
                <a:solidFill>
                  <a:srgbClr val="0D9488"/>
                </a:solidFill>
              </a:rPr>
              <a:t>Pédagogiquement</a:t>
            </a:r>
            <a:endParaRPr lang="en-US" sz="1350" dirty="0"/>
          </a:p>
        </p:txBody>
      </p:sp>
      <p:sp>
        <p:nvSpPr>
          <p:cNvPr id="14" name="Text 10"/>
          <p:cNvSpPr/>
          <p:nvPr/>
        </p:nvSpPr>
        <p:spPr>
          <a:xfrm>
            <a:off x="3493008" y="3401568"/>
            <a:ext cx="2377440" cy="1188720"/>
          </a:xfrm>
          <a:prstGeom prst="rect">
            <a:avLst/>
          </a:prstGeom>
          <a:noFill/>
          <a:ln/>
        </p:spPr>
        <p:txBody>
          <a:bodyPr wrap="square" lIns="0" tIns="0" rIns="0" bIns="0" rtlCol="0" anchor="ctr"/>
          <a:lstStyle/>
          <a:p>
            <a:pPr algn="ctr" indent="0" marL="0">
              <a:buNone/>
            </a:pPr>
            <a:r>
              <a:rPr lang="en-US" sz="1050" dirty="0">
                <a:solidFill>
                  <a:srgbClr val="6B7280"/>
                </a:solidFill>
              </a:rPr>
              <a:t>Ce projet nous a appris à transformer une idée abstraite en solution concrète, fonctionnelle et sécurisée.</a:t>
            </a:r>
            <a:endParaRPr lang="en-US" sz="1050" dirty="0"/>
          </a:p>
        </p:txBody>
      </p:sp>
      <p:sp>
        <p:nvSpPr>
          <p:cNvPr id="15" name="Shape 11"/>
          <p:cNvSpPr/>
          <p:nvPr/>
        </p:nvSpPr>
        <p:spPr>
          <a:xfrm>
            <a:off x="6254496" y="1874520"/>
            <a:ext cx="2651760" cy="2880360"/>
          </a:xfrm>
          <a:prstGeom prst="rect">
            <a:avLst/>
          </a:prstGeom>
          <a:solidFill>
            <a:srgbClr val="FFFFFF"/>
          </a:solidFill>
          <a:ln/>
          <a:effectLst>
            <a:outerShdw sx="100000" sy="100000" kx="0" ky="0" algn="bl" rotWithShape="0" blurRad="101600" dist="38100" dir="8100000">
              <a:srgbClr val="000000">
                <a:alpha val="12000"/>
              </a:srgbClr>
            </a:outerShdw>
          </a:effectLst>
        </p:spPr>
      </p:sp>
      <p:pic>
        <p:nvPicPr>
          <p:cNvPr id="16" name="Image 2" descr="preencoded.png">    </p:cNvPr>
          <p:cNvPicPr>
            <a:picLocks noChangeAspect="1"/>
          </p:cNvPicPr>
          <p:nvPr/>
        </p:nvPicPr>
        <p:blipFill>
          <a:blip r:embed="rId3"/>
          <a:stretch>
            <a:fillRect/>
          </a:stretch>
        </p:blipFill>
        <p:spPr>
          <a:xfrm>
            <a:off x="7214616" y="2057400"/>
            <a:ext cx="731520" cy="731520"/>
          </a:xfrm>
          <a:prstGeom prst="rect">
            <a:avLst/>
          </a:prstGeom>
        </p:spPr>
      </p:pic>
      <p:sp>
        <p:nvSpPr>
          <p:cNvPr id="17" name="Text 12"/>
          <p:cNvSpPr/>
          <p:nvPr/>
        </p:nvSpPr>
        <p:spPr>
          <a:xfrm>
            <a:off x="6391656" y="2926080"/>
            <a:ext cx="2377440" cy="384048"/>
          </a:xfrm>
          <a:prstGeom prst="rect">
            <a:avLst/>
          </a:prstGeom>
          <a:noFill/>
          <a:ln/>
        </p:spPr>
        <p:txBody>
          <a:bodyPr wrap="square" lIns="0" tIns="0" rIns="0" bIns="0" rtlCol="0" anchor="ctr"/>
          <a:lstStyle/>
          <a:p>
            <a:pPr algn="ctr" indent="0" marL="0">
              <a:buNone/>
            </a:pPr>
            <a:r>
              <a:rPr lang="en-US" sz="1350" b="1" dirty="0">
                <a:solidFill>
                  <a:srgbClr val="0D9488"/>
                </a:solidFill>
              </a:rPr>
              <a:t>Humainement</a:t>
            </a:r>
            <a:endParaRPr lang="en-US" sz="1350" dirty="0"/>
          </a:p>
        </p:txBody>
      </p:sp>
      <p:sp>
        <p:nvSpPr>
          <p:cNvPr id="18" name="Text 13"/>
          <p:cNvSpPr/>
          <p:nvPr/>
        </p:nvSpPr>
        <p:spPr>
          <a:xfrm>
            <a:off x="6391656" y="3401568"/>
            <a:ext cx="2377440" cy="1188720"/>
          </a:xfrm>
          <a:prstGeom prst="rect">
            <a:avLst/>
          </a:prstGeom>
          <a:noFill/>
          <a:ln/>
        </p:spPr>
        <p:txBody>
          <a:bodyPr wrap="square" lIns="0" tIns="0" rIns="0" bIns="0" rtlCol="0" anchor="ctr"/>
          <a:lstStyle/>
          <a:p>
            <a:pPr algn="ctr" indent="0" marL="0">
              <a:buNone/>
            </a:pPr>
            <a:r>
              <a:rPr lang="en-US" sz="1050" dirty="0">
                <a:solidFill>
                  <a:srgbClr val="6B7280"/>
                </a:solidFill>
              </a:rPr>
              <a:t>Il a renforcé notre travail collaboratif, notre rigueur, notre communication et notre organisation en équipe.</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42F2E"/>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9488"/>
          </a:solidFill>
          <a:ln/>
        </p:spPr>
      </p:sp>
      <p:pic>
        <p:nvPicPr>
          <p:cNvPr id="3" name="Image 0" descr="preencoded.png">    </p:cNvPr>
          <p:cNvPicPr>
            <a:picLocks noChangeAspect="1"/>
          </p:cNvPicPr>
          <p:nvPr/>
        </p:nvPicPr>
        <p:blipFill>
          <a:blip r:embed="rId1"/>
          <a:stretch>
            <a:fillRect/>
          </a:stretch>
        </p:blipFill>
        <p:spPr>
          <a:xfrm>
            <a:off x="3886200" y="502920"/>
            <a:ext cx="1371600" cy="1371600"/>
          </a:xfrm>
          <a:prstGeom prst="rect">
            <a:avLst/>
          </a:prstGeom>
        </p:spPr>
      </p:pic>
      <p:sp>
        <p:nvSpPr>
          <p:cNvPr id="4" name="Text 1"/>
          <p:cNvSpPr/>
          <p:nvPr/>
        </p:nvSpPr>
        <p:spPr>
          <a:xfrm>
            <a:off x="457200" y="2011680"/>
            <a:ext cx="8229600" cy="640080"/>
          </a:xfrm>
          <a:prstGeom prst="rect">
            <a:avLst/>
          </a:prstGeom>
          <a:noFill/>
          <a:ln/>
        </p:spPr>
        <p:txBody>
          <a:bodyPr wrap="square" lIns="0" tIns="0" rIns="0" bIns="0" rtlCol="0" anchor="ctr"/>
          <a:lstStyle/>
          <a:p>
            <a:pPr algn="ctr" indent="0" marL="0">
              <a:buNone/>
            </a:pPr>
            <a:r>
              <a:rPr lang="en-US" sz="3600" dirty="0">
                <a:solidFill>
                  <a:srgbClr val="FFFFFF"/>
                </a:solidFill>
                <a:latin typeface="Calibri" pitchFamily="34" charset="0"/>
                <a:ea typeface="Calibri" pitchFamily="34" charset="-122"/>
                <a:cs typeface="Calibri" pitchFamily="34" charset="-120"/>
              </a:rPr>
              <a:t>Merci pour votre</a:t>
            </a:r>
            <a:endParaRPr lang="en-US" sz="3600" dirty="0"/>
          </a:p>
        </p:txBody>
      </p:sp>
      <p:sp>
        <p:nvSpPr>
          <p:cNvPr id="5" name="Text 2"/>
          <p:cNvSpPr/>
          <p:nvPr/>
        </p:nvSpPr>
        <p:spPr>
          <a:xfrm>
            <a:off x="457200" y="2697480"/>
            <a:ext cx="8229600" cy="822960"/>
          </a:xfrm>
          <a:prstGeom prst="rect">
            <a:avLst/>
          </a:prstGeom>
          <a:noFill/>
          <a:ln/>
        </p:spPr>
        <p:txBody>
          <a:bodyPr wrap="square" lIns="0" tIns="0" rIns="0" bIns="0" rtlCol="0" anchor="ctr"/>
          <a:lstStyle/>
          <a:p>
            <a:pPr algn="ctr" indent="0" marL="0">
              <a:buNone/>
            </a:pPr>
            <a:r>
              <a:rPr lang="en-US" sz="5200" b="1" dirty="0">
                <a:solidFill>
                  <a:srgbClr val="FFFFFF"/>
                </a:solidFill>
                <a:latin typeface="Calibri" pitchFamily="34" charset="0"/>
                <a:ea typeface="Calibri" pitchFamily="34" charset="-122"/>
                <a:cs typeface="Calibri" pitchFamily="34" charset="-120"/>
              </a:rPr>
              <a:t>attention</a:t>
            </a:r>
            <a:endParaRPr lang="en-US" sz="5200" dirty="0"/>
          </a:p>
        </p:txBody>
      </p:sp>
      <p:sp>
        <p:nvSpPr>
          <p:cNvPr id="6" name="Text 3"/>
          <p:cNvSpPr/>
          <p:nvPr/>
        </p:nvSpPr>
        <p:spPr>
          <a:xfrm>
            <a:off x="457200" y="3749040"/>
            <a:ext cx="8229600" cy="365760"/>
          </a:xfrm>
          <a:prstGeom prst="rect">
            <a:avLst/>
          </a:prstGeom>
          <a:noFill/>
          <a:ln/>
        </p:spPr>
        <p:txBody>
          <a:bodyPr wrap="square" lIns="0" tIns="0" rIns="0" bIns="0" rtlCol="0" anchor="ctr"/>
          <a:lstStyle/>
          <a:p>
            <a:pPr algn="ctr" indent="0" marL="0">
              <a:buNone/>
            </a:pPr>
            <a:r>
              <a:rPr lang="en-US" sz="1600" dirty="0">
                <a:solidFill>
                  <a:srgbClr val="CCFBF1"/>
                </a:solidFill>
              </a:rPr>
              <a:t>Questions ?</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Shifa — Système de Réservation Médicale</dc:title>
  <dc:subject>PptxGenJS Presentation</dc:subject>
  <dc:creator>PptxGenJS</dc:creator>
  <cp:lastModifiedBy>PptxGenJS</cp:lastModifiedBy>
  <cp:revision>1</cp:revision>
  <dcterms:created xsi:type="dcterms:W3CDTF">2026-05-27T21:04:02Z</dcterms:created>
  <dcterms:modified xsi:type="dcterms:W3CDTF">2026-05-27T21:04:02Z</dcterms:modified>
</cp:coreProperties>
</file>